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9" d="100"/>
          <a:sy n="169" d="100"/>
        </p:scale>
        <p:origin x="274" y="1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5978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0.png"/><Relationship Id="rId7"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2.png"/><Relationship Id="rId10"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4389120" cy="5143500"/>
          </a:xfrm>
          <a:prstGeom prst="rect">
            <a:avLst/>
          </a:prstGeom>
          <a:solidFill>
            <a:srgbClr val="1B2A3B"/>
          </a:solidFill>
          <a:ln w="12700">
            <a:solidFill>
              <a:srgbClr val="1B2A3B"/>
            </a:solidFill>
            <a:prstDash val="solid"/>
          </a:ln>
        </p:spPr>
        <p:txBody>
          <a:bodyPr/>
          <a:lstStyle/>
          <a:p>
            <a:endParaRPr lang="en-US"/>
          </a:p>
        </p:txBody>
      </p:sp>
      <p:sp>
        <p:nvSpPr>
          <p:cNvPr id="3" name="Shape 1"/>
          <p:cNvSpPr/>
          <p:nvPr/>
        </p:nvSpPr>
        <p:spPr>
          <a:xfrm>
            <a:off x="0" y="0"/>
            <a:ext cx="109728" cy="5143500"/>
          </a:xfrm>
          <a:prstGeom prst="rect">
            <a:avLst/>
          </a:prstGeom>
          <a:solidFill>
            <a:srgbClr val="00C9A7"/>
          </a:solidFill>
          <a:ln w="12700">
            <a:solidFill>
              <a:srgbClr val="00C9A7"/>
            </a:solidFill>
            <a:prstDash val="solid"/>
          </a:ln>
        </p:spPr>
        <p:txBody>
          <a:bodyPr/>
          <a:lstStyle/>
          <a:p>
            <a:endParaRPr lang="en-US"/>
          </a:p>
        </p:txBody>
      </p:sp>
      <p:sp>
        <p:nvSpPr>
          <p:cNvPr id="4" name="Shape 2"/>
          <p:cNvSpPr/>
          <p:nvPr/>
        </p:nvSpPr>
        <p:spPr>
          <a:xfrm>
            <a:off x="237744" y="246888"/>
            <a:ext cx="164592" cy="164592"/>
          </a:xfrm>
          <a:prstGeom prst="ellipse">
            <a:avLst/>
          </a:prstGeom>
          <a:solidFill>
            <a:srgbClr val="E63946"/>
          </a:solidFill>
          <a:ln w="12700">
            <a:solidFill>
              <a:srgbClr val="E63946"/>
            </a:solidFill>
            <a:prstDash val="solid"/>
          </a:ln>
        </p:spPr>
        <p:txBody>
          <a:bodyPr/>
          <a:lstStyle/>
          <a:p>
            <a:endParaRPr lang="en-US"/>
          </a:p>
        </p:txBody>
      </p:sp>
      <p:sp>
        <p:nvSpPr>
          <p:cNvPr id="5" name="Shape 3"/>
          <p:cNvSpPr/>
          <p:nvPr/>
        </p:nvSpPr>
        <p:spPr>
          <a:xfrm>
            <a:off x="237744" y="576072"/>
            <a:ext cx="164592" cy="164592"/>
          </a:xfrm>
          <a:prstGeom prst="ellipse">
            <a:avLst/>
          </a:prstGeom>
          <a:solidFill>
            <a:srgbClr val="2196F3"/>
          </a:solidFill>
          <a:ln w="12700">
            <a:solidFill>
              <a:srgbClr val="2196F3"/>
            </a:solidFill>
            <a:prstDash val="solid"/>
          </a:ln>
        </p:spPr>
        <p:txBody>
          <a:bodyPr/>
          <a:lstStyle/>
          <a:p>
            <a:endParaRPr lang="en-US"/>
          </a:p>
        </p:txBody>
      </p:sp>
      <p:sp>
        <p:nvSpPr>
          <p:cNvPr id="6" name="Shape 4"/>
          <p:cNvSpPr/>
          <p:nvPr/>
        </p:nvSpPr>
        <p:spPr>
          <a:xfrm>
            <a:off x="237744" y="905256"/>
            <a:ext cx="164592" cy="164592"/>
          </a:xfrm>
          <a:prstGeom prst="ellipse">
            <a:avLst/>
          </a:prstGeom>
          <a:solidFill>
            <a:srgbClr val="FF9800"/>
          </a:solidFill>
          <a:ln w="12700">
            <a:solidFill>
              <a:srgbClr val="FF9800"/>
            </a:solidFill>
            <a:prstDash val="solid"/>
          </a:ln>
        </p:spPr>
        <p:txBody>
          <a:bodyPr/>
          <a:lstStyle/>
          <a:p>
            <a:endParaRPr lang="en-US"/>
          </a:p>
        </p:txBody>
      </p:sp>
      <p:pic>
        <p:nvPicPr>
          <p:cNvPr id="7" name="Image 0"/>
          <p:cNvPicPr>
            <a:picLocks noChangeAspect="1"/>
          </p:cNvPicPr>
          <p:nvPr/>
        </p:nvPicPr>
        <p:blipFill>
          <a:blip r:embed="rId3"/>
          <a:srcRect/>
          <a:stretch/>
        </p:blipFill>
        <p:spPr>
          <a:xfrm>
            <a:off x="710606" y="1087796"/>
            <a:ext cx="2967907" cy="2967907"/>
          </a:xfrm>
          <a:prstGeom prst="rect">
            <a:avLst/>
          </a:prstGeom>
        </p:spPr>
      </p:pic>
      <p:sp>
        <p:nvSpPr>
          <p:cNvPr id="8" name="Text 5"/>
          <p:cNvSpPr/>
          <p:nvPr/>
        </p:nvSpPr>
        <p:spPr>
          <a:xfrm>
            <a:off x="4754880" y="640080"/>
            <a:ext cx="4114800" cy="822960"/>
          </a:xfrm>
          <a:prstGeom prst="rect">
            <a:avLst/>
          </a:prstGeom>
          <a:noFill/>
          <a:ln/>
        </p:spPr>
        <p:txBody>
          <a:bodyPr wrap="square" lIns="0" tIns="0" rIns="0" bIns="0" rtlCol="0" anchor="ctr"/>
          <a:lstStyle/>
          <a:p>
            <a:pPr marL="0" indent="0">
              <a:buNone/>
            </a:pPr>
            <a:r>
              <a:rPr lang="en-US" sz="5400" b="1" kern="0" spc="600" dirty="0">
                <a:solidFill>
                  <a:srgbClr val="FFFFFF"/>
                </a:solidFill>
                <a:latin typeface="Calibri" pitchFamily="34" charset="0"/>
                <a:ea typeface="Calibri" pitchFamily="34" charset="-122"/>
                <a:cs typeface="Calibri" pitchFamily="34" charset="-120"/>
              </a:rPr>
              <a:t>METROM</a:t>
            </a:r>
            <a:endParaRPr lang="en-US" sz="5400" dirty="0"/>
          </a:p>
        </p:txBody>
      </p:sp>
      <p:sp>
        <p:nvSpPr>
          <p:cNvPr id="9" name="Shape 6"/>
          <p:cNvSpPr/>
          <p:nvPr/>
        </p:nvSpPr>
        <p:spPr>
          <a:xfrm>
            <a:off x="4754880" y="1536192"/>
            <a:ext cx="4114800" cy="45720"/>
          </a:xfrm>
          <a:prstGeom prst="rect">
            <a:avLst/>
          </a:prstGeom>
          <a:solidFill>
            <a:srgbClr val="00C9A7"/>
          </a:solidFill>
          <a:ln w="12700">
            <a:solidFill>
              <a:srgbClr val="00C9A7"/>
            </a:solidFill>
            <a:prstDash val="solid"/>
          </a:ln>
        </p:spPr>
        <p:txBody>
          <a:bodyPr/>
          <a:lstStyle/>
          <a:p>
            <a:endParaRPr lang="en-US"/>
          </a:p>
        </p:txBody>
      </p:sp>
      <p:sp>
        <p:nvSpPr>
          <p:cNvPr id="10" name="Text 7"/>
          <p:cNvSpPr/>
          <p:nvPr/>
        </p:nvSpPr>
        <p:spPr>
          <a:xfrm>
            <a:off x="4754880" y="1691640"/>
            <a:ext cx="4114800" cy="411480"/>
          </a:xfrm>
          <a:prstGeom prst="rect">
            <a:avLst/>
          </a:prstGeom>
          <a:noFill/>
          <a:ln/>
        </p:spPr>
        <p:txBody>
          <a:bodyPr wrap="square" lIns="0" tIns="0" rIns="0" bIns="0" rtlCol="0" anchor="ctr"/>
          <a:lstStyle/>
          <a:p>
            <a:pPr marL="0" indent="0">
              <a:buNone/>
            </a:pPr>
            <a:r>
              <a:rPr lang="en-US" sz="1800" i="1" dirty="0">
                <a:solidFill>
                  <a:srgbClr val="00C9A7"/>
                </a:solidFill>
                <a:latin typeface="Calibri" pitchFamily="34" charset="0"/>
                <a:ea typeface="Calibri" pitchFamily="34" charset="-122"/>
                <a:cs typeface="Calibri" pitchFamily="34" charset="-120"/>
              </a:rPr>
              <a:t>Cairo Metro Route Planner</a:t>
            </a:r>
            <a:endParaRPr lang="en-US" sz="1800" dirty="0"/>
          </a:p>
        </p:txBody>
      </p:sp>
      <p:sp>
        <p:nvSpPr>
          <p:cNvPr id="11" name="Text 8"/>
          <p:cNvSpPr/>
          <p:nvPr/>
        </p:nvSpPr>
        <p:spPr>
          <a:xfrm>
            <a:off x="4754880" y="2331720"/>
            <a:ext cx="4114800" cy="1280160"/>
          </a:xfrm>
          <a:prstGeom prst="rect">
            <a:avLst/>
          </a:prstGeom>
          <a:noFill/>
          <a:ln/>
        </p:spPr>
        <p:txBody>
          <a:bodyPr wrap="square" lIns="0" tIns="0" rIns="0" bIns="0" rtlCol="0" anchor="ctr"/>
          <a:lstStyle/>
          <a:p>
            <a:pPr marL="0" indent="0">
              <a:lnSpc>
                <a:spcPct val="140000"/>
              </a:lnSpc>
              <a:buNone/>
            </a:pPr>
            <a:r>
              <a:rPr lang="en-US" sz="1300" dirty="0">
                <a:solidFill>
                  <a:srgbClr val="D4E8E0"/>
                </a:solidFill>
                <a:latin typeface="Calibri" pitchFamily="34" charset="0"/>
                <a:ea typeface="Calibri" pitchFamily="34" charset="-122"/>
                <a:cs typeface="Calibri" pitchFamily="34" charset="-120"/>
              </a:rPr>
              <a:t>A full-stack web application for planning journeys</a:t>
            </a:r>
            <a:endParaRPr lang="en-US" sz="1300" dirty="0"/>
          </a:p>
          <a:p>
            <a:pPr marL="0" indent="0">
              <a:lnSpc>
                <a:spcPct val="140000"/>
              </a:lnSpc>
              <a:buNone/>
            </a:pPr>
            <a:r>
              <a:rPr lang="en-US" sz="1300" dirty="0">
                <a:solidFill>
                  <a:srgbClr val="D4E8E0"/>
                </a:solidFill>
                <a:latin typeface="Calibri" pitchFamily="34" charset="0"/>
                <a:ea typeface="Calibri" pitchFamily="34" charset="-122"/>
                <a:cs typeface="Calibri" pitchFamily="34" charset="-120"/>
              </a:rPr>
              <a:t>across Cairo's metro network — with real-time</a:t>
            </a:r>
            <a:endParaRPr lang="en-US" sz="1300" dirty="0"/>
          </a:p>
          <a:p>
            <a:pPr marL="0" indent="0">
              <a:lnSpc>
                <a:spcPct val="140000"/>
              </a:lnSpc>
              <a:buNone/>
            </a:pPr>
            <a:r>
              <a:rPr lang="en-US" sz="1300" dirty="0">
                <a:solidFill>
                  <a:srgbClr val="D4E8E0"/>
                </a:solidFill>
                <a:latin typeface="Calibri" pitchFamily="34" charset="0"/>
                <a:ea typeface="Calibri" pitchFamily="34" charset="-122"/>
                <a:cs typeface="Calibri" pitchFamily="34" charset="-120"/>
              </a:rPr>
              <a:t>navigation, fare calculation, and admin tools.</a:t>
            </a:r>
            <a:endParaRPr lang="en-US" sz="1300" dirty="0"/>
          </a:p>
        </p:txBody>
      </p:sp>
      <p:sp>
        <p:nvSpPr>
          <p:cNvPr id="12" name="Shape 9"/>
          <p:cNvSpPr/>
          <p:nvPr/>
        </p:nvSpPr>
        <p:spPr>
          <a:xfrm>
            <a:off x="4754880" y="3840480"/>
            <a:ext cx="1828800" cy="329184"/>
          </a:xfrm>
          <a:prstGeom prst="rect">
            <a:avLst/>
          </a:prstGeom>
          <a:solidFill>
            <a:srgbClr val="00C9A7">
              <a:alpha val="25000"/>
            </a:srgbClr>
          </a:solidFill>
          <a:ln w="12700">
            <a:solidFill>
              <a:srgbClr val="00C9A7"/>
            </a:solidFill>
            <a:prstDash val="solid"/>
          </a:ln>
        </p:spPr>
        <p:txBody>
          <a:bodyPr/>
          <a:lstStyle/>
          <a:p>
            <a:endParaRPr lang="en-US"/>
          </a:p>
        </p:txBody>
      </p:sp>
      <p:sp>
        <p:nvSpPr>
          <p:cNvPr id="13" name="Text 10"/>
          <p:cNvSpPr/>
          <p:nvPr/>
        </p:nvSpPr>
        <p:spPr>
          <a:xfrm>
            <a:off x="4754880" y="3840480"/>
            <a:ext cx="1828800" cy="329184"/>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React + Vite</a:t>
            </a:r>
            <a:endParaRPr lang="en-US" sz="1000" dirty="0"/>
          </a:p>
        </p:txBody>
      </p:sp>
      <p:sp>
        <p:nvSpPr>
          <p:cNvPr id="14" name="Shape 11"/>
          <p:cNvSpPr/>
          <p:nvPr/>
        </p:nvSpPr>
        <p:spPr>
          <a:xfrm>
            <a:off x="6858000" y="3840480"/>
            <a:ext cx="1828800" cy="329184"/>
          </a:xfrm>
          <a:prstGeom prst="rect">
            <a:avLst/>
          </a:prstGeom>
          <a:solidFill>
            <a:srgbClr val="F5A623">
              <a:alpha val="25000"/>
            </a:srgbClr>
          </a:solidFill>
          <a:ln w="12700">
            <a:solidFill>
              <a:srgbClr val="F5A623"/>
            </a:solidFill>
            <a:prstDash val="solid"/>
          </a:ln>
        </p:spPr>
        <p:txBody>
          <a:bodyPr/>
          <a:lstStyle/>
          <a:p>
            <a:endParaRPr lang="en-US"/>
          </a:p>
        </p:txBody>
      </p:sp>
      <p:sp>
        <p:nvSpPr>
          <p:cNvPr id="15" name="Text 12"/>
          <p:cNvSpPr/>
          <p:nvPr/>
        </p:nvSpPr>
        <p:spPr>
          <a:xfrm>
            <a:off x="6858000" y="3840480"/>
            <a:ext cx="1828800" cy="329184"/>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Express + TypeScript</a:t>
            </a:r>
            <a:endParaRPr lang="en-US" sz="1000" dirty="0"/>
          </a:p>
        </p:txBody>
      </p:sp>
      <p:sp>
        <p:nvSpPr>
          <p:cNvPr id="16" name="Shape 13"/>
          <p:cNvSpPr/>
          <p:nvPr/>
        </p:nvSpPr>
        <p:spPr>
          <a:xfrm>
            <a:off x="4754880" y="4315968"/>
            <a:ext cx="1828800" cy="329184"/>
          </a:xfrm>
          <a:prstGeom prst="rect">
            <a:avLst/>
          </a:prstGeom>
          <a:solidFill>
            <a:srgbClr val="2196F3">
              <a:alpha val="25000"/>
            </a:srgbClr>
          </a:solidFill>
          <a:ln w="12700">
            <a:solidFill>
              <a:srgbClr val="2196F3"/>
            </a:solidFill>
            <a:prstDash val="solid"/>
          </a:ln>
        </p:spPr>
        <p:txBody>
          <a:bodyPr/>
          <a:lstStyle/>
          <a:p>
            <a:endParaRPr lang="en-US"/>
          </a:p>
        </p:txBody>
      </p:sp>
      <p:sp>
        <p:nvSpPr>
          <p:cNvPr id="17" name="Text 14"/>
          <p:cNvSpPr/>
          <p:nvPr/>
        </p:nvSpPr>
        <p:spPr>
          <a:xfrm>
            <a:off x="4754880" y="4315968"/>
            <a:ext cx="1828800" cy="329184"/>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Leaflet Maps</a:t>
            </a:r>
            <a:endParaRPr lang="en-US" sz="1000" dirty="0"/>
          </a:p>
        </p:txBody>
      </p:sp>
      <p:sp>
        <p:nvSpPr>
          <p:cNvPr id="18" name="Shape 15"/>
          <p:cNvSpPr/>
          <p:nvPr/>
        </p:nvSpPr>
        <p:spPr>
          <a:xfrm>
            <a:off x="6858000" y="4315968"/>
            <a:ext cx="1828800" cy="329184"/>
          </a:xfrm>
          <a:prstGeom prst="rect">
            <a:avLst/>
          </a:prstGeom>
          <a:solidFill>
            <a:srgbClr val="C792EA">
              <a:alpha val="25000"/>
            </a:srgbClr>
          </a:solidFill>
          <a:ln w="12700">
            <a:solidFill>
              <a:srgbClr val="C792EA"/>
            </a:solidFill>
            <a:prstDash val="solid"/>
          </a:ln>
        </p:spPr>
        <p:txBody>
          <a:bodyPr/>
          <a:lstStyle/>
          <a:p>
            <a:endParaRPr lang="en-US"/>
          </a:p>
        </p:txBody>
      </p:sp>
      <p:sp>
        <p:nvSpPr>
          <p:cNvPr id="19" name="Text 16"/>
          <p:cNvSpPr/>
          <p:nvPr/>
        </p:nvSpPr>
        <p:spPr>
          <a:xfrm>
            <a:off x="6858000" y="4315968"/>
            <a:ext cx="1828800" cy="329184"/>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SQLite + Prisma</a:t>
            </a:r>
            <a:endParaRPr lang="en-US" sz="1000" dirty="0"/>
          </a:p>
        </p:txBody>
      </p:sp>
      <p:sp>
        <p:nvSpPr>
          <p:cNvPr id="20" name="Text 17"/>
          <p:cNvSpPr/>
          <p:nvPr/>
        </p:nvSpPr>
        <p:spPr>
          <a:xfrm>
            <a:off x="4754880" y="4754880"/>
            <a:ext cx="4114800" cy="274320"/>
          </a:xfrm>
          <a:prstGeom prst="rect">
            <a:avLst/>
          </a:prstGeom>
          <a:noFill/>
          <a:ln/>
        </p:spPr>
        <p:txBody>
          <a:bodyPr wrap="square" lIns="0" tIns="0" rIns="0" bIns="0" rtlCol="0" anchor="ctr"/>
          <a:lstStyle/>
          <a:p>
            <a:pPr marL="0" indent="0">
              <a:buNone/>
            </a:pPr>
            <a:r>
              <a:rPr lang="en-US" sz="1000" dirty="0">
                <a:solidFill>
                  <a:srgbClr val="7BA5A0"/>
                </a:solidFill>
                <a:latin typeface="Calibri" pitchFamily="34" charset="0"/>
                <a:ea typeface="Calibri" pitchFamily="34" charset="-122"/>
                <a:cs typeface="Calibri" pitchFamily="34" charset="-120"/>
              </a:rPr>
              <a:t>Mohamed Salem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marL="0" indent="0">
              <a:buNone/>
            </a:pPr>
            <a:r>
              <a:rPr lang="en-US" sz="3200" b="1" kern="0" spc="400" dirty="0">
                <a:solidFill>
                  <a:srgbClr val="FFFFFF"/>
                </a:solidFill>
                <a:latin typeface="Calibri" pitchFamily="34" charset="0"/>
                <a:ea typeface="Calibri" pitchFamily="34" charset="-122"/>
                <a:cs typeface="Calibri" pitchFamily="34" charset="-120"/>
              </a:rPr>
              <a:t>CONTENTS</a:t>
            </a:r>
            <a:endParaRPr lang="en-US" sz="3200" dirty="0"/>
          </a:p>
        </p:txBody>
      </p:sp>
      <p:sp>
        <p:nvSpPr>
          <p:cNvPr id="3" name="Shape 1"/>
          <p:cNvSpPr/>
          <p:nvPr/>
        </p:nvSpPr>
        <p:spPr>
          <a:xfrm>
            <a:off x="457200" y="932688"/>
            <a:ext cx="1097280" cy="54864"/>
          </a:xfrm>
          <a:prstGeom prst="rect">
            <a:avLst/>
          </a:prstGeom>
          <a:solidFill>
            <a:srgbClr val="00C9A7"/>
          </a:solidFill>
          <a:ln w="12700">
            <a:solidFill>
              <a:srgbClr val="00C9A7"/>
            </a:solidFill>
            <a:prstDash val="solid"/>
          </a:ln>
        </p:spPr>
        <p:txBody>
          <a:bodyPr/>
          <a:lstStyle/>
          <a:p>
            <a:endParaRPr lang="en-US"/>
          </a:p>
        </p:txBody>
      </p:sp>
      <p:sp>
        <p:nvSpPr>
          <p:cNvPr id="4" name="Shape 2"/>
          <p:cNvSpPr/>
          <p:nvPr/>
        </p:nvSpPr>
        <p:spPr>
          <a:xfrm>
            <a:off x="457200" y="1188720"/>
            <a:ext cx="4114800" cy="749808"/>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5" name="Shape 3"/>
          <p:cNvSpPr/>
          <p:nvPr/>
        </p:nvSpPr>
        <p:spPr>
          <a:xfrm>
            <a:off x="457200" y="1188720"/>
            <a:ext cx="54864" cy="749808"/>
          </a:xfrm>
          <a:prstGeom prst="rect">
            <a:avLst/>
          </a:prstGeom>
          <a:solidFill>
            <a:srgbClr val="00C9A7"/>
          </a:solidFill>
          <a:ln w="12700">
            <a:solidFill>
              <a:srgbClr val="00C9A7"/>
            </a:solidFill>
            <a:prstDash val="solid"/>
          </a:ln>
        </p:spPr>
        <p:txBody>
          <a:bodyPr/>
          <a:lstStyle/>
          <a:p>
            <a:endParaRPr lang="en-US"/>
          </a:p>
        </p:txBody>
      </p:sp>
      <p:sp>
        <p:nvSpPr>
          <p:cNvPr id="6" name="Text 4"/>
          <p:cNvSpPr/>
          <p:nvPr/>
        </p:nvSpPr>
        <p:spPr>
          <a:xfrm>
            <a:off x="621792" y="1225296"/>
            <a:ext cx="457200" cy="320040"/>
          </a:xfrm>
          <a:prstGeom prst="rect">
            <a:avLst/>
          </a:prstGeom>
          <a:noFill/>
          <a:ln/>
        </p:spPr>
        <p:txBody>
          <a:bodyPr wrap="square" lIns="0" tIns="0" rIns="0" bIns="0" rtlCol="0" anchor="ctr"/>
          <a:lstStyle/>
          <a:p>
            <a:pPr marL="0" indent="0">
              <a:buNone/>
            </a:pPr>
            <a:r>
              <a:rPr lang="en-US" sz="2200" b="1" dirty="0">
                <a:solidFill>
                  <a:srgbClr val="00C9A7"/>
                </a:solidFill>
                <a:latin typeface="Calibri" pitchFamily="34" charset="0"/>
                <a:ea typeface="Calibri" pitchFamily="34" charset="-122"/>
                <a:cs typeface="Calibri" pitchFamily="34" charset="-120"/>
              </a:rPr>
              <a:t>01</a:t>
            </a:r>
            <a:endParaRPr lang="en-US" sz="2200" dirty="0"/>
          </a:p>
        </p:txBody>
      </p:sp>
      <p:sp>
        <p:nvSpPr>
          <p:cNvPr id="7" name="Text 5"/>
          <p:cNvSpPr/>
          <p:nvPr/>
        </p:nvSpPr>
        <p:spPr>
          <a:xfrm>
            <a:off x="1115568" y="1243584"/>
            <a:ext cx="329184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Project Overview</a:t>
            </a:r>
            <a:endParaRPr lang="en-US" sz="1300" dirty="0"/>
          </a:p>
        </p:txBody>
      </p:sp>
      <p:sp>
        <p:nvSpPr>
          <p:cNvPr id="8" name="Text 6"/>
          <p:cNvSpPr/>
          <p:nvPr/>
        </p:nvSpPr>
        <p:spPr>
          <a:xfrm>
            <a:off x="1115568" y="1591056"/>
            <a:ext cx="3291840" cy="256032"/>
          </a:xfrm>
          <a:prstGeom prst="rect">
            <a:avLst/>
          </a:prstGeom>
          <a:noFill/>
          <a:ln/>
        </p:spPr>
        <p:txBody>
          <a:bodyPr wrap="square" lIns="0" tIns="0" rIns="0" bIns="0" rtlCol="0" anchor="ctr"/>
          <a:lstStyle/>
          <a:p>
            <a:pPr marL="0" indent="0">
              <a:buNone/>
            </a:pPr>
            <a:r>
              <a:rPr lang="en-US" sz="1000" dirty="0">
                <a:solidFill>
                  <a:srgbClr val="7BA5A0"/>
                </a:solidFill>
                <a:latin typeface="Calibri" pitchFamily="34" charset="0"/>
                <a:ea typeface="Calibri" pitchFamily="34" charset="-122"/>
                <a:cs typeface="Calibri" pitchFamily="34" charset="-120"/>
              </a:rPr>
              <a:t>What Metroom is and who it's for</a:t>
            </a:r>
            <a:endParaRPr lang="en-US" sz="1000" dirty="0"/>
          </a:p>
        </p:txBody>
      </p:sp>
      <p:sp>
        <p:nvSpPr>
          <p:cNvPr id="9" name="Shape 7"/>
          <p:cNvSpPr/>
          <p:nvPr/>
        </p:nvSpPr>
        <p:spPr>
          <a:xfrm>
            <a:off x="457200" y="2084832"/>
            <a:ext cx="4114800" cy="749808"/>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10" name="Shape 8"/>
          <p:cNvSpPr/>
          <p:nvPr/>
        </p:nvSpPr>
        <p:spPr>
          <a:xfrm>
            <a:off x="457200" y="2084832"/>
            <a:ext cx="54864" cy="749808"/>
          </a:xfrm>
          <a:prstGeom prst="rect">
            <a:avLst/>
          </a:prstGeom>
          <a:solidFill>
            <a:srgbClr val="00C9A7"/>
          </a:solidFill>
          <a:ln w="12700">
            <a:solidFill>
              <a:srgbClr val="00C9A7"/>
            </a:solidFill>
            <a:prstDash val="solid"/>
          </a:ln>
        </p:spPr>
        <p:txBody>
          <a:bodyPr/>
          <a:lstStyle/>
          <a:p>
            <a:endParaRPr lang="en-US"/>
          </a:p>
        </p:txBody>
      </p:sp>
      <p:sp>
        <p:nvSpPr>
          <p:cNvPr id="11" name="Text 9"/>
          <p:cNvSpPr/>
          <p:nvPr/>
        </p:nvSpPr>
        <p:spPr>
          <a:xfrm>
            <a:off x="621792" y="2121408"/>
            <a:ext cx="457200" cy="320040"/>
          </a:xfrm>
          <a:prstGeom prst="rect">
            <a:avLst/>
          </a:prstGeom>
          <a:noFill/>
          <a:ln/>
        </p:spPr>
        <p:txBody>
          <a:bodyPr wrap="square" lIns="0" tIns="0" rIns="0" bIns="0" rtlCol="0" anchor="ctr"/>
          <a:lstStyle/>
          <a:p>
            <a:pPr marL="0" indent="0">
              <a:buNone/>
            </a:pPr>
            <a:r>
              <a:rPr lang="en-US" sz="2200" b="1" dirty="0">
                <a:solidFill>
                  <a:srgbClr val="00C9A7"/>
                </a:solidFill>
                <a:latin typeface="Calibri" pitchFamily="34" charset="0"/>
                <a:ea typeface="Calibri" pitchFamily="34" charset="-122"/>
                <a:cs typeface="Calibri" pitchFamily="34" charset="-120"/>
              </a:rPr>
              <a:t>02</a:t>
            </a:r>
            <a:endParaRPr lang="en-US" sz="2200" dirty="0"/>
          </a:p>
        </p:txBody>
      </p:sp>
      <p:sp>
        <p:nvSpPr>
          <p:cNvPr id="12" name="Text 10"/>
          <p:cNvSpPr/>
          <p:nvPr/>
        </p:nvSpPr>
        <p:spPr>
          <a:xfrm>
            <a:off x="1115568" y="2139696"/>
            <a:ext cx="329184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Pain Points &amp; Problem</a:t>
            </a:r>
            <a:endParaRPr lang="en-US" sz="1300" dirty="0"/>
          </a:p>
        </p:txBody>
      </p:sp>
      <p:sp>
        <p:nvSpPr>
          <p:cNvPr id="13" name="Text 11"/>
          <p:cNvSpPr/>
          <p:nvPr/>
        </p:nvSpPr>
        <p:spPr>
          <a:xfrm>
            <a:off x="1115568" y="2487168"/>
            <a:ext cx="3291840" cy="256032"/>
          </a:xfrm>
          <a:prstGeom prst="rect">
            <a:avLst/>
          </a:prstGeom>
          <a:noFill/>
          <a:ln/>
        </p:spPr>
        <p:txBody>
          <a:bodyPr wrap="square" lIns="0" tIns="0" rIns="0" bIns="0" rtlCol="0" anchor="ctr"/>
          <a:lstStyle/>
          <a:p>
            <a:pPr marL="0" indent="0">
              <a:buNone/>
            </a:pPr>
            <a:r>
              <a:rPr lang="en-US" sz="1000" dirty="0">
                <a:solidFill>
                  <a:srgbClr val="7BA5A0"/>
                </a:solidFill>
                <a:latin typeface="Calibri" pitchFamily="34" charset="0"/>
                <a:ea typeface="Calibri" pitchFamily="34" charset="-122"/>
                <a:cs typeface="Calibri" pitchFamily="34" charset="-120"/>
              </a:rPr>
              <a:t>Real commuter frustrations we identified</a:t>
            </a:r>
            <a:endParaRPr lang="en-US" sz="1000" dirty="0"/>
          </a:p>
        </p:txBody>
      </p:sp>
      <p:sp>
        <p:nvSpPr>
          <p:cNvPr id="14" name="Shape 12"/>
          <p:cNvSpPr/>
          <p:nvPr/>
        </p:nvSpPr>
        <p:spPr>
          <a:xfrm>
            <a:off x="457200" y="2980944"/>
            <a:ext cx="4114800" cy="749808"/>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15" name="Shape 13"/>
          <p:cNvSpPr/>
          <p:nvPr/>
        </p:nvSpPr>
        <p:spPr>
          <a:xfrm>
            <a:off x="457200" y="2980944"/>
            <a:ext cx="54864" cy="749808"/>
          </a:xfrm>
          <a:prstGeom prst="rect">
            <a:avLst/>
          </a:prstGeom>
          <a:solidFill>
            <a:srgbClr val="00C9A7"/>
          </a:solidFill>
          <a:ln w="12700">
            <a:solidFill>
              <a:srgbClr val="00C9A7"/>
            </a:solidFill>
            <a:prstDash val="solid"/>
          </a:ln>
        </p:spPr>
        <p:txBody>
          <a:bodyPr/>
          <a:lstStyle/>
          <a:p>
            <a:endParaRPr lang="en-US"/>
          </a:p>
        </p:txBody>
      </p:sp>
      <p:sp>
        <p:nvSpPr>
          <p:cNvPr id="16" name="Text 14"/>
          <p:cNvSpPr/>
          <p:nvPr/>
        </p:nvSpPr>
        <p:spPr>
          <a:xfrm>
            <a:off x="621792" y="3017520"/>
            <a:ext cx="457200" cy="320040"/>
          </a:xfrm>
          <a:prstGeom prst="rect">
            <a:avLst/>
          </a:prstGeom>
          <a:noFill/>
          <a:ln/>
        </p:spPr>
        <p:txBody>
          <a:bodyPr wrap="square" lIns="0" tIns="0" rIns="0" bIns="0" rtlCol="0" anchor="ctr"/>
          <a:lstStyle/>
          <a:p>
            <a:pPr marL="0" indent="0">
              <a:buNone/>
            </a:pPr>
            <a:r>
              <a:rPr lang="en-US" sz="2200" b="1" dirty="0">
                <a:solidFill>
                  <a:srgbClr val="00C9A7"/>
                </a:solidFill>
                <a:latin typeface="Calibri" pitchFamily="34" charset="0"/>
                <a:ea typeface="Calibri" pitchFamily="34" charset="-122"/>
                <a:cs typeface="Calibri" pitchFamily="34" charset="-120"/>
              </a:rPr>
              <a:t>03</a:t>
            </a:r>
            <a:endParaRPr lang="en-US" sz="2200" dirty="0"/>
          </a:p>
        </p:txBody>
      </p:sp>
      <p:sp>
        <p:nvSpPr>
          <p:cNvPr id="17" name="Text 15"/>
          <p:cNvSpPr/>
          <p:nvPr/>
        </p:nvSpPr>
        <p:spPr>
          <a:xfrm>
            <a:off x="1115568" y="3035808"/>
            <a:ext cx="329184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Proposed Solutions</a:t>
            </a:r>
            <a:endParaRPr lang="en-US" sz="1300" dirty="0"/>
          </a:p>
        </p:txBody>
      </p:sp>
      <p:sp>
        <p:nvSpPr>
          <p:cNvPr id="18" name="Text 16"/>
          <p:cNvSpPr/>
          <p:nvPr/>
        </p:nvSpPr>
        <p:spPr>
          <a:xfrm>
            <a:off x="1115568" y="3383280"/>
            <a:ext cx="3291840" cy="256032"/>
          </a:xfrm>
          <a:prstGeom prst="rect">
            <a:avLst/>
          </a:prstGeom>
          <a:noFill/>
          <a:ln/>
        </p:spPr>
        <p:txBody>
          <a:bodyPr wrap="square" lIns="0" tIns="0" rIns="0" bIns="0" rtlCol="0" anchor="ctr"/>
          <a:lstStyle/>
          <a:p>
            <a:pPr marL="0" indent="0">
              <a:buNone/>
            </a:pPr>
            <a:r>
              <a:rPr lang="en-US" sz="1000" dirty="0">
                <a:solidFill>
                  <a:srgbClr val="7BA5A0"/>
                </a:solidFill>
                <a:latin typeface="Calibri" pitchFamily="34" charset="0"/>
                <a:ea typeface="Calibri" pitchFamily="34" charset="-122"/>
                <a:cs typeface="Calibri" pitchFamily="34" charset="-120"/>
              </a:rPr>
              <a:t>Three approaches — and the one we chose</a:t>
            </a:r>
            <a:endParaRPr lang="en-US" sz="1000" dirty="0"/>
          </a:p>
        </p:txBody>
      </p:sp>
      <p:sp>
        <p:nvSpPr>
          <p:cNvPr id="19" name="Shape 17"/>
          <p:cNvSpPr/>
          <p:nvPr/>
        </p:nvSpPr>
        <p:spPr>
          <a:xfrm>
            <a:off x="457200" y="3877056"/>
            <a:ext cx="4114800" cy="749808"/>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20" name="Shape 18"/>
          <p:cNvSpPr/>
          <p:nvPr/>
        </p:nvSpPr>
        <p:spPr>
          <a:xfrm>
            <a:off x="457200" y="3877056"/>
            <a:ext cx="54864" cy="749808"/>
          </a:xfrm>
          <a:prstGeom prst="rect">
            <a:avLst/>
          </a:prstGeom>
          <a:solidFill>
            <a:srgbClr val="00C9A7"/>
          </a:solidFill>
          <a:ln w="12700">
            <a:solidFill>
              <a:srgbClr val="00C9A7"/>
            </a:solidFill>
            <a:prstDash val="solid"/>
          </a:ln>
        </p:spPr>
        <p:txBody>
          <a:bodyPr/>
          <a:lstStyle/>
          <a:p>
            <a:endParaRPr lang="en-US"/>
          </a:p>
        </p:txBody>
      </p:sp>
      <p:sp>
        <p:nvSpPr>
          <p:cNvPr id="21" name="Text 19"/>
          <p:cNvSpPr/>
          <p:nvPr/>
        </p:nvSpPr>
        <p:spPr>
          <a:xfrm>
            <a:off x="621792" y="3913632"/>
            <a:ext cx="457200" cy="320040"/>
          </a:xfrm>
          <a:prstGeom prst="rect">
            <a:avLst/>
          </a:prstGeom>
          <a:noFill/>
          <a:ln/>
        </p:spPr>
        <p:txBody>
          <a:bodyPr wrap="square" lIns="0" tIns="0" rIns="0" bIns="0" rtlCol="0" anchor="ctr"/>
          <a:lstStyle/>
          <a:p>
            <a:pPr marL="0" indent="0">
              <a:buNone/>
            </a:pPr>
            <a:r>
              <a:rPr lang="en-US" sz="2200" b="1" dirty="0">
                <a:solidFill>
                  <a:srgbClr val="00C9A7"/>
                </a:solidFill>
                <a:latin typeface="Calibri" pitchFamily="34" charset="0"/>
                <a:ea typeface="Calibri" pitchFamily="34" charset="-122"/>
                <a:cs typeface="Calibri" pitchFamily="34" charset="-120"/>
              </a:rPr>
              <a:t>04</a:t>
            </a:r>
            <a:endParaRPr lang="en-US" sz="2200" dirty="0"/>
          </a:p>
        </p:txBody>
      </p:sp>
      <p:sp>
        <p:nvSpPr>
          <p:cNvPr id="22" name="Text 20"/>
          <p:cNvSpPr/>
          <p:nvPr/>
        </p:nvSpPr>
        <p:spPr>
          <a:xfrm>
            <a:off x="1115568" y="3931920"/>
            <a:ext cx="329184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Architecture</a:t>
            </a:r>
            <a:endParaRPr lang="en-US" sz="1300" dirty="0"/>
          </a:p>
        </p:txBody>
      </p:sp>
      <p:sp>
        <p:nvSpPr>
          <p:cNvPr id="23" name="Text 21"/>
          <p:cNvSpPr/>
          <p:nvPr/>
        </p:nvSpPr>
        <p:spPr>
          <a:xfrm>
            <a:off x="1115568" y="4279392"/>
            <a:ext cx="3291840" cy="256032"/>
          </a:xfrm>
          <a:prstGeom prst="rect">
            <a:avLst/>
          </a:prstGeom>
          <a:noFill/>
          <a:ln/>
        </p:spPr>
        <p:txBody>
          <a:bodyPr wrap="square" lIns="0" tIns="0" rIns="0" bIns="0" rtlCol="0" anchor="ctr"/>
          <a:lstStyle/>
          <a:p>
            <a:pPr marL="0" indent="0">
              <a:buNone/>
            </a:pPr>
            <a:r>
              <a:rPr lang="en-US" sz="1000" dirty="0">
                <a:solidFill>
                  <a:srgbClr val="7BA5A0"/>
                </a:solidFill>
                <a:latin typeface="Calibri" pitchFamily="34" charset="0"/>
                <a:ea typeface="Calibri" pitchFamily="34" charset="-122"/>
                <a:cs typeface="Calibri" pitchFamily="34" charset="-120"/>
              </a:rPr>
              <a:t>Frontend, backend, database design</a:t>
            </a:r>
            <a:endParaRPr lang="en-US" sz="1000" dirty="0"/>
          </a:p>
        </p:txBody>
      </p:sp>
      <p:sp>
        <p:nvSpPr>
          <p:cNvPr id="24" name="Shape 22"/>
          <p:cNvSpPr/>
          <p:nvPr/>
        </p:nvSpPr>
        <p:spPr>
          <a:xfrm>
            <a:off x="4846320" y="1188720"/>
            <a:ext cx="4114800" cy="749808"/>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25" name="Shape 23"/>
          <p:cNvSpPr/>
          <p:nvPr/>
        </p:nvSpPr>
        <p:spPr>
          <a:xfrm>
            <a:off x="4846320" y="1188720"/>
            <a:ext cx="54864" cy="749808"/>
          </a:xfrm>
          <a:prstGeom prst="rect">
            <a:avLst/>
          </a:prstGeom>
          <a:solidFill>
            <a:srgbClr val="00C9A7"/>
          </a:solidFill>
          <a:ln w="12700">
            <a:solidFill>
              <a:srgbClr val="00C9A7"/>
            </a:solidFill>
            <a:prstDash val="solid"/>
          </a:ln>
        </p:spPr>
        <p:txBody>
          <a:bodyPr/>
          <a:lstStyle/>
          <a:p>
            <a:endParaRPr lang="en-US"/>
          </a:p>
        </p:txBody>
      </p:sp>
      <p:sp>
        <p:nvSpPr>
          <p:cNvPr id="26" name="Text 24"/>
          <p:cNvSpPr/>
          <p:nvPr/>
        </p:nvSpPr>
        <p:spPr>
          <a:xfrm>
            <a:off x="5010912" y="1225296"/>
            <a:ext cx="457200" cy="320040"/>
          </a:xfrm>
          <a:prstGeom prst="rect">
            <a:avLst/>
          </a:prstGeom>
          <a:noFill/>
          <a:ln/>
        </p:spPr>
        <p:txBody>
          <a:bodyPr wrap="square" lIns="0" tIns="0" rIns="0" bIns="0" rtlCol="0" anchor="ctr"/>
          <a:lstStyle/>
          <a:p>
            <a:pPr marL="0" indent="0">
              <a:buNone/>
            </a:pPr>
            <a:r>
              <a:rPr lang="en-US" sz="2200" b="1" dirty="0">
                <a:solidFill>
                  <a:srgbClr val="00C9A7"/>
                </a:solidFill>
                <a:latin typeface="Calibri" pitchFamily="34" charset="0"/>
                <a:ea typeface="Calibri" pitchFamily="34" charset="-122"/>
                <a:cs typeface="Calibri" pitchFamily="34" charset="-120"/>
              </a:rPr>
              <a:t>05</a:t>
            </a:r>
            <a:endParaRPr lang="en-US" sz="2200" dirty="0"/>
          </a:p>
        </p:txBody>
      </p:sp>
      <p:sp>
        <p:nvSpPr>
          <p:cNvPr id="27" name="Text 25"/>
          <p:cNvSpPr/>
          <p:nvPr/>
        </p:nvSpPr>
        <p:spPr>
          <a:xfrm>
            <a:off x="5504688" y="1243584"/>
            <a:ext cx="329184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Key Features</a:t>
            </a:r>
            <a:endParaRPr lang="en-US" sz="1300" dirty="0"/>
          </a:p>
        </p:txBody>
      </p:sp>
      <p:sp>
        <p:nvSpPr>
          <p:cNvPr id="28" name="Text 26"/>
          <p:cNvSpPr/>
          <p:nvPr/>
        </p:nvSpPr>
        <p:spPr>
          <a:xfrm>
            <a:off x="5504688" y="1591056"/>
            <a:ext cx="3291840" cy="256032"/>
          </a:xfrm>
          <a:prstGeom prst="rect">
            <a:avLst/>
          </a:prstGeom>
          <a:noFill/>
          <a:ln/>
        </p:spPr>
        <p:txBody>
          <a:bodyPr wrap="square" lIns="0" tIns="0" rIns="0" bIns="0" rtlCol="0" anchor="ctr"/>
          <a:lstStyle/>
          <a:p>
            <a:pPr marL="0" indent="0">
              <a:buNone/>
            </a:pPr>
            <a:r>
              <a:rPr lang="en-US" sz="1000" dirty="0">
                <a:solidFill>
                  <a:srgbClr val="7BA5A0"/>
                </a:solidFill>
                <a:latin typeface="Calibri" pitchFamily="34" charset="0"/>
                <a:ea typeface="Calibri" pitchFamily="34" charset="-122"/>
                <a:cs typeface="Calibri" pitchFamily="34" charset="-120"/>
              </a:rPr>
              <a:t>Route planner, map, auth, admin panel</a:t>
            </a:r>
            <a:endParaRPr lang="en-US" sz="1000" dirty="0"/>
          </a:p>
        </p:txBody>
      </p:sp>
      <p:sp>
        <p:nvSpPr>
          <p:cNvPr id="29" name="Shape 27"/>
          <p:cNvSpPr/>
          <p:nvPr/>
        </p:nvSpPr>
        <p:spPr>
          <a:xfrm>
            <a:off x="4846320" y="2084832"/>
            <a:ext cx="4114800" cy="749808"/>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30" name="Shape 28"/>
          <p:cNvSpPr/>
          <p:nvPr/>
        </p:nvSpPr>
        <p:spPr>
          <a:xfrm>
            <a:off x="4846320" y="2084832"/>
            <a:ext cx="54864" cy="749808"/>
          </a:xfrm>
          <a:prstGeom prst="rect">
            <a:avLst/>
          </a:prstGeom>
          <a:solidFill>
            <a:srgbClr val="00C9A7"/>
          </a:solidFill>
          <a:ln w="12700">
            <a:solidFill>
              <a:srgbClr val="00C9A7"/>
            </a:solidFill>
            <a:prstDash val="solid"/>
          </a:ln>
        </p:spPr>
        <p:txBody>
          <a:bodyPr/>
          <a:lstStyle/>
          <a:p>
            <a:endParaRPr lang="en-US"/>
          </a:p>
        </p:txBody>
      </p:sp>
      <p:sp>
        <p:nvSpPr>
          <p:cNvPr id="31" name="Text 29"/>
          <p:cNvSpPr/>
          <p:nvPr/>
        </p:nvSpPr>
        <p:spPr>
          <a:xfrm>
            <a:off x="5010912" y="2121408"/>
            <a:ext cx="457200" cy="320040"/>
          </a:xfrm>
          <a:prstGeom prst="rect">
            <a:avLst/>
          </a:prstGeom>
          <a:noFill/>
          <a:ln/>
        </p:spPr>
        <p:txBody>
          <a:bodyPr wrap="square" lIns="0" tIns="0" rIns="0" bIns="0" rtlCol="0" anchor="ctr"/>
          <a:lstStyle/>
          <a:p>
            <a:pPr marL="0" indent="0">
              <a:buNone/>
            </a:pPr>
            <a:r>
              <a:rPr lang="en-US" sz="2200" b="1" dirty="0">
                <a:solidFill>
                  <a:srgbClr val="00C9A7"/>
                </a:solidFill>
                <a:latin typeface="Calibri" pitchFamily="34" charset="0"/>
                <a:ea typeface="Calibri" pitchFamily="34" charset="-122"/>
                <a:cs typeface="Calibri" pitchFamily="34" charset="-120"/>
              </a:rPr>
              <a:t>06</a:t>
            </a:r>
            <a:endParaRPr lang="en-US" sz="2200" dirty="0"/>
          </a:p>
        </p:txBody>
      </p:sp>
      <p:sp>
        <p:nvSpPr>
          <p:cNvPr id="32" name="Text 30"/>
          <p:cNvSpPr/>
          <p:nvPr/>
        </p:nvSpPr>
        <p:spPr>
          <a:xfrm>
            <a:off x="5504688" y="2139696"/>
            <a:ext cx="329184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Code Highlights</a:t>
            </a:r>
            <a:endParaRPr lang="en-US" sz="1300" dirty="0"/>
          </a:p>
        </p:txBody>
      </p:sp>
      <p:sp>
        <p:nvSpPr>
          <p:cNvPr id="33" name="Text 31"/>
          <p:cNvSpPr/>
          <p:nvPr/>
        </p:nvSpPr>
        <p:spPr>
          <a:xfrm>
            <a:off x="5504688" y="2487168"/>
            <a:ext cx="3291840" cy="256032"/>
          </a:xfrm>
          <a:prstGeom prst="rect">
            <a:avLst/>
          </a:prstGeom>
          <a:noFill/>
          <a:ln/>
        </p:spPr>
        <p:txBody>
          <a:bodyPr wrap="square" lIns="0" tIns="0" rIns="0" bIns="0" rtlCol="0" anchor="ctr"/>
          <a:lstStyle/>
          <a:p>
            <a:pPr marL="0" indent="0">
              <a:buNone/>
            </a:pPr>
            <a:r>
              <a:rPr lang="en-US" sz="1000" dirty="0">
                <a:solidFill>
                  <a:srgbClr val="7BA5A0"/>
                </a:solidFill>
                <a:latin typeface="Calibri" pitchFamily="34" charset="0"/>
                <a:ea typeface="Calibri" pitchFamily="34" charset="-122"/>
                <a:cs typeface="Calibri" pitchFamily="34" charset="-120"/>
              </a:rPr>
              <a:t>Selected code snippets from the codebase</a:t>
            </a:r>
            <a:endParaRPr lang="en-US" sz="1000" dirty="0"/>
          </a:p>
        </p:txBody>
      </p:sp>
      <p:sp>
        <p:nvSpPr>
          <p:cNvPr id="34" name="Shape 32"/>
          <p:cNvSpPr/>
          <p:nvPr/>
        </p:nvSpPr>
        <p:spPr>
          <a:xfrm>
            <a:off x="4846320" y="2980944"/>
            <a:ext cx="4114800" cy="749808"/>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35" name="Shape 33"/>
          <p:cNvSpPr/>
          <p:nvPr/>
        </p:nvSpPr>
        <p:spPr>
          <a:xfrm>
            <a:off x="4846320" y="2980944"/>
            <a:ext cx="54864" cy="749808"/>
          </a:xfrm>
          <a:prstGeom prst="rect">
            <a:avLst/>
          </a:prstGeom>
          <a:solidFill>
            <a:srgbClr val="00C9A7"/>
          </a:solidFill>
          <a:ln w="12700">
            <a:solidFill>
              <a:srgbClr val="00C9A7"/>
            </a:solidFill>
            <a:prstDash val="solid"/>
          </a:ln>
        </p:spPr>
        <p:txBody>
          <a:bodyPr/>
          <a:lstStyle/>
          <a:p>
            <a:endParaRPr lang="en-US"/>
          </a:p>
        </p:txBody>
      </p:sp>
      <p:sp>
        <p:nvSpPr>
          <p:cNvPr id="36" name="Text 34"/>
          <p:cNvSpPr/>
          <p:nvPr/>
        </p:nvSpPr>
        <p:spPr>
          <a:xfrm>
            <a:off x="5010912" y="3017520"/>
            <a:ext cx="457200" cy="320040"/>
          </a:xfrm>
          <a:prstGeom prst="rect">
            <a:avLst/>
          </a:prstGeom>
          <a:noFill/>
          <a:ln/>
        </p:spPr>
        <p:txBody>
          <a:bodyPr wrap="square" lIns="0" tIns="0" rIns="0" bIns="0" rtlCol="0" anchor="ctr"/>
          <a:lstStyle/>
          <a:p>
            <a:pPr marL="0" indent="0">
              <a:buNone/>
            </a:pPr>
            <a:r>
              <a:rPr lang="en-US" sz="2200" b="1" dirty="0">
                <a:solidFill>
                  <a:srgbClr val="00C9A7"/>
                </a:solidFill>
                <a:latin typeface="Calibri" pitchFamily="34" charset="0"/>
                <a:ea typeface="Calibri" pitchFamily="34" charset="-122"/>
                <a:cs typeface="Calibri" pitchFamily="34" charset="-120"/>
              </a:rPr>
              <a:t>07</a:t>
            </a:r>
            <a:endParaRPr lang="en-US" sz="2200" dirty="0"/>
          </a:p>
        </p:txBody>
      </p:sp>
      <p:sp>
        <p:nvSpPr>
          <p:cNvPr id="37" name="Text 35"/>
          <p:cNvSpPr/>
          <p:nvPr/>
        </p:nvSpPr>
        <p:spPr>
          <a:xfrm>
            <a:off x="5504688" y="3035808"/>
            <a:ext cx="329184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API Design</a:t>
            </a:r>
            <a:endParaRPr lang="en-US" sz="1300" dirty="0"/>
          </a:p>
        </p:txBody>
      </p:sp>
      <p:sp>
        <p:nvSpPr>
          <p:cNvPr id="38" name="Text 36"/>
          <p:cNvSpPr/>
          <p:nvPr/>
        </p:nvSpPr>
        <p:spPr>
          <a:xfrm>
            <a:off x="5504688" y="3383280"/>
            <a:ext cx="3291840" cy="256032"/>
          </a:xfrm>
          <a:prstGeom prst="rect">
            <a:avLst/>
          </a:prstGeom>
          <a:noFill/>
          <a:ln/>
        </p:spPr>
        <p:txBody>
          <a:bodyPr wrap="square" lIns="0" tIns="0" rIns="0" bIns="0" rtlCol="0" anchor="ctr"/>
          <a:lstStyle/>
          <a:p>
            <a:pPr marL="0" indent="0">
              <a:buNone/>
            </a:pPr>
            <a:r>
              <a:rPr lang="en-US" sz="1000" dirty="0">
                <a:solidFill>
                  <a:srgbClr val="7BA5A0"/>
                </a:solidFill>
                <a:latin typeface="Calibri" pitchFamily="34" charset="0"/>
                <a:ea typeface="Calibri" pitchFamily="34" charset="-122"/>
                <a:cs typeface="Calibri" pitchFamily="34" charset="-120"/>
              </a:rPr>
              <a:t>REST endpoints and data flow</a:t>
            </a:r>
            <a:endParaRPr lang="en-US" sz="1000" dirty="0"/>
          </a:p>
        </p:txBody>
      </p:sp>
      <p:sp>
        <p:nvSpPr>
          <p:cNvPr id="39" name="Shape 37"/>
          <p:cNvSpPr/>
          <p:nvPr/>
        </p:nvSpPr>
        <p:spPr>
          <a:xfrm>
            <a:off x="4846320" y="3877056"/>
            <a:ext cx="4114800" cy="749808"/>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40" name="Shape 38"/>
          <p:cNvSpPr/>
          <p:nvPr/>
        </p:nvSpPr>
        <p:spPr>
          <a:xfrm>
            <a:off x="4846320" y="3877056"/>
            <a:ext cx="54864" cy="749808"/>
          </a:xfrm>
          <a:prstGeom prst="rect">
            <a:avLst/>
          </a:prstGeom>
          <a:solidFill>
            <a:srgbClr val="00C9A7"/>
          </a:solidFill>
          <a:ln w="12700">
            <a:solidFill>
              <a:srgbClr val="00C9A7"/>
            </a:solidFill>
            <a:prstDash val="solid"/>
          </a:ln>
        </p:spPr>
        <p:txBody>
          <a:bodyPr/>
          <a:lstStyle/>
          <a:p>
            <a:endParaRPr lang="en-US"/>
          </a:p>
        </p:txBody>
      </p:sp>
      <p:sp>
        <p:nvSpPr>
          <p:cNvPr id="41" name="Text 39"/>
          <p:cNvSpPr/>
          <p:nvPr/>
        </p:nvSpPr>
        <p:spPr>
          <a:xfrm>
            <a:off x="5010912" y="3913632"/>
            <a:ext cx="457200" cy="320040"/>
          </a:xfrm>
          <a:prstGeom prst="rect">
            <a:avLst/>
          </a:prstGeom>
          <a:noFill/>
          <a:ln/>
        </p:spPr>
        <p:txBody>
          <a:bodyPr wrap="square" lIns="0" tIns="0" rIns="0" bIns="0" rtlCol="0" anchor="ctr"/>
          <a:lstStyle/>
          <a:p>
            <a:pPr marL="0" indent="0">
              <a:buNone/>
            </a:pPr>
            <a:r>
              <a:rPr lang="en-US" sz="2200" b="1" dirty="0">
                <a:solidFill>
                  <a:srgbClr val="00C9A7"/>
                </a:solidFill>
                <a:latin typeface="Calibri" pitchFamily="34" charset="0"/>
                <a:ea typeface="Calibri" pitchFamily="34" charset="-122"/>
                <a:cs typeface="Calibri" pitchFamily="34" charset="-120"/>
              </a:rPr>
              <a:t>08</a:t>
            </a:r>
            <a:endParaRPr lang="en-US" sz="2200" dirty="0"/>
          </a:p>
        </p:txBody>
      </p:sp>
      <p:sp>
        <p:nvSpPr>
          <p:cNvPr id="42" name="Text 40"/>
          <p:cNvSpPr/>
          <p:nvPr/>
        </p:nvSpPr>
        <p:spPr>
          <a:xfrm>
            <a:off x="5504688" y="3931920"/>
            <a:ext cx="329184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Tech Stack</a:t>
            </a:r>
            <a:endParaRPr lang="en-US" sz="1300" dirty="0"/>
          </a:p>
        </p:txBody>
      </p:sp>
      <p:sp>
        <p:nvSpPr>
          <p:cNvPr id="43" name="Text 41"/>
          <p:cNvSpPr/>
          <p:nvPr/>
        </p:nvSpPr>
        <p:spPr>
          <a:xfrm>
            <a:off x="5504688" y="4279392"/>
            <a:ext cx="3291840" cy="256032"/>
          </a:xfrm>
          <a:prstGeom prst="rect">
            <a:avLst/>
          </a:prstGeom>
          <a:noFill/>
          <a:ln/>
        </p:spPr>
        <p:txBody>
          <a:bodyPr wrap="square" lIns="0" tIns="0" rIns="0" bIns="0" rtlCol="0" anchor="ctr"/>
          <a:lstStyle/>
          <a:p>
            <a:pPr marL="0" indent="0">
              <a:buNone/>
            </a:pPr>
            <a:r>
              <a:rPr lang="en-US" sz="1000" dirty="0">
                <a:solidFill>
                  <a:srgbClr val="7BA5A0"/>
                </a:solidFill>
                <a:latin typeface="Calibri" pitchFamily="34" charset="0"/>
                <a:ea typeface="Calibri" pitchFamily="34" charset="-122"/>
                <a:cs typeface="Calibri" pitchFamily="34" charset="-120"/>
              </a:rPr>
              <a:t>Why each tool was chosen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9A7"/>
          </a:solidFill>
          <a:ln w="12700">
            <a:solidFill>
              <a:srgbClr val="00C9A7"/>
            </a:solidFill>
            <a:prstDash val="solid"/>
          </a:ln>
        </p:spPr>
        <p:txBody>
          <a:bodyPr/>
          <a:lstStyle/>
          <a:p>
            <a:endParaRPr lang="en-US"/>
          </a:p>
        </p:txBody>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600" b="1" kern="0" spc="200" dirty="0">
                <a:solidFill>
                  <a:srgbClr val="FFFFFF"/>
                </a:solidFill>
                <a:latin typeface="Calibri" pitchFamily="34" charset="0"/>
                <a:ea typeface="Calibri" pitchFamily="34" charset="-122"/>
                <a:cs typeface="Calibri" pitchFamily="34" charset="-120"/>
              </a:rPr>
              <a:t>01  PROJECT OVERVIEW</a:t>
            </a:r>
            <a:endParaRPr lang="en-US" sz="2600" dirty="0"/>
          </a:p>
        </p:txBody>
      </p:sp>
      <p:sp>
        <p:nvSpPr>
          <p:cNvPr id="4" name="Shape 2"/>
          <p:cNvSpPr/>
          <p:nvPr/>
        </p:nvSpPr>
        <p:spPr>
          <a:xfrm>
            <a:off x="365760" y="868680"/>
            <a:ext cx="4206240" cy="393192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5" name="Shape 3"/>
          <p:cNvSpPr/>
          <p:nvPr/>
        </p:nvSpPr>
        <p:spPr>
          <a:xfrm>
            <a:off x="365760" y="868680"/>
            <a:ext cx="64008" cy="3931920"/>
          </a:xfrm>
          <a:prstGeom prst="rect">
            <a:avLst/>
          </a:prstGeom>
          <a:solidFill>
            <a:srgbClr val="F5A623"/>
          </a:solidFill>
          <a:ln w="12700">
            <a:solidFill>
              <a:srgbClr val="F5A623"/>
            </a:solidFill>
            <a:prstDash val="solid"/>
          </a:ln>
        </p:spPr>
        <p:txBody>
          <a:bodyPr/>
          <a:lstStyle/>
          <a:p>
            <a:endParaRPr lang="en-US"/>
          </a:p>
        </p:txBody>
      </p:sp>
      <p:sp>
        <p:nvSpPr>
          <p:cNvPr id="6" name="Text 4"/>
          <p:cNvSpPr/>
          <p:nvPr/>
        </p:nvSpPr>
        <p:spPr>
          <a:xfrm>
            <a:off x="594360" y="1005840"/>
            <a:ext cx="3749040" cy="347472"/>
          </a:xfrm>
          <a:prstGeom prst="rect">
            <a:avLst/>
          </a:prstGeom>
          <a:noFill/>
          <a:ln/>
        </p:spPr>
        <p:txBody>
          <a:bodyPr wrap="square" lIns="0" tIns="0" rIns="0" bIns="0" rtlCol="0" anchor="ctr"/>
          <a:lstStyle/>
          <a:p>
            <a:pPr marL="0" indent="0">
              <a:buNone/>
            </a:pPr>
            <a:r>
              <a:rPr lang="en-US" sz="1600" b="1" dirty="0">
                <a:solidFill>
                  <a:srgbClr val="F5A623"/>
                </a:solidFill>
                <a:latin typeface="Calibri" pitchFamily="34" charset="0"/>
                <a:ea typeface="Calibri" pitchFamily="34" charset="-122"/>
                <a:cs typeface="Calibri" pitchFamily="34" charset="-120"/>
              </a:rPr>
              <a:t>What is Metroom?</a:t>
            </a:r>
            <a:endParaRPr lang="en-US" sz="1600" dirty="0"/>
          </a:p>
        </p:txBody>
      </p:sp>
      <p:sp>
        <p:nvSpPr>
          <p:cNvPr id="7" name="Text 5"/>
          <p:cNvSpPr/>
          <p:nvPr/>
        </p:nvSpPr>
        <p:spPr>
          <a:xfrm>
            <a:off x="594360" y="1463040"/>
            <a:ext cx="3794760" cy="3108960"/>
          </a:xfrm>
          <a:prstGeom prst="rect">
            <a:avLst/>
          </a:prstGeom>
          <a:noFill/>
          <a:ln/>
        </p:spPr>
        <p:txBody>
          <a:bodyPr wrap="square" lIns="0" tIns="0" rIns="0" bIns="0" rtlCol="0" anchor="ctr"/>
          <a:lstStyle/>
          <a:p>
            <a:pPr marL="0" indent="0">
              <a:lnSpc>
                <a:spcPct val="145000"/>
              </a:lnSpc>
              <a:buNone/>
            </a:pPr>
            <a:r>
              <a:rPr lang="en-US" sz="1200" dirty="0">
                <a:solidFill>
                  <a:srgbClr val="D4E8E0"/>
                </a:solidFill>
                <a:latin typeface="Calibri" pitchFamily="34" charset="0"/>
                <a:ea typeface="Calibri" pitchFamily="34" charset="-122"/>
                <a:cs typeface="Calibri" pitchFamily="34" charset="-120"/>
              </a:rPr>
              <a:t>Metroom is a full-stack Cairo Metro journey planner built with React + Vite on the frontend and Express + TypeScript on the backend.</a:t>
            </a:r>
            <a:endParaRPr lang="en-US" sz="1200" dirty="0"/>
          </a:p>
          <a:p>
            <a:pPr marL="0" indent="0">
              <a:lnSpc>
                <a:spcPct val="145000"/>
              </a:lnSpc>
              <a:buNone/>
            </a:pPr>
            <a:endParaRPr lang="en-US" sz="1200" dirty="0"/>
          </a:p>
          <a:p>
            <a:pPr marL="0" indent="0">
              <a:lnSpc>
                <a:spcPct val="145000"/>
              </a:lnSpc>
              <a:buNone/>
            </a:pPr>
            <a:r>
              <a:rPr lang="en-US" sz="1200" dirty="0">
                <a:solidFill>
                  <a:srgbClr val="D4E8E0"/>
                </a:solidFill>
                <a:latin typeface="Calibri" pitchFamily="34" charset="0"/>
                <a:ea typeface="Calibri" pitchFamily="34" charset="-122"/>
                <a:cs typeface="Calibri" pitchFamily="34" charset="-120"/>
              </a:rPr>
              <a:t>It gives commuters — from daily riders to occasional visitors — one trusted place to plan a trip, see costs upfront, and navigate the network confidently.</a:t>
            </a:r>
            <a:endParaRPr lang="en-US" sz="1200" dirty="0"/>
          </a:p>
          <a:p>
            <a:pPr marL="0" indent="0">
              <a:lnSpc>
                <a:spcPct val="145000"/>
              </a:lnSpc>
              <a:buNone/>
            </a:pPr>
            <a:endParaRPr lang="en-US" sz="1200" dirty="0"/>
          </a:p>
          <a:p>
            <a:pPr marL="0" indent="0">
              <a:lnSpc>
                <a:spcPct val="145000"/>
              </a:lnSpc>
              <a:buNone/>
            </a:pPr>
            <a:r>
              <a:rPr lang="en-US" sz="1200" dirty="0">
                <a:solidFill>
                  <a:srgbClr val="D4E8E0"/>
                </a:solidFill>
                <a:latin typeface="Calibri" pitchFamily="34" charset="0"/>
                <a:ea typeface="Calibri" pitchFamily="34" charset="-122"/>
                <a:cs typeface="Calibri" pitchFamily="34" charset="-120"/>
              </a:rPr>
              <a:t>The name blends 'Metro' with 'Room', reflecting a personal, comfortable space for metro planning.</a:t>
            </a:r>
            <a:endParaRPr lang="en-US" sz="1200" dirty="0"/>
          </a:p>
        </p:txBody>
      </p:sp>
      <p:sp>
        <p:nvSpPr>
          <p:cNvPr id="8" name="Shape 6"/>
          <p:cNvSpPr/>
          <p:nvPr/>
        </p:nvSpPr>
        <p:spPr>
          <a:xfrm>
            <a:off x="4846320" y="868680"/>
            <a:ext cx="3931920" cy="178308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5029200" y="987552"/>
            <a:ext cx="347472" cy="347472"/>
          </a:xfrm>
          <a:prstGeom prst="rect">
            <a:avLst/>
          </a:prstGeom>
        </p:spPr>
      </p:pic>
      <p:sp>
        <p:nvSpPr>
          <p:cNvPr id="10" name="Text 7"/>
          <p:cNvSpPr/>
          <p:nvPr/>
        </p:nvSpPr>
        <p:spPr>
          <a:xfrm>
            <a:off x="5486400" y="1005840"/>
            <a:ext cx="3108960" cy="320040"/>
          </a:xfrm>
          <a:prstGeom prst="rect">
            <a:avLst/>
          </a:prstGeom>
          <a:noFill/>
          <a:ln/>
        </p:spPr>
        <p:txBody>
          <a:bodyPr wrap="square" lIns="0" tIns="0" rIns="0" bIns="0" rtlCol="0" anchor="ctr"/>
          <a:lstStyle/>
          <a:p>
            <a:pPr marL="0" indent="0">
              <a:buNone/>
            </a:pPr>
            <a:r>
              <a:rPr lang="en-US" sz="1300" b="1" dirty="0">
                <a:solidFill>
                  <a:srgbClr val="00C9A7"/>
                </a:solidFill>
                <a:latin typeface="Calibri" pitchFamily="34" charset="0"/>
                <a:ea typeface="Calibri" pitchFamily="34" charset="-122"/>
                <a:cs typeface="Calibri" pitchFamily="34" charset="-120"/>
              </a:rPr>
              <a:t>Target Users</a:t>
            </a:r>
            <a:endParaRPr lang="en-US" sz="1300" dirty="0"/>
          </a:p>
        </p:txBody>
      </p:sp>
      <p:sp>
        <p:nvSpPr>
          <p:cNvPr id="11" name="Text 8"/>
          <p:cNvSpPr/>
          <p:nvPr/>
        </p:nvSpPr>
        <p:spPr>
          <a:xfrm>
            <a:off x="5029200" y="1444752"/>
            <a:ext cx="3566160" cy="292608"/>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Daily commuters (students &amp; employees)</a:t>
            </a:r>
            <a:endParaRPr lang="en-US" sz="1050" dirty="0"/>
          </a:p>
        </p:txBody>
      </p:sp>
      <p:sp>
        <p:nvSpPr>
          <p:cNvPr id="12" name="Text 9"/>
          <p:cNvSpPr/>
          <p:nvPr/>
        </p:nvSpPr>
        <p:spPr>
          <a:xfrm>
            <a:off x="5029200" y="1792224"/>
            <a:ext cx="3566160" cy="292608"/>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Occasional Cairo Metro riders</a:t>
            </a:r>
            <a:endParaRPr lang="en-US" sz="1050" dirty="0"/>
          </a:p>
        </p:txBody>
      </p:sp>
      <p:sp>
        <p:nvSpPr>
          <p:cNvPr id="13" name="Text 10"/>
          <p:cNvSpPr/>
          <p:nvPr/>
        </p:nvSpPr>
        <p:spPr>
          <a:xfrm>
            <a:off x="5029200" y="2139696"/>
            <a:ext cx="3566160" cy="292608"/>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Operators / admins updating network data</a:t>
            </a:r>
            <a:endParaRPr lang="en-US" sz="1050" dirty="0"/>
          </a:p>
        </p:txBody>
      </p:sp>
      <p:sp>
        <p:nvSpPr>
          <p:cNvPr id="14" name="Shape 11"/>
          <p:cNvSpPr/>
          <p:nvPr/>
        </p:nvSpPr>
        <p:spPr>
          <a:xfrm>
            <a:off x="4846320" y="2834640"/>
            <a:ext cx="3931920" cy="196596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pic>
        <p:nvPicPr>
          <p:cNvPr id="15" name="Image 1" descr="preencoded.png"/>
          <p:cNvPicPr>
            <a:picLocks noChangeAspect="1"/>
          </p:cNvPicPr>
          <p:nvPr/>
        </p:nvPicPr>
        <p:blipFill>
          <a:blip r:embed="rId4"/>
          <a:stretch>
            <a:fillRect/>
          </a:stretch>
        </p:blipFill>
        <p:spPr>
          <a:xfrm>
            <a:off x="5029200" y="2944368"/>
            <a:ext cx="347472" cy="347472"/>
          </a:xfrm>
          <a:prstGeom prst="rect">
            <a:avLst/>
          </a:prstGeom>
        </p:spPr>
      </p:pic>
      <p:sp>
        <p:nvSpPr>
          <p:cNvPr id="16" name="Text 12"/>
          <p:cNvSpPr/>
          <p:nvPr/>
        </p:nvSpPr>
        <p:spPr>
          <a:xfrm>
            <a:off x="5486400" y="2962656"/>
            <a:ext cx="3108960" cy="320040"/>
          </a:xfrm>
          <a:prstGeom prst="rect">
            <a:avLst/>
          </a:prstGeom>
          <a:noFill/>
          <a:ln/>
        </p:spPr>
        <p:txBody>
          <a:bodyPr wrap="square" lIns="0" tIns="0" rIns="0" bIns="0" rtlCol="0" anchor="ctr"/>
          <a:lstStyle/>
          <a:p>
            <a:pPr marL="0" indent="0">
              <a:buNone/>
            </a:pPr>
            <a:r>
              <a:rPr lang="en-US" sz="1300" b="1" dirty="0">
                <a:solidFill>
                  <a:srgbClr val="F5A623"/>
                </a:solidFill>
                <a:latin typeface="Calibri" pitchFamily="34" charset="0"/>
                <a:ea typeface="Calibri" pitchFamily="34" charset="-122"/>
                <a:cs typeface="Calibri" pitchFamily="34" charset="-120"/>
              </a:rPr>
              <a:t>Product Goals</a:t>
            </a:r>
            <a:endParaRPr lang="en-US" sz="1300" dirty="0"/>
          </a:p>
        </p:txBody>
      </p:sp>
      <p:sp>
        <p:nvSpPr>
          <p:cNvPr id="17" name="Text 13"/>
          <p:cNvSpPr/>
          <p:nvPr/>
        </p:nvSpPr>
        <p:spPr>
          <a:xfrm>
            <a:off x="5029200" y="3401568"/>
            <a:ext cx="3566160" cy="292608"/>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Reduce planning time &amp; route confusion</a:t>
            </a:r>
            <a:endParaRPr lang="en-US" sz="1050" dirty="0"/>
          </a:p>
        </p:txBody>
      </p:sp>
      <p:sp>
        <p:nvSpPr>
          <p:cNvPr id="18" name="Text 14"/>
          <p:cNvSpPr/>
          <p:nvPr/>
        </p:nvSpPr>
        <p:spPr>
          <a:xfrm>
            <a:off x="5029200" y="3749040"/>
            <a:ext cx="3566160" cy="292608"/>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Transparent fare &amp; time estimates</a:t>
            </a:r>
            <a:endParaRPr lang="en-US" sz="1050" dirty="0"/>
          </a:p>
        </p:txBody>
      </p:sp>
      <p:sp>
        <p:nvSpPr>
          <p:cNvPr id="19" name="Text 15"/>
          <p:cNvSpPr/>
          <p:nvPr/>
        </p:nvSpPr>
        <p:spPr>
          <a:xfrm>
            <a:off x="5029200" y="4096512"/>
            <a:ext cx="3566160" cy="292608"/>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Admin tools for live network updates</a:t>
            </a:r>
            <a:endParaRPr lang="en-US" sz="1050" dirty="0"/>
          </a:p>
        </p:txBody>
      </p:sp>
      <p:sp>
        <p:nvSpPr>
          <p:cNvPr id="20" name="Text 16"/>
          <p:cNvSpPr/>
          <p:nvPr/>
        </p:nvSpPr>
        <p:spPr>
          <a:xfrm>
            <a:off x="5029200" y="4443984"/>
            <a:ext cx="3566160" cy="292608"/>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Mobile-friendly for daily commuters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63946"/>
          </a:solidFill>
          <a:ln w="12700">
            <a:solidFill>
              <a:srgbClr val="E63946"/>
            </a:solidFill>
            <a:prstDash val="solid"/>
          </a:ln>
        </p:spPr>
        <p:txBody>
          <a:bodyPr/>
          <a:lstStyle/>
          <a:p>
            <a:endParaRPr lang="en-US"/>
          </a:p>
        </p:txBody>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400" b="1" kern="0" spc="200" dirty="0">
                <a:solidFill>
                  <a:srgbClr val="FFFFFF"/>
                </a:solidFill>
                <a:latin typeface="Calibri" pitchFamily="34" charset="0"/>
                <a:ea typeface="Calibri" pitchFamily="34" charset="-122"/>
                <a:cs typeface="Calibri" pitchFamily="34" charset="-120"/>
              </a:rPr>
              <a:t>02  PAIN POINTS &amp; PROBLEM STATEMENT</a:t>
            </a:r>
            <a:endParaRPr lang="en-US" sz="2400" dirty="0"/>
          </a:p>
        </p:txBody>
      </p:sp>
      <p:sp>
        <p:nvSpPr>
          <p:cNvPr id="4" name="Text 2"/>
          <p:cNvSpPr/>
          <p:nvPr/>
        </p:nvSpPr>
        <p:spPr>
          <a:xfrm>
            <a:off x="457200" y="685800"/>
            <a:ext cx="8229600" cy="292608"/>
          </a:xfrm>
          <a:prstGeom prst="rect">
            <a:avLst/>
          </a:prstGeom>
          <a:noFill/>
          <a:ln/>
        </p:spPr>
        <p:txBody>
          <a:bodyPr wrap="square" lIns="0" tIns="0" rIns="0" bIns="0" rtlCol="0" anchor="ctr"/>
          <a:lstStyle/>
          <a:p>
            <a:pPr marL="0" indent="0">
              <a:buNone/>
            </a:pPr>
            <a:r>
              <a:rPr lang="en-US" sz="1300" i="1" dirty="0">
                <a:solidFill>
                  <a:srgbClr val="7BA5A0"/>
                </a:solidFill>
                <a:latin typeface="Calibri" pitchFamily="34" charset="0"/>
                <a:ea typeface="Calibri" pitchFamily="34" charset="-122"/>
                <a:cs typeface="Calibri" pitchFamily="34" charset="-120"/>
              </a:rPr>
              <a:t>What Cairo commuters struggle with every day</a:t>
            </a:r>
            <a:endParaRPr lang="en-US" sz="1300" dirty="0"/>
          </a:p>
        </p:txBody>
      </p:sp>
      <p:sp>
        <p:nvSpPr>
          <p:cNvPr id="5" name="Shape 3"/>
          <p:cNvSpPr/>
          <p:nvPr/>
        </p:nvSpPr>
        <p:spPr>
          <a:xfrm>
            <a:off x="274320" y="1143000"/>
            <a:ext cx="2834640" cy="1719072"/>
          </a:xfrm>
          <a:prstGeom prst="rect">
            <a:avLst/>
          </a:prstGeom>
          <a:solidFill>
            <a:srgbClr val="1B2A3B"/>
          </a:solidFill>
          <a:ln w="12700">
            <a:solidFill>
              <a:srgbClr val="3D1515"/>
            </a:solidFill>
            <a:prstDash val="solid"/>
          </a:ln>
          <a:effectLst>
            <a:outerShdw blurRad="101600" dist="38100" dir="8100000" algn="bl" rotWithShape="0">
              <a:srgbClr val="000000">
                <a:alpha val="25000"/>
              </a:srgbClr>
            </a:outerShdw>
          </a:effectLst>
        </p:spPr>
        <p:txBody>
          <a:bodyPr/>
          <a:lstStyle/>
          <a:p>
            <a:endParaRPr lang="en-US"/>
          </a:p>
        </p:txBody>
      </p:sp>
      <p:sp>
        <p:nvSpPr>
          <p:cNvPr id="6" name="Shape 4"/>
          <p:cNvSpPr/>
          <p:nvPr/>
        </p:nvSpPr>
        <p:spPr>
          <a:xfrm>
            <a:off x="274320" y="1143000"/>
            <a:ext cx="2834640" cy="54864"/>
          </a:xfrm>
          <a:prstGeom prst="rect">
            <a:avLst/>
          </a:prstGeom>
          <a:solidFill>
            <a:srgbClr val="E63946"/>
          </a:solidFill>
          <a:ln w="12700">
            <a:solidFill>
              <a:srgbClr val="E63946"/>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384048" y="1252728"/>
            <a:ext cx="292608" cy="292608"/>
          </a:xfrm>
          <a:prstGeom prst="rect">
            <a:avLst/>
          </a:prstGeom>
        </p:spPr>
      </p:pic>
      <p:sp>
        <p:nvSpPr>
          <p:cNvPr id="8" name="Text 5"/>
          <p:cNvSpPr/>
          <p:nvPr/>
        </p:nvSpPr>
        <p:spPr>
          <a:xfrm>
            <a:off x="777240" y="1216152"/>
            <a:ext cx="224028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No Unified Information Source</a:t>
            </a:r>
            <a:endParaRPr lang="en-US" sz="1100" dirty="0"/>
          </a:p>
        </p:txBody>
      </p:sp>
      <p:sp>
        <p:nvSpPr>
          <p:cNvPr id="9" name="Text 6"/>
          <p:cNvSpPr/>
          <p:nvPr/>
        </p:nvSpPr>
        <p:spPr>
          <a:xfrm>
            <a:off x="384048" y="1673352"/>
            <a:ext cx="2606040" cy="1097280"/>
          </a:xfrm>
          <a:prstGeom prst="rect">
            <a:avLst/>
          </a:prstGeom>
          <a:noFill/>
          <a:ln/>
        </p:spPr>
        <p:txBody>
          <a:bodyPr wrap="square" lIns="0" tIns="0" rIns="0" bIns="0" rtlCol="0" anchor="ctr"/>
          <a:lstStyle/>
          <a:p>
            <a:pPr marL="0" indent="0">
              <a:lnSpc>
                <a:spcPct val="135000"/>
              </a:lnSpc>
              <a:buNone/>
            </a:pPr>
            <a:r>
              <a:rPr lang="en-US" sz="1000" dirty="0">
                <a:solidFill>
                  <a:srgbClr val="D4E8E0"/>
                </a:solidFill>
                <a:latin typeface="Calibri" pitchFamily="34" charset="0"/>
                <a:ea typeface="Calibri" pitchFamily="34" charset="-122"/>
                <a:cs typeface="Calibri" pitchFamily="34" charset="-120"/>
              </a:rPr>
              <a:t>Commuters rely on word-of-mouth, old pamphlets, or unrelated apps. There is no single trustworthy place for routes, fares, and transfer guidance.</a:t>
            </a:r>
            <a:endParaRPr lang="en-US" sz="1000" dirty="0"/>
          </a:p>
        </p:txBody>
      </p:sp>
      <p:sp>
        <p:nvSpPr>
          <p:cNvPr id="10" name="Shape 7"/>
          <p:cNvSpPr/>
          <p:nvPr/>
        </p:nvSpPr>
        <p:spPr>
          <a:xfrm>
            <a:off x="3227832" y="1143000"/>
            <a:ext cx="2834640" cy="1719072"/>
          </a:xfrm>
          <a:prstGeom prst="rect">
            <a:avLst/>
          </a:prstGeom>
          <a:solidFill>
            <a:srgbClr val="1B2A3B"/>
          </a:solidFill>
          <a:ln w="12700">
            <a:solidFill>
              <a:srgbClr val="3D1515"/>
            </a:solidFill>
            <a:prstDash val="solid"/>
          </a:ln>
          <a:effectLst>
            <a:outerShdw blurRad="101600" dist="38100" dir="8100000" algn="bl" rotWithShape="0">
              <a:srgbClr val="000000">
                <a:alpha val="25000"/>
              </a:srgbClr>
            </a:outerShdw>
          </a:effectLst>
        </p:spPr>
        <p:txBody>
          <a:bodyPr/>
          <a:lstStyle/>
          <a:p>
            <a:endParaRPr lang="en-US"/>
          </a:p>
        </p:txBody>
      </p:sp>
      <p:sp>
        <p:nvSpPr>
          <p:cNvPr id="11" name="Shape 8"/>
          <p:cNvSpPr/>
          <p:nvPr/>
        </p:nvSpPr>
        <p:spPr>
          <a:xfrm>
            <a:off x="3227832" y="1143000"/>
            <a:ext cx="2834640" cy="54864"/>
          </a:xfrm>
          <a:prstGeom prst="rect">
            <a:avLst/>
          </a:prstGeom>
          <a:solidFill>
            <a:srgbClr val="E63946"/>
          </a:solidFill>
          <a:ln w="12700">
            <a:solidFill>
              <a:srgbClr val="E63946"/>
            </a:solidFill>
            <a:prstDash val="solid"/>
          </a:ln>
        </p:spPr>
        <p:txBody>
          <a:bodyPr/>
          <a:lstStyle/>
          <a:p>
            <a:endParaRPr lang="en-US"/>
          </a:p>
        </p:txBody>
      </p:sp>
      <p:pic>
        <p:nvPicPr>
          <p:cNvPr id="12" name="Image 1" descr="preencoded.png"/>
          <p:cNvPicPr>
            <a:picLocks noChangeAspect="1"/>
          </p:cNvPicPr>
          <p:nvPr/>
        </p:nvPicPr>
        <p:blipFill>
          <a:blip r:embed="rId3"/>
          <a:stretch>
            <a:fillRect/>
          </a:stretch>
        </p:blipFill>
        <p:spPr>
          <a:xfrm>
            <a:off x="3337560" y="1252728"/>
            <a:ext cx="292608" cy="292608"/>
          </a:xfrm>
          <a:prstGeom prst="rect">
            <a:avLst/>
          </a:prstGeom>
        </p:spPr>
      </p:pic>
      <p:sp>
        <p:nvSpPr>
          <p:cNvPr id="13" name="Text 9"/>
          <p:cNvSpPr/>
          <p:nvPr/>
        </p:nvSpPr>
        <p:spPr>
          <a:xfrm>
            <a:off x="3730752" y="1216152"/>
            <a:ext cx="224028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Unknown Fare Before Travel</a:t>
            </a:r>
            <a:endParaRPr lang="en-US" sz="1100" dirty="0"/>
          </a:p>
        </p:txBody>
      </p:sp>
      <p:sp>
        <p:nvSpPr>
          <p:cNvPr id="14" name="Text 10"/>
          <p:cNvSpPr/>
          <p:nvPr/>
        </p:nvSpPr>
        <p:spPr>
          <a:xfrm>
            <a:off x="3337560" y="1673352"/>
            <a:ext cx="2606040" cy="1097280"/>
          </a:xfrm>
          <a:prstGeom prst="rect">
            <a:avLst/>
          </a:prstGeom>
          <a:noFill/>
          <a:ln/>
        </p:spPr>
        <p:txBody>
          <a:bodyPr wrap="square" lIns="0" tIns="0" rIns="0" bIns="0" rtlCol="0" anchor="ctr"/>
          <a:lstStyle/>
          <a:p>
            <a:pPr marL="0" indent="0">
              <a:lnSpc>
                <a:spcPct val="135000"/>
              </a:lnSpc>
              <a:buNone/>
            </a:pPr>
            <a:r>
              <a:rPr lang="en-US" sz="1000" dirty="0">
                <a:solidFill>
                  <a:srgbClr val="D4E8E0"/>
                </a:solidFill>
                <a:latin typeface="Calibri" pitchFamily="34" charset="0"/>
                <a:ea typeface="Calibri" pitchFamily="34" charset="-122"/>
                <a:cs typeface="Calibri" pitchFamily="34" charset="-120"/>
              </a:rPr>
              <a:t>Fare zones and ticket prices are confusing. Riders often overpay, underpay, or simply avoid the metro because they cannot predict costs in advance.</a:t>
            </a:r>
            <a:endParaRPr lang="en-US" sz="1000" dirty="0"/>
          </a:p>
        </p:txBody>
      </p:sp>
      <p:sp>
        <p:nvSpPr>
          <p:cNvPr id="15" name="Shape 11"/>
          <p:cNvSpPr/>
          <p:nvPr/>
        </p:nvSpPr>
        <p:spPr>
          <a:xfrm>
            <a:off x="6181344" y="1143000"/>
            <a:ext cx="2834640" cy="1719072"/>
          </a:xfrm>
          <a:prstGeom prst="rect">
            <a:avLst/>
          </a:prstGeom>
          <a:solidFill>
            <a:srgbClr val="1B2A3B"/>
          </a:solidFill>
          <a:ln w="12700">
            <a:solidFill>
              <a:srgbClr val="3D1515"/>
            </a:solidFill>
            <a:prstDash val="solid"/>
          </a:ln>
          <a:effectLst>
            <a:outerShdw blurRad="101600" dist="38100" dir="8100000" algn="bl" rotWithShape="0">
              <a:srgbClr val="000000">
                <a:alpha val="25000"/>
              </a:srgbClr>
            </a:outerShdw>
          </a:effectLst>
        </p:spPr>
        <p:txBody>
          <a:bodyPr/>
          <a:lstStyle/>
          <a:p>
            <a:endParaRPr lang="en-US"/>
          </a:p>
        </p:txBody>
      </p:sp>
      <p:sp>
        <p:nvSpPr>
          <p:cNvPr id="16" name="Shape 12"/>
          <p:cNvSpPr/>
          <p:nvPr/>
        </p:nvSpPr>
        <p:spPr>
          <a:xfrm>
            <a:off x="6181344" y="1143000"/>
            <a:ext cx="2834640" cy="54864"/>
          </a:xfrm>
          <a:prstGeom prst="rect">
            <a:avLst/>
          </a:prstGeom>
          <a:solidFill>
            <a:srgbClr val="E63946"/>
          </a:solidFill>
          <a:ln w="12700">
            <a:solidFill>
              <a:srgbClr val="E63946"/>
            </a:solidFill>
            <a:prstDash val="solid"/>
          </a:ln>
        </p:spPr>
        <p:txBody>
          <a:bodyPr/>
          <a:lstStyle/>
          <a:p>
            <a:endParaRPr lang="en-US"/>
          </a:p>
        </p:txBody>
      </p:sp>
      <p:pic>
        <p:nvPicPr>
          <p:cNvPr id="17" name="Image 2" descr="preencoded.png"/>
          <p:cNvPicPr>
            <a:picLocks noChangeAspect="1"/>
          </p:cNvPicPr>
          <p:nvPr/>
        </p:nvPicPr>
        <p:blipFill>
          <a:blip r:embed="rId3"/>
          <a:stretch>
            <a:fillRect/>
          </a:stretch>
        </p:blipFill>
        <p:spPr>
          <a:xfrm>
            <a:off x="6291072" y="1252728"/>
            <a:ext cx="292608" cy="292608"/>
          </a:xfrm>
          <a:prstGeom prst="rect">
            <a:avLst/>
          </a:prstGeom>
        </p:spPr>
      </p:pic>
      <p:sp>
        <p:nvSpPr>
          <p:cNvPr id="18" name="Text 13"/>
          <p:cNvSpPr/>
          <p:nvPr/>
        </p:nvSpPr>
        <p:spPr>
          <a:xfrm>
            <a:off x="6684264" y="1216152"/>
            <a:ext cx="224028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Transfer Confusion</a:t>
            </a:r>
            <a:endParaRPr lang="en-US" sz="1100" dirty="0"/>
          </a:p>
        </p:txBody>
      </p:sp>
      <p:sp>
        <p:nvSpPr>
          <p:cNvPr id="19" name="Text 14"/>
          <p:cNvSpPr/>
          <p:nvPr/>
        </p:nvSpPr>
        <p:spPr>
          <a:xfrm>
            <a:off x="6291072" y="1673352"/>
            <a:ext cx="2606040" cy="1097280"/>
          </a:xfrm>
          <a:prstGeom prst="rect">
            <a:avLst/>
          </a:prstGeom>
          <a:noFill/>
          <a:ln/>
        </p:spPr>
        <p:txBody>
          <a:bodyPr wrap="square" lIns="0" tIns="0" rIns="0" bIns="0" rtlCol="0" anchor="ctr"/>
          <a:lstStyle/>
          <a:p>
            <a:pPr marL="0" indent="0">
              <a:lnSpc>
                <a:spcPct val="135000"/>
              </a:lnSpc>
              <a:buNone/>
            </a:pPr>
            <a:r>
              <a:rPr lang="en-US" sz="1000" dirty="0">
                <a:solidFill>
                  <a:srgbClr val="D4E8E0"/>
                </a:solidFill>
                <a:latin typeface="Calibri" pitchFamily="34" charset="0"/>
                <a:ea typeface="Calibri" pitchFamily="34" charset="-122"/>
                <a:cs typeface="Calibri" pitchFamily="34" charset="-120"/>
              </a:rPr>
              <a:t>Cairo Metro requires transfers at specific stations between lines. Without guidance, passengers miss transfers, board wrong trains, or waste significant time.</a:t>
            </a:r>
            <a:endParaRPr lang="en-US" sz="1000" dirty="0"/>
          </a:p>
        </p:txBody>
      </p:sp>
      <p:sp>
        <p:nvSpPr>
          <p:cNvPr id="20" name="Shape 15"/>
          <p:cNvSpPr/>
          <p:nvPr/>
        </p:nvSpPr>
        <p:spPr>
          <a:xfrm>
            <a:off x="274320" y="3017520"/>
            <a:ext cx="2834640" cy="1719072"/>
          </a:xfrm>
          <a:prstGeom prst="rect">
            <a:avLst/>
          </a:prstGeom>
          <a:solidFill>
            <a:srgbClr val="1B2A3B"/>
          </a:solidFill>
          <a:ln w="12700">
            <a:solidFill>
              <a:srgbClr val="3D1515"/>
            </a:solidFill>
            <a:prstDash val="solid"/>
          </a:ln>
          <a:effectLst>
            <a:outerShdw blurRad="101600" dist="38100" dir="8100000" algn="bl" rotWithShape="0">
              <a:srgbClr val="000000">
                <a:alpha val="25000"/>
              </a:srgbClr>
            </a:outerShdw>
          </a:effectLst>
        </p:spPr>
        <p:txBody>
          <a:bodyPr/>
          <a:lstStyle/>
          <a:p>
            <a:endParaRPr lang="en-US"/>
          </a:p>
        </p:txBody>
      </p:sp>
      <p:sp>
        <p:nvSpPr>
          <p:cNvPr id="21" name="Shape 16"/>
          <p:cNvSpPr/>
          <p:nvPr/>
        </p:nvSpPr>
        <p:spPr>
          <a:xfrm>
            <a:off x="274320" y="3017520"/>
            <a:ext cx="2834640" cy="54864"/>
          </a:xfrm>
          <a:prstGeom prst="rect">
            <a:avLst/>
          </a:prstGeom>
          <a:solidFill>
            <a:srgbClr val="E63946"/>
          </a:solidFill>
          <a:ln w="12700">
            <a:solidFill>
              <a:srgbClr val="E63946"/>
            </a:solidFill>
            <a:prstDash val="solid"/>
          </a:ln>
        </p:spPr>
        <p:txBody>
          <a:bodyPr/>
          <a:lstStyle/>
          <a:p>
            <a:endParaRPr lang="en-US"/>
          </a:p>
        </p:txBody>
      </p:sp>
      <p:pic>
        <p:nvPicPr>
          <p:cNvPr id="22" name="Image 3" descr="preencoded.png"/>
          <p:cNvPicPr>
            <a:picLocks noChangeAspect="1"/>
          </p:cNvPicPr>
          <p:nvPr/>
        </p:nvPicPr>
        <p:blipFill>
          <a:blip r:embed="rId3"/>
          <a:stretch>
            <a:fillRect/>
          </a:stretch>
        </p:blipFill>
        <p:spPr>
          <a:xfrm>
            <a:off x="384048" y="3127248"/>
            <a:ext cx="292608" cy="292608"/>
          </a:xfrm>
          <a:prstGeom prst="rect">
            <a:avLst/>
          </a:prstGeom>
        </p:spPr>
      </p:pic>
      <p:sp>
        <p:nvSpPr>
          <p:cNvPr id="23" name="Text 17"/>
          <p:cNvSpPr/>
          <p:nvPr/>
        </p:nvSpPr>
        <p:spPr>
          <a:xfrm>
            <a:off x="777240" y="3090672"/>
            <a:ext cx="224028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Location-to-Station Gap</a:t>
            </a:r>
            <a:endParaRPr lang="en-US" sz="1100" dirty="0"/>
          </a:p>
        </p:txBody>
      </p:sp>
      <p:sp>
        <p:nvSpPr>
          <p:cNvPr id="24" name="Text 18"/>
          <p:cNvSpPr/>
          <p:nvPr/>
        </p:nvSpPr>
        <p:spPr>
          <a:xfrm>
            <a:off x="384048" y="3547872"/>
            <a:ext cx="2606040" cy="1097280"/>
          </a:xfrm>
          <a:prstGeom prst="rect">
            <a:avLst/>
          </a:prstGeom>
          <a:noFill/>
          <a:ln/>
        </p:spPr>
        <p:txBody>
          <a:bodyPr wrap="square" lIns="0" tIns="0" rIns="0" bIns="0" rtlCol="0" anchor="ctr"/>
          <a:lstStyle/>
          <a:p>
            <a:pPr marL="0" indent="0">
              <a:lnSpc>
                <a:spcPct val="135000"/>
              </a:lnSpc>
              <a:buNone/>
            </a:pPr>
            <a:r>
              <a:rPr lang="en-US" sz="1000" dirty="0">
                <a:solidFill>
                  <a:srgbClr val="D4E8E0"/>
                </a:solidFill>
                <a:latin typeface="Calibri" pitchFamily="34" charset="0"/>
                <a:ea typeface="Calibri" pitchFamily="34" charset="-122"/>
                <a:cs typeface="Calibri" pitchFamily="34" charset="-120"/>
              </a:rPr>
              <a:t>Commuters know GPS coordinates or Google Maps links but cannot easily translate them into metro stations — the two worlds don't connect.</a:t>
            </a:r>
            <a:endParaRPr lang="en-US" sz="1000" dirty="0"/>
          </a:p>
        </p:txBody>
      </p:sp>
      <p:sp>
        <p:nvSpPr>
          <p:cNvPr id="25" name="Shape 19"/>
          <p:cNvSpPr/>
          <p:nvPr/>
        </p:nvSpPr>
        <p:spPr>
          <a:xfrm>
            <a:off x="3227832" y="3017520"/>
            <a:ext cx="2834640" cy="1719072"/>
          </a:xfrm>
          <a:prstGeom prst="rect">
            <a:avLst/>
          </a:prstGeom>
          <a:solidFill>
            <a:srgbClr val="1B2A3B"/>
          </a:solidFill>
          <a:ln w="12700">
            <a:solidFill>
              <a:srgbClr val="3D1515"/>
            </a:solidFill>
            <a:prstDash val="solid"/>
          </a:ln>
          <a:effectLst>
            <a:outerShdw blurRad="101600" dist="38100" dir="8100000" algn="bl" rotWithShape="0">
              <a:srgbClr val="000000">
                <a:alpha val="25000"/>
              </a:srgbClr>
            </a:outerShdw>
          </a:effectLst>
        </p:spPr>
        <p:txBody>
          <a:bodyPr/>
          <a:lstStyle/>
          <a:p>
            <a:endParaRPr lang="en-US"/>
          </a:p>
        </p:txBody>
      </p:sp>
      <p:sp>
        <p:nvSpPr>
          <p:cNvPr id="26" name="Shape 20"/>
          <p:cNvSpPr/>
          <p:nvPr/>
        </p:nvSpPr>
        <p:spPr>
          <a:xfrm>
            <a:off x="3227832" y="3017520"/>
            <a:ext cx="2834640" cy="54864"/>
          </a:xfrm>
          <a:prstGeom prst="rect">
            <a:avLst/>
          </a:prstGeom>
          <a:solidFill>
            <a:srgbClr val="E63946"/>
          </a:solidFill>
          <a:ln w="12700">
            <a:solidFill>
              <a:srgbClr val="E63946"/>
            </a:solidFill>
            <a:prstDash val="solid"/>
          </a:ln>
        </p:spPr>
        <p:txBody>
          <a:bodyPr/>
          <a:lstStyle/>
          <a:p>
            <a:endParaRPr lang="en-US"/>
          </a:p>
        </p:txBody>
      </p:sp>
      <p:pic>
        <p:nvPicPr>
          <p:cNvPr id="27" name="Image 4" descr="preencoded.png"/>
          <p:cNvPicPr>
            <a:picLocks noChangeAspect="1"/>
          </p:cNvPicPr>
          <p:nvPr/>
        </p:nvPicPr>
        <p:blipFill>
          <a:blip r:embed="rId3"/>
          <a:stretch>
            <a:fillRect/>
          </a:stretch>
        </p:blipFill>
        <p:spPr>
          <a:xfrm>
            <a:off x="3337560" y="3127248"/>
            <a:ext cx="292608" cy="292608"/>
          </a:xfrm>
          <a:prstGeom prst="rect">
            <a:avLst/>
          </a:prstGeom>
        </p:spPr>
      </p:pic>
      <p:sp>
        <p:nvSpPr>
          <p:cNvPr id="28" name="Text 21"/>
          <p:cNvSpPr/>
          <p:nvPr/>
        </p:nvSpPr>
        <p:spPr>
          <a:xfrm>
            <a:off x="3730752" y="3090672"/>
            <a:ext cx="224028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No Trip History</a:t>
            </a:r>
            <a:endParaRPr lang="en-US" sz="1100" dirty="0"/>
          </a:p>
        </p:txBody>
      </p:sp>
      <p:sp>
        <p:nvSpPr>
          <p:cNvPr id="29" name="Text 22"/>
          <p:cNvSpPr/>
          <p:nvPr/>
        </p:nvSpPr>
        <p:spPr>
          <a:xfrm>
            <a:off x="3337560" y="3547872"/>
            <a:ext cx="2606040" cy="1097280"/>
          </a:xfrm>
          <a:prstGeom prst="rect">
            <a:avLst/>
          </a:prstGeom>
          <a:noFill/>
          <a:ln/>
        </p:spPr>
        <p:txBody>
          <a:bodyPr wrap="square" lIns="0" tIns="0" rIns="0" bIns="0" rtlCol="0" anchor="ctr"/>
          <a:lstStyle/>
          <a:p>
            <a:pPr marL="0" indent="0">
              <a:lnSpc>
                <a:spcPct val="135000"/>
              </a:lnSpc>
              <a:buNone/>
            </a:pPr>
            <a:r>
              <a:rPr lang="en-US" sz="1000" dirty="0">
                <a:solidFill>
                  <a:srgbClr val="D4E8E0"/>
                </a:solidFill>
                <a:latin typeface="Calibri" pitchFamily="34" charset="0"/>
                <a:ea typeface="Calibri" pitchFamily="34" charset="-122"/>
                <a:cs typeface="Calibri" pitchFamily="34" charset="-120"/>
              </a:rPr>
              <a:t>Frequent riders repeat the same planning exercise daily. There is no way to save, revisit, or export past trips for reference or reuse.</a:t>
            </a:r>
            <a:endParaRPr lang="en-US" sz="1000" dirty="0"/>
          </a:p>
        </p:txBody>
      </p:sp>
      <p:sp>
        <p:nvSpPr>
          <p:cNvPr id="30" name="Shape 23"/>
          <p:cNvSpPr/>
          <p:nvPr/>
        </p:nvSpPr>
        <p:spPr>
          <a:xfrm>
            <a:off x="6181344" y="3017520"/>
            <a:ext cx="2834640" cy="1719072"/>
          </a:xfrm>
          <a:prstGeom prst="rect">
            <a:avLst/>
          </a:prstGeom>
          <a:solidFill>
            <a:srgbClr val="1B2A3B"/>
          </a:solidFill>
          <a:ln w="12700">
            <a:solidFill>
              <a:srgbClr val="3D1515"/>
            </a:solidFill>
            <a:prstDash val="solid"/>
          </a:ln>
          <a:effectLst>
            <a:outerShdw blurRad="101600" dist="38100" dir="8100000" algn="bl" rotWithShape="0">
              <a:srgbClr val="000000">
                <a:alpha val="25000"/>
              </a:srgbClr>
            </a:outerShdw>
          </a:effectLst>
        </p:spPr>
        <p:txBody>
          <a:bodyPr/>
          <a:lstStyle/>
          <a:p>
            <a:endParaRPr lang="en-US"/>
          </a:p>
        </p:txBody>
      </p:sp>
      <p:sp>
        <p:nvSpPr>
          <p:cNvPr id="31" name="Shape 24"/>
          <p:cNvSpPr/>
          <p:nvPr/>
        </p:nvSpPr>
        <p:spPr>
          <a:xfrm>
            <a:off x="6181344" y="3017520"/>
            <a:ext cx="2834640" cy="54864"/>
          </a:xfrm>
          <a:prstGeom prst="rect">
            <a:avLst/>
          </a:prstGeom>
          <a:solidFill>
            <a:srgbClr val="E63946"/>
          </a:solidFill>
          <a:ln w="12700">
            <a:solidFill>
              <a:srgbClr val="E63946"/>
            </a:solidFill>
            <a:prstDash val="solid"/>
          </a:ln>
        </p:spPr>
        <p:txBody>
          <a:bodyPr/>
          <a:lstStyle/>
          <a:p>
            <a:endParaRPr lang="en-US"/>
          </a:p>
        </p:txBody>
      </p:sp>
      <p:pic>
        <p:nvPicPr>
          <p:cNvPr id="32" name="Image 5" descr="preencoded.png"/>
          <p:cNvPicPr>
            <a:picLocks noChangeAspect="1"/>
          </p:cNvPicPr>
          <p:nvPr/>
        </p:nvPicPr>
        <p:blipFill>
          <a:blip r:embed="rId3"/>
          <a:stretch>
            <a:fillRect/>
          </a:stretch>
        </p:blipFill>
        <p:spPr>
          <a:xfrm>
            <a:off x="6291072" y="3127248"/>
            <a:ext cx="292608" cy="292608"/>
          </a:xfrm>
          <a:prstGeom prst="rect">
            <a:avLst/>
          </a:prstGeom>
        </p:spPr>
      </p:pic>
      <p:sp>
        <p:nvSpPr>
          <p:cNvPr id="33" name="Text 25"/>
          <p:cNvSpPr/>
          <p:nvPr/>
        </p:nvSpPr>
        <p:spPr>
          <a:xfrm>
            <a:off x="6684264" y="3090672"/>
            <a:ext cx="224028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Static &amp; Outdated Data</a:t>
            </a:r>
            <a:endParaRPr lang="en-US" sz="1100" dirty="0"/>
          </a:p>
        </p:txBody>
      </p:sp>
      <p:sp>
        <p:nvSpPr>
          <p:cNvPr id="34" name="Text 26"/>
          <p:cNvSpPr/>
          <p:nvPr/>
        </p:nvSpPr>
        <p:spPr>
          <a:xfrm>
            <a:off x="6291072" y="3547872"/>
            <a:ext cx="2606040" cy="1097280"/>
          </a:xfrm>
          <a:prstGeom prst="rect">
            <a:avLst/>
          </a:prstGeom>
          <a:noFill/>
          <a:ln/>
        </p:spPr>
        <p:txBody>
          <a:bodyPr wrap="square" lIns="0" tIns="0" rIns="0" bIns="0" rtlCol="0" anchor="ctr"/>
          <a:lstStyle/>
          <a:p>
            <a:pPr marL="0" indent="0">
              <a:lnSpc>
                <a:spcPct val="135000"/>
              </a:lnSpc>
              <a:buNone/>
            </a:pPr>
            <a:r>
              <a:rPr lang="en-US" sz="1000" dirty="0">
                <a:solidFill>
                  <a:srgbClr val="D4E8E0"/>
                </a:solidFill>
                <a:latin typeface="Calibri" pitchFamily="34" charset="0"/>
                <a:ea typeface="Calibri" pitchFamily="34" charset="-122"/>
                <a:cs typeface="Calibri" pitchFamily="34" charset="-120"/>
              </a:rPr>
              <a:t>Fare adjustments, new stations, and line changes require code edits. Non-technical operators cannot update information without developer involvement.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9A7"/>
          </a:solidFill>
          <a:ln w="12700">
            <a:solidFill>
              <a:srgbClr val="00C9A7"/>
            </a:solidFill>
            <a:prstDash val="solid"/>
          </a:ln>
        </p:spPr>
        <p:txBody>
          <a:bodyPr/>
          <a:lstStyle/>
          <a:p>
            <a:endParaRPr lang="en-US"/>
          </a:p>
        </p:txBody>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400" b="1" kern="0" spc="200" dirty="0">
                <a:solidFill>
                  <a:srgbClr val="FFFFFF"/>
                </a:solidFill>
                <a:latin typeface="Calibri" pitchFamily="34" charset="0"/>
                <a:ea typeface="Calibri" pitchFamily="34" charset="-122"/>
                <a:cs typeface="Calibri" pitchFamily="34" charset="-120"/>
              </a:rPr>
              <a:t>03  PROPOSED SOLUTIONS</a:t>
            </a:r>
            <a:endParaRPr lang="en-US" sz="2400" dirty="0"/>
          </a:p>
        </p:txBody>
      </p:sp>
      <p:sp>
        <p:nvSpPr>
          <p:cNvPr id="4" name="Text 2"/>
          <p:cNvSpPr/>
          <p:nvPr/>
        </p:nvSpPr>
        <p:spPr>
          <a:xfrm>
            <a:off x="457200" y="685800"/>
            <a:ext cx="8229600" cy="292608"/>
          </a:xfrm>
          <a:prstGeom prst="rect">
            <a:avLst/>
          </a:prstGeom>
          <a:noFill/>
          <a:ln/>
        </p:spPr>
        <p:txBody>
          <a:bodyPr wrap="square" lIns="0" tIns="0" rIns="0" bIns="0" rtlCol="0" anchor="ctr"/>
          <a:lstStyle/>
          <a:p>
            <a:pPr marL="0" indent="0">
              <a:buNone/>
            </a:pPr>
            <a:r>
              <a:rPr lang="en-US" sz="1300" i="1" dirty="0">
                <a:solidFill>
                  <a:srgbClr val="7BA5A0"/>
                </a:solidFill>
                <a:latin typeface="Calibri" pitchFamily="34" charset="0"/>
                <a:ea typeface="Calibri" pitchFamily="34" charset="-122"/>
                <a:cs typeface="Calibri" pitchFamily="34" charset="-120"/>
              </a:rPr>
              <a:t>Three approaches considered — one selected</a:t>
            </a:r>
            <a:endParaRPr lang="en-US" sz="1300" dirty="0"/>
          </a:p>
        </p:txBody>
      </p:sp>
      <p:sp>
        <p:nvSpPr>
          <p:cNvPr id="5" name="Shape 3"/>
          <p:cNvSpPr/>
          <p:nvPr/>
        </p:nvSpPr>
        <p:spPr>
          <a:xfrm>
            <a:off x="274320" y="1078992"/>
            <a:ext cx="2788920" cy="3794760"/>
          </a:xfrm>
          <a:prstGeom prst="rect">
            <a:avLst/>
          </a:prstGeom>
          <a:solidFill>
            <a:srgbClr val="1B2A3B"/>
          </a:solidFill>
          <a:ln w="12700">
            <a:solidFill>
              <a:srgbClr val="7A7A7A"/>
            </a:solidFill>
            <a:prstDash val="solid"/>
          </a:ln>
          <a:effectLst>
            <a:outerShdw blurRad="101600" dist="38100" dir="8100000" algn="bl" rotWithShape="0">
              <a:srgbClr val="000000">
                <a:alpha val="25000"/>
              </a:srgbClr>
            </a:outerShdw>
          </a:effectLst>
        </p:spPr>
        <p:txBody>
          <a:bodyPr/>
          <a:lstStyle/>
          <a:p>
            <a:endParaRPr lang="en-US"/>
          </a:p>
        </p:txBody>
      </p:sp>
      <p:sp>
        <p:nvSpPr>
          <p:cNvPr id="6" name="Shape 4"/>
          <p:cNvSpPr/>
          <p:nvPr/>
        </p:nvSpPr>
        <p:spPr>
          <a:xfrm>
            <a:off x="384048" y="1216152"/>
            <a:ext cx="502920" cy="502920"/>
          </a:xfrm>
          <a:prstGeom prst="ellipse">
            <a:avLst/>
          </a:prstGeom>
          <a:solidFill>
            <a:srgbClr val="7A7A7A"/>
          </a:solidFill>
          <a:ln w="12700">
            <a:solidFill>
              <a:srgbClr val="7A7A7A"/>
            </a:solidFill>
            <a:prstDash val="solid"/>
          </a:ln>
        </p:spPr>
        <p:txBody>
          <a:bodyPr/>
          <a:lstStyle/>
          <a:p>
            <a:endParaRPr lang="en-US"/>
          </a:p>
        </p:txBody>
      </p:sp>
      <p:sp>
        <p:nvSpPr>
          <p:cNvPr id="7" name="Text 5"/>
          <p:cNvSpPr/>
          <p:nvPr/>
        </p:nvSpPr>
        <p:spPr>
          <a:xfrm>
            <a:off x="384048" y="121615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8" name="Text 6"/>
          <p:cNvSpPr/>
          <p:nvPr/>
        </p:nvSpPr>
        <p:spPr>
          <a:xfrm>
            <a:off x="1005840" y="1261872"/>
            <a:ext cx="1965960" cy="5029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Static Website + PDF Guide</a:t>
            </a:r>
            <a:endParaRPr lang="en-US" sz="1200" dirty="0"/>
          </a:p>
        </p:txBody>
      </p:sp>
      <p:sp>
        <p:nvSpPr>
          <p:cNvPr id="9" name="Shape 7"/>
          <p:cNvSpPr/>
          <p:nvPr/>
        </p:nvSpPr>
        <p:spPr>
          <a:xfrm>
            <a:off x="411480" y="1883664"/>
            <a:ext cx="2468880" cy="27432"/>
          </a:xfrm>
          <a:prstGeom prst="rect">
            <a:avLst/>
          </a:prstGeom>
          <a:solidFill>
            <a:srgbClr val="7A7A7A">
              <a:alpha val="50000"/>
            </a:srgbClr>
          </a:solidFill>
          <a:ln w="12700">
            <a:solidFill>
              <a:srgbClr val="7A7A7A">
                <a:alpha val="50000"/>
              </a:srgbClr>
            </a:solidFill>
            <a:prstDash val="solid"/>
          </a:ln>
        </p:spPr>
        <p:txBody>
          <a:bodyPr/>
          <a:lstStyle/>
          <a:p>
            <a:endParaRPr lang="en-US"/>
          </a:p>
        </p:txBody>
      </p:sp>
      <p:sp>
        <p:nvSpPr>
          <p:cNvPr id="10" name="Text 8"/>
          <p:cNvSpPr/>
          <p:nvPr/>
        </p:nvSpPr>
        <p:spPr>
          <a:xfrm>
            <a:off x="411480" y="1993392"/>
            <a:ext cx="1097280" cy="256032"/>
          </a:xfrm>
          <a:prstGeom prst="rect">
            <a:avLst/>
          </a:prstGeom>
          <a:noFill/>
          <a:ln/>
        </p:spPr>
        <p:txBody>
          <a:bodyPr wrap="square" lIns="0" tIns="0" rIns="0" bIns="0" rtlCol="0" anchor="ctr"/>
          <a:lstStyle/>
          <a:p>
            <a:pPr marL="0" indent="0">
              <a:buNone/>
            </a:pPr>
            <a:r>
              <a:rPr lang="en-US" sz="900" b="1" dirty="0">
                <a:solidFill>
                  <a:srgbClr val="00C9A7"/>
                </a:solidFill>
                <a:latin typeface="Calibri" pitchFamily="34" charset="0"/>
                <a:ea typeface="Calibri" pitchFamily="34" charset="-122"/>
                <a:cs typeface="Calibri" pitchFamily="34" charset="-120"/>
              </a:rPr>
              <a:t>PROS</a:t>
            </a:r>
            <a:endParaRPr lang="en-US" sz="900" dirty="0"/>
          </a:p>
        </p:txBody>
      </p:sp>
      <p:sp>
        <p:nvSpPr>
          <p:cNvPr id="11" name="Text 9"/>
          <p:cNvSpPr/>
          <p:nvPr/>
        </p:nvSpPr>
        <p:spPr>
          <a:xfrm>
            <a:off x="411480" y="2267712"/>
            <a:ext cx="2468880" cy="274320"/>
          </a:xfrm>
          <a:prstGeom prst="rect">
            <a:avLst/>
          </a:prstGeom>
          <a:noFill/>
          <a:ln/>
        </p:spPr>
        <p:txBody>
          <a:bodyPr wrap="square" lIns="0" tIns="0" rIns="0" bIns="0" rtlCol="0" anchor="ctr"/>
          <a:lstStyle/>
          <a:p>
            <a:pPr marL="0" indent="0">
              <a:buNone/>
            </a:pPr>
            <a:r>
              <a:rPr lang="en-US" sz="950" dirty="0">
                <a:solidFill>
                  <a:srgbClr val="D4E8E0"/>
                </a:solidFill>
                <a:latin typeface="Calibri" pitchFamily="34" charset="0"/>
                <a:ea typeface="Calibri" pitchFamily="34" charset="-122"/>
                <a:cs typeface="Calibri" pitchFamily="34" charset="-120"/>
              </a:rPr>
              <a:t>+ Zero infrastructure cost</a:t>
            </a:r>
            <a:endParaRPr lang="en-US" sz="950" dirty="0"/>
          </a:p>
        </p:txBody>
      </p:sp>
      <p:sp>
        <p:nvSpPr>
          <p:cNvPr id="12" name="Text 10"/>
          <p:cNvSpPr/>
          <p:nvPr/>
        </p:nvSpPr>
        <p:spPr>
          <a:xfrm>
            <a:off x="411480" y="2587752"/>
            <a:ext cx="2468880" cy="274320"/>
          </a:xfrm>
          <a:prstGeom prst="rect">
            <a:avLst/>
          </a:prstGeom>
          <a:noFill/>
          <a:ln/>
        </p:spPr>
        <p:txBody>
          <a:bodyPr wrap="square" lIns="0" tIns="0" rIns="0" bIns="0" rtlCol="0" anchor="ctr"/>
          <a:lstStyle/>
          <a:p>
            <a:pPr marL="0" indent="0">
              <a:buNone/>
            </a:pPr>
            <a:r>
              <a:rPr lang="en-US" sz="950" dirty="0">
                <a:solidFill>
                  <a:srgbClr val="D4E8E0"/>
                </a:solidFill>
                <a:latin typeface="Calibri" pitchFamily="34" charset="0"/>
                <a:ea typeface="Calibri" pitchFamily="34" charset="-122"/>
                <a:cs typeface="Calibri" pitchFamily="34" charset="-120"/>
              </a:rPr>
              <a:t>+ Instant loading</a:t>
            </a:r>
            <a:endParaRPr lang="en-US" sz="950" dirty="0"/>
          </a:p>
        </p:txBody>
      </p:sp>
      <p:sp>
        <p:nvSpPr>
          <p:cNvPr id="13" name="Text 11"/>
          <p:cNvSpPr/>
          <p:nvPr/>
        </p:nvSpPr>
        <p:spPr>
          <a:xfrm>
            <a:off x="411480" y="2907792"/>
            <a:ext cx="2468880" cy="274320"/>
          </a:xfrm>
          <a:prstGeom prst="rect">
            <a:avLst/>
          </a:prstGeom>
          <a:noFill/>
          <a:ln/>
        </p:spPr>
        <p:txBody>
          <a:bodyPr wrap="square" lIns="0" tIns="0" rIns="0" bIns="0" rtlCol="0" anchor="ctr"/>
          <a:lstStyle/>
          <a:p>
            <a:pPr marL="0" indent="0">
              <a:buNone/>
            </a:pPr>
            <a:r>
              <a:rPr lang="en-US" sz="950" dirty="0">
                <a:solidFill>
                  <a:srgbClr val="D4E8E0"/>
                </a:solidFill>
                <a:latin typeface="Calibri" pitchFamily="34" charset="0"/>
                <a:ea typeface="Calibri" pitchFamily="34" charset="-122"/>
                <a:cs typeface="Calibri" pitchFamily="34" charset="-120"/>
              </a:rPr>
              <a:t>+ No backend maintenance</a:t>
            </a:r>
            <a:endParaRPr lang="en-US" sz="950" dirty="0"/>
          </a:p>
        </p:txBody>
      </p:sp>
      <p:sp>
        <p:nvSpPr>
          <p:cNvPr id="14" name="Text 12"/>
          <p:cNvSpPr/>
          <p:nvPr/>
        </p:nvSpPr>
        <p:spPr>
          <a:xfrm>
            <a:off x="411480" y="3319272"/>
            <a:ext cx="1097280" cy="256032"/>
          </a:xfrm>
          <a:prstGeom prst="rect">
            <a:avLst/>
          </a:prstGeom>
          <a:noFill/>
          <a:ln/>
        </p:spPr>
        <p:txBody>
          <a:bodyPr wrap="square" lIns="0" tIns="0" rIns="0" bIns="0" rtlCol="0" anchor="ctr"/>
          <a:lstStyle/>
          <a:p>
            <a:pPr marL="0" indent="0">
              <a:buNone/>
            </a:pPr>
            <a:r>
              <a:rPr lang="en-US" sz="900" b="1" dirty="0">
                <a:solidFill>
                  <a:srgbClr val="E63946"/>
                </a:solidFill>
                <a:latin typeface="Calibri" pitchFamily="34" charset="0"/>
                <a:ea typeface="Calibri" pitchFamily="34" charset="-122"/>
                <a:cs typeface="Calibri" pitchFamily="34" charset="-120"/>
              </a:rPr>
              <a:t>CONS</a:t>
            </a:r>
            <a:endParaRPr lang="en-US" sz="900" dirty="0"/>
          </a:p>
        </p:txBody>
      </p:sp>
      <p:sp>
        <p:nvSpPr>
          <p:cNvPr id="15" name="Text 13"/>
          <p:cNvSpPr/>
          <p:nvPr/>
        </p:nvSpPr>
        <p:spPr>
          <a:xfrm>
            <a:off x="411480" y="3593592"/>
            <a:ext cx="2468880" cy="274320"/>
          </a:xfrm>
          <a:prstGeom prst="rect">
            <a:avLst/>
          </a:prstGeom>
          <a:noFill/>
          <a:ln/>
        </p:spPr>
        <p:txBody>
          <a:bodyPr wrap="square" lIns="0" tIns="0" rIns="0" bIns="0" rtlCol="0" anchor="ctr"/>
          <a:lstStyle/>
          <a:p>
            <a:pPr marL="0" indent="0">
              <a:buNone/>
            </a:pPr>
            <a:r>
              <a:rPr lang="en-US" sz="950" dirty="0">
                <a:solidFill>
                  <a:srgbClr val="D4E8E0"/>
                </a:solidFill>
                <a:latin typeface="Calibri" pitchFamily="34" charset="0"/>
                <a:ea typeface="Calibri" pitchFamily="34" charset="-122"/>
                <a:cs typeface="Calibri" pitchFamily="34" charset="-120"/>
              </a:rPr>
              <a:t>– Cannot update data live</a:t>
            </a:r>
            <a:endParaRPr lang="en-US" sz="950" dirty="0"/>
          </a:p>
        </p:txBody>
      </p:sp>
      <p:sp>
        <p:nvSpPr>
          <p:cNvPr id="16" name="Text 14"/>
          <p:cNvSpPr/>
          <p:nvPr/>
        </p:nvSpPr>
        <p:spPr>
          <a:xfrm>
            <a:off x="411480" y="3913632"/>
            <a:ext cx="2468880" cy="274320"/>
          </a:xfrm>
          <a:prstGeom prst="rect">
            <a:avLst/>
          </a:prstGeom>
          <a:noFill/>
          <a:ln/>
        </p:spPr>
        <p:txBody>
          <a:bodyPr wrap="square" lIns="0" tIns="0" rIns="0" bIns="0" rtlCol="0" anchor="ctr"/>
          <a:lstStyle/>
          <a:p>
            <a:pPr marL="0" indent="0">
              <a:buNone/>
            </a:pPr>
            <a:r>
              <a:rPr lang="en-US" sz="950" dirty="0">
                <a:solidFill>
                  <a:srgbClr val="D4E8E0"/>
                </a:solidFill>
                <a:latin typeface="Calibri" pitchFamily="34" charset="0"/>
                <a:ea typeface="Calibri" pitchFamily="34" charset="-122"/>
                <a:cs typeface="Calibri" pitchFamily="34" charset="-120"/>
              </a:rPr>
              <a:t>– No personalization</a:t>
            </a:r>
            <a:endParaRPr lang="en-US" sz="950" dirty="0"/>
          </a:p>
        </p:txBody>
      </p:sp>
      <p:sp>
        <p:nvSpPr>
          <p:cNvPr id="17" name="Text 15"/>
          <p:cNvSpPr/>
          <p:nvPr/>
        </p:nvSpPr>
        <p:spPr>
          <a:xfrm>
            <a:off x="411480" y="4233672"/>
            <a:ext cx="2468880" cy="274320"/>
          </a:xfrm>
          <a:prstGeom prst="rect">
            <a:avLst/>
          </a:prstGeom>
          <a:noFill/>
          <a:ln/>
        </p:spPr>
        <p:txBody>
          <a:bodyPr wrap="square" lIns="0" tIns="0" rIns="0" bIns="0" rtlCol="0" anchor="ctr"/>
          <a:lstStyle/>
          <a:p>
            <a:pPr marL="0" indent="0">
              <a:buNone/>
            </a:pPr>
            <a:r>
              <a:rPr lang="en-US" sz="950" dirty="0">
                <a:solidFill>
                  <a:srgbClr val="D4E8E0"/>
                </a:solidFill>
                <a:latin typeface="Calibri" pitchFamily="34" charset="0"/>
                <a:ea typeface="Calibri" pitchFamily="34" charset="-122"/>
                <a:cs typeface="Calibri" pitchFamily="34" charset="-120"/>
              </a:rPr>
              <a:t>– No interactivity</a:t>
            </a:r>
            <a:endParaRPr lang="en-US" sz="950" dirty="0"/>
          </a:p>
        </p:txBody>
      </p:sp>
      <p:sp>
        <p:nvSpPr>
          <p:cNvPr id="18" name="Shape 16"/>
          <p:cNvSpPr/>
          <p:nvPr/>
        </p:nvSpPr>
        <p:spPr>
          <a:xfrm>
            <a:off x="274320" y="4507992"/>
            <a:ext cx="2788920" cy="365760"/>
          </a:xfrm>
          <a:prstGeom prst="rect">
            <a:avLst/>
          </a:prstGeom>
          <a:solidFill>
            <a:srgbClr val="7A7A7A">
              <a:alpha val="25000"/>
            </a:srgbClr>
          </a:solidFill>
          <a:ln w="12700">
            <a:solidFill>
              <a:srgbClr val="7A7A7A"/>
            </a:solidFill>
            <a:prstDash val="solid"/>
          </a:ln>
        </p:spPr>
        <p:txBody>
          <a:bodyPr/>
          <a:lstStyle/>
          <a:p>
            <a:endParaRPr lang="en-US"/>
          </a:p>
        </p:txBody>
      </p:sp>
      <p:sp>
        <p:nvSpPr>
          <p:cNvPr id="19" name="Text 17"/>
          <p:cNvSpPr/>
          <p:nvPr/>
        </p:nvSpPr>
        <p:spPr>
          <a:xfrm>
            <a:off x="365760" y="4343400"/>
            <a:ext cx="2606040" cy="5303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Rejected — fails on live updates &amp; personalization</a:t>
            </a:r>
            <a:endParaRPr lang="en-US" sz="900" dirty="0"/>
          </a:p>
        </p:txBody>
      </p:sp>
      <p:sp>
        <p:nvSpPr>
          <p:cNvPr id="20" name="Shape 18"/>
          <p:cNvSpPr/>
          <p:nvPr/>
        </p:nvSpPr>
        <p:spPr>
          <a:xfrm>
            <a:off x="3218688" y="1078992"/>
            <a:ext cx="2788920" cy="3794760"/>
          </a:xfrm>
          <a:prstGeom prst="rect">
            <a:avLst/>
          </a:prstGeom>
          <a:solidFill>
            <a:srgbClr val="0D2B24"/>
          </a:solidFill>
          <a:ln w="25400">
            <a:solidFill>
              <a:srgbClr val="00C9A7"/>
            </a:solidFill>
            <a:prstDash val="solid"/>
          </a:ln>
          <a:effectLst>
            <a:outerShdw blurRad="101600" dist="38100" dir="8100000" algn="bl" rotWithShape="0">
              <a:srgbClr val="000000">
                <a:alpha val="25000"/>
              </a:srgbClr>
            </a:outerShdw>
          </a:effectLst>
        </p:spPr>
        <p:txBody>
          <a:bodyPr/>
          <a:lstStyle/>
          <a:p>
            <a:endParaRPr lang="en-US"/>
          </a:p>
        </p:txBody>
      </p:sp>
      <p:sp>
        <p:nvSpPr>
          <p:cNvPr id="21" name="Shape 19"/>
          <p:cNvSpPr/>
          <p:nvPr/>
        </p:nvSpPr>
        <p:spPr>
          <a:xfrm>
            <a:off x="3328416" y="1216152"/>
            <a:ext cx="502920" cy="502920"/>
          </a:xfrm>
          <a:prstGeom prst="ellipse">
            <a:avLst/>
          </a:prstGeom>
          <a:solidFill>
            <a:srgbClr val="00C9A7"/>
          </a:solidFill>
          <a:ln w="12700">
            <a:solidFill>
              <a:srgbClr val="00C9A7"/>
            </a:solidFill>
            <a:prstDash val="solid"/>
          </a:ln>
        </p:spPr>
        <p:txBody>
          <a:bodyPr/>
          <a:lstStyle/>
          <a:p>
            <a:endParaRPr lang="en-US"/>
          </a:p>
        </p:txBody>
      </p:sp>
      <p:sp>
        <p:nvSpPr>
          <p:cNvPr id="22" name="Text 20"/>
          <p:cNvSpPr/>
          <p:nvPr/>
        </p:nvSpPr>
        <p:spPr>
          <a:xfrm>
            <a:off x="3328416" y="121615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3" name="Text 21"/>
          <p:cNvSpPr/>
          <p:nvPr/>
        </p:nvSpPr>
        <p:spPr>
          <a:xfrm>
            <a:off x="3950208" y="1261872"/>
            <a:ext cx="1965960" cy="5029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Full-Stack Web App</a:t>
            </a:r>
            <a:endParaRPr lang="en-US" sz="1200" dirty="0"/>
          </a:p>
        </p:txBody>
      </p:sp>
      <p:sp>
        <p:nvSpPr>
          <p:cNvPr id="24" name="Shape 22"/>
          <p:cNvSpPr/>
          <p:nvPr/>
        </p:nvSpPr>
        <p:spPr>
          <a:xfrm>
            <a:off x="3355848" y="1883664"/>
            <a:ext cx="2468880" cy="27432"/>
          </a:xfrm>
          <a:prstGeom prst="rect">
            <a:avLst/>
          </a:prstGeom>
          <a:solidFill>
            <a:srgbClr val="00C9A7">
              <a:alpha val="50000"/>
            </a:srgbClr>
          </a:solidFill>
          <a:ln w="12700">
            <a:solidFill>
              <a:srgbClr val="00C9A7">
                <a:alpha val="50000"/>
              </a:srgbClr>
            </a:solidFill>
            <a:prstDash val="solid"/>
          </a:ln>
        </p:spPr>
        <p:txBody>
          <a:bodyPr/>
          <a:lstStyle/>
          <a:p>
            <a:endParaRPr lang="en-US"/>
          </a:p>
        </p:txBody>
      </p:sp>
      <p:sp>
        <p:nvSpPr>
          <p:cNvPr id="25" name="Text 23"/>
          <p:cNvSpPr/>
          <p:nvPr/>
        </p:nvSpPr>
        <p:spPr>
          <a:xfrm>
            <a:off x="3355848" y="1993392"/>
            <a:ext cx="1097280" cy="256032"/>
          </a:xfrm>
          <a:prstGeom prst="rect">
            <a:avLst/>
          </a:prstGeom>
          <a:noFill/>
          <a:ln/>
        </p:spPr>
        <p:txBody>
          <a:bodyPr wrap="square" lIns="0" tIns="0" rIns="0" bIns="0" rtlCol="0" anchor="ctr"/>
          <a:lstStyle/>
          <a:p>
            <a:pPr marL="0" indent="0">
              <a:buNone/>
            </a:pPr>
            <a:r>
              <a:rPr lang="en-US" sz="900" b="1" dirty="0">
                <a:solidFill>
                  <a:srgbClr val="00C9A7"/>
                </a:solidFill>
                <a:latin typeface="Calibri" pitchFamily="34" charset="0"/>
                <a:ea typeface="Calibri" pitchFamily="34" charset="-122"/>
                <a:cs typeface="Calibri" pitchFamily="34" charset="-120"/>
              </a:rPr>
              <a:t>PROS</a:t>
            </a:r>
            <a:endParaRPr lang="en-US" sz="900" dirty="0"/>
          </a:p>
        </p:txBody>
      </p:sp>
      <p:sp>
        <p:nvSpPr>
          <p:cNvPr id="26" name="Text 24"/>
          <p:cNvSpPr/>
          <p:nvPr/>
        </p:nvSpPr>
        <p:spPr>
          <a:xfrm>
            <a:off x="3355848" y="2267712"/>
            <a:ext cx="2468880" cy="274320"/>
          </a:xfrm>
          <a:prstGeom prst="rect">
            <a:avLst/>
          </a:prstGeom>
          <a:noFill/>
          <a:ln/>
        </p:spPr>
        <p:txBody>
          <a:bodyPr wrap="square" lIns="0" tIns="0" rIns="0" bIns="0" rtlCol="0" anchor="ctr"/>
          <a:lstStyle/>
          <a:p>
            <a:pPr marL="0" indent="0">
              <a:buNone/>
            </a:pPr>
            <a:r>
              <a:rPr lang="en-US" sz="950" dirty="0">
                <a:solidFill>
                  <a:srgbClr val="D4E8E0"/>
                </a:solidFill>
                <a:latin typeface="Calibri" pitchFamily="34" charset="0"/>
                <a:ea typeface="Calibri" pitchFamily="34" charset="-122"/>
                <a:cs typeface="Calibri" pitchFamily="34" charset="-120"/>
              </a:rPr>
              <a:t>+ Live DB-backed metro data</a:t>
            </a:r>
            <a:endParaRPr lang="en-US" sz="950" dirty="0"/>
          </a:p>
        </p:txBody>
      </p:sp>
      <p:sp>
        <p:nvSpPr>
          <p:cNvPr id="27" name="Text 25"/>
          <p:cNvSpPr/>
          <p:nvPr/>
        </p:nvSpPr>
        <p:spPr>
          <a:xfrm>
            <a:off x="3355848" y="2587752"/>
            <a:ext cx="2468880" cy="274320"/>
          </a:xfrm>
          <a:prstGeom prst="rect">
            <a:avLst/>
          </a:prstGeom>
          <a:noFill/>
          <a:ln/>
        </p:spPr>
        <p:txBody>
          <a:bodyPr wrap="square" lIns="0" tIns="0" rIns="0" bIns="0" rtlCol="0" anchor="ctr"/>
          <a:lstStyle/>
          <a:p>
            <a:pPr marL="0" indent="0">
              <a:buNone/>
            </a:pPr>
            <a:r>
              <a:rPr lang="en-US" sz="950" dirty="0">
                <a:solidFill>
                  <a:srgbClr val="D4E8E0"/>
                </a:solidFill>
                <a:latin typeface="Calibri" pitchFamily="34" charset="0"/>
                <a:ea typeface="Calibri" pitchFamily="34" charset="-122"/>
                <a:cs typeface="Calibri" pitchFamily="34" charset="-120"/>
              </a:rPr>
              <a:t>+ User accounts &amp; trip history</a:t>
            </a:r>
            <a:endParaRPr lang="en-US" sz="950" dirty="0"/>
          </a:p>
        </p:txBody>
      </p:sp>
      <p:sp>
        <p:nvSpPr>
          <p:cNvPr id="28" name="Text 26"/>
          <p:cNvSpPr/>
          <p:nvPr/>
        </p:nvSpPr>
        <p:spPr>
          <a:xfrm>
            <a:off x="3355848" y="2907792"/>
            <a:ext cx="2468880" cy="274320"/>
          </a:xfrm>
          <a:prstGeom prst="rect">
            <a:avLst/>
          </a:prstGeom>
          <a:noFill/>
          <a:ln/>
        </p:spPr>
        <p:txBody>
          <a:bodyPr wrap="square" lIns="0" tIns="0" rIns="0" bIns="0" rtlCol="0" anchor="ctr"/>
          <a:lstStyle/>
          <a:p>
            <a:pPr marL="0" indent="0">
              <a:buNone/>
            </a:pPr>
            <a:r>
              <a:rPr lang="en-US" sz="950" dirty="0">
                <a:solidFill>
                  <a:srgbClr val="D4E8E0"/>
                </a:solidFill>
                <a:latin typeface="Calibri" pitchFamily="34" charset="0"/>
                <a:ea typeface="Calibri" pitchFamily="34" charset="-122"/>
                <a:cs typeface="Calibri" pitchFamily="34" charset="-120"/>
              </a:rPr>
              <a:t>+ Admin panel for operators</a:t>
            </a:r>
            <a:endParaRPr lang="en-US" sz="950" dirty="0"/>
          </a:p>
        </p:txBody>
      </p:sp>
      <p:sp>
        <p:nvSpPr>
          <p:cNvPr id="29" name="Text 27"/>
          <p:cNvSpPr/>
          <p:nvPr/>
        </p:nvSpPr>
        <p:spPr>
          <a:xfrm>
            <a:off x="3355848" y="3227832"/>
            <a:ext cx="2468880" cy="274320"/>
          </a:xfrm>
          <a:prstGeom prst="rect">
            <a:avLst/>
          </a:prstGeom>
          <a:noFill/>
          <a:ln/>
        </p:spPr>
        <p:txBody>
          <a:bodyPr wrap="square" lIns="0" tIns="0" rIns="0" bIns="0" rtlCol="0" anchor="ctr"/>
          <a:lstStyle/>
          <a:p>
            <a:pPr marL="0" indent="0">
              <a:buNone/>
            </a:pPr>
            <a:r>
              <a:rPr lang="en-US" sz="950" dirty="0">
                <a:solidFill>
                  <a:srgbClr val="D4E8E0"/>
                </a:solidFill>
                <a:latin typeface="Calibri" pitchFamily="34" charset="0"/>
                <a:ea typeface="Calibri" pitchFamily="34" charset="-122"/>
                <a:cs typeface="Calibri" pitchFamily="34" charset="-120"/>
              </a:rPr>
              <a:t>+ Interactive map &amp; GPS tools</a:t>
            </a:r>
            <a:endParaRPr lang="en-US" sz="950" dirty="0"/>
          </a:p>
        </p:txBody>
      </p:sp>
      <p:sp>
        <p:nvSpPr>
          <p:cNvPr id="30" name="Text 28"/>
          <p:cNvSpPr/>
          <p:nvPr/>
        </p:nvSpPr>
        <p:spPr>
          <a:xfrm>
            <a:off x="3355848" y="3639312"/>
            <a:ext cx="1097280" cy="256032"/>
          </a:xfrm>
          <a:prstGeom prst="rect">
            <a:avLst/>
          </a:prstGeom>
          <a:noFill/>
          <a:ln/>
        </p:spPr>
        <p:txBody>
          <a:bodyPr wrap="square" lIns="0" tIns="0" rIns="0" bIns="0" rtlCol="0" anchor="ctr"/>
          <a:lstStyle/>
          <a:p>
            <a:pPr marL="0" indent="0">
              <a:buNone/>
            </a:pPr>
            <a:r>
              <a:rPr lang="en-US" sz="900" b="1" dirty="0">
                <a:solidFill>
                  <a:srgbClr val="E63946"/>
                </a:solidFill>
                <a:latin typeface="Calibri" pitchFamily="34" charset="0"/>
                <a:ea typeface="Calibri" pitchFamily="34" charset="-122"/>
                <a:cs typeface="Calibri" pitchFamily="34" charset="-120"/>
              </a:rPr>
              <a:t>CONS</a:t>
            </a:r>
            <a:endParaRPr lang="en-US" sz="900" dirty="0"/>
          </a:p>
        </p:txBody>
      </p:sp>
      <p:sp>
        <p:nvSpPr>
          <p:cNvPr id="31" name="Text 29"/>
          <p:cNvSpPr/>
          <p:nvPr/>
        </p:nvSpPr>
        <p:spPr>
          <a:xfrm>
            <a:off x="3355848" y="3913632"/>
            <a:ext cx="2468880" cy="274320"/>
          </a:xfrm>
          <a:prstGeom prst="rect">
            <a:avLst/>
          </a:prstGeom>
          <a:noFill/>
          <a:ln/>
        </p:spPr>
        <p:txBody>
          <a:bodyPr wrap="square" lIns="0" tIns="0" rIns="0" bIns="0" rtlCol="0" anchor="ctr"/>
          <a:lstStyle/>
          <a:p>
            <a:pPr marL="0" indent="0">
              <a:buNone/>
            </a:pPr>
            <a:r>
              <a:rPr lang="en-US" sz="950" dirty="0">
                <a:solidFill>
                  <a:srgbClr val="D4E8E0"/>
                </a:solidFill>
                <a:latin typeface="Calibri" pitchFamily="34" charset="0"/>
                <a:ea typeface="Calibri" pitchFamily="34" charset="-122"/>
                <a:cs typeface="Calibri" pitchFamily="34" charset="-120"/>
              </a:rPr>
              <a:t>– Higher initial complexity</a:t>
            </a:r>
            <a:endParaRPr lang="en-US" sz="950" dirty="0"/>
          </a:p>
        </p:txBody>
      </p:sp>
      <p:sp>
        <p:nvSpPr>
          <p:cNvPr id="32" name="Text 30"/>
          <p:cNvSpPr/>
          <p:nvPr/>
        </p:nvSpPr>
        <p:spPr>
          <a:xfrm>
            <a:off x="3355848" y="4233672"/>
            <a:ext cx="2468880" cy="274320"/>
          </a:xfrm>
          <a:prstGeom prst="rect">
            <a:avLst/>
          </a:prstGeom>
          <a:noFill/>
          <a:ln/>
        </p:spPr>
        <p:txBody>
          <a:bodyPr wrap="square" lIns="0" tIns="0" rIns="0" bIns="0" rtlCol="0" anchor="ctr"/>
          <a:lstStyle/>
          <a:p>
            <a:pPr marL="0" indent="0">
              <a:buNone/>
            </a:pPr>
            <a:r>
              <a:rPr lang="en-US" sz="950" dirty="0">
                <a:solidFill>
                  <a:srgbClr val="D4E8E0"/>
                </a:solidFill>
                <a:latin typeface="Calibri" pitchFamily="34" charset="0"/>
                <a:ea typeface="Calibri" pitchFamily="34" charset="-122"/>
                <a:cs typeface="Calibri" pitchFamily="34" charset="-120"/>
              </a:rPr>
              <a:t>– Requires server hosting</a:t>
            </a:r>
            <a:endParaRPr lang="en-US" sz="950" dirty="0"/>
          </a:p>
        </p:txBody>
      </p:sp>
      <p:sp>
        <p:nvSpPr>
          <p:cNvPr id="33" name="Shape 31"/>
          <p:cNvSpPr/>
          <p:nvPr/>
        </p:nvSpPr>
        <p:spPr>
          <a:xfrm>
            <a:off x="3218688" y="4507992"/>
            <a:ext cx="2788920" cy="365760"/>
          </a:xfrm>
          <a:prstGeom prst="rect">
            <a:avLst/>
          </a:prstGeom>
          <a:solidFill>
            <a:srgbClr val="00C9A7"/>
          </a:solidFill>
          <a:ln w="12700">
            <a:solidFill>
              <a:srgbClr val="00C9A7"/>
            </a:solidFill>
            <a:prstDash val="solid"/>
          </a:ln>
        </p:spPr>
        <p:txBody>
          <a:bodyPr/>
          <a:lstStyle/>
          <a:p>
            <a:endParaRPr lang="en-US"/>
          </a:p>
        </p:txBody>
      </p:sp>
      <p:sp>
        <p:nvSpPr>
          <p:cNvPr id="34" name="Text 32"/>
          <p:cNvSpPr/>
          <p:nvPr/>
        </p:nvSpPr>
        <p:spPr>
          <a:xfrm>
            <a:off x="3310128" y="4343400"/>
            <a:ext cx="2606040" cy="53035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SELECTED — best balance of power and usability</a:t>
            </a:r>
            <a:endParaRPr lang="en-US" sz="900" dirty="0"/>
          </a:p>
        </p:txBody>
      </p:sp>
      <p:sp>
        <p:nvSpPr>
          <p:cNvPr id="35" name="Shape 33"/>
          <p:cNvSpPr/>
          <p:nvPr/>
        </p:nvSpPr>
        <p:spPr>
          <a:xfrm>
            <a:off x="6163056" y="1078992"/>
            <a:ext cx="2788920" cy="3794760"/>
          </a:xfrm>
          <a:prstGeom prst="rect">
            <a:avLst/>
          </a:prstGeom>
          <a:solidFill>
            <a:srgbClr val="1B2A3B"/>
          </a:solidFill>
          <a:ln w="12700">
            <a:solidFill>
              <a:srgbClr val="F5A623"/>
            </a:solidFill>
            <a:prstDash val="solid"/>
          </a:ln>
          <a:effectLst>
            <a:outerShdw blurRad="101600" dist="38100" dir="8100000" algn="bl" rotWithShape="0">
              <a:srgbClr val="000000">
                <a:alpha val="25000"/>
              </a:srgbClr>
            </a:outerShdw>
          </a:effectLst>
        </p:spPr>
        <p:txBody>
          <a:bodyPr/>
          <a:lstStyle/>
          <a:p>
            <a:endParaRPr lang="en-US"/>
          </a:p>
        </p:txBody>
      </p:sp>
      <p:sp>
        <p:nvSpPr>
          <p:cNvPr id="36" name="Shape 34"/>
          <p:cNvSpPr/>
          <p:nvPr/>
        </p:nvSpPr>
        <p:spPr>
          <a:xfrm>
            <a:off x="6272784" y="1216152"/>
            <a:ext cx="502920" cy="502920"/>
          </a:xfrm>
          <a:prstGeom prst="ellipse">
            <a:avLst/>
          </a:prstGeom>
          <a:solidFill>
            <a:srgbClr val="F5A623"/>
          </a:solidFill>
          <a:ln w="12700">
            <a:solidFill>
              <a:srgbClr val="F5A623"/>
            </a:solidFill>
            <a:prstDash val="solid"/>
          </a:ln>
        </p:spPr>
        <p:txBody>
          <a:bodyPr/>
          <a:lstStyle/>
          <a:p>
            <a:endParaRPr lang="en-US"/>
          </a:p>
        </p:txBody>
      </p:sp>
      <p:sp>
        <p:nvSpPr>
          <p:cNvPr id="37" name="Text 35"/>
          <p:cNvSpPr/>
          <p:nvPr/>
        </p:nvSpPr>
        <p:spPr>
          <a:xfrm>
            <a:off x="6272784" y="121615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8" name="Text 36"/>
          <p:cNvSpPr/>
          <p:nvPr/>
        </p:nvSpPr>
        <p:spPr>
          <a:xfrm>
            <a:off x="6894576" y="1261872"/>
            <a:ext cx="1965960" cy="5029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Native Mobile App</a:t>
            </a:r>
            <a:endParaRPr lang="en-US" sz="1200" dirty="0"/>
          </a:p>
        </p:txBody>
      </p:sp>
      <p:sp>
        <p:nvSpPr>
          <p:cNvPr id="39" name="Shape 37"/>
          <p:cNvSpPr/>
          <p:nvPr/>
        </p:nvSpPr>
        <p:spPr>
          <a:xfrm>
            <a:off x="6300216" y="1883664"/>
            <a:ext cx="2468880" cy="27432"/>
          </a:xfrm>
          <a:prstGeom prst="rect">
            <a:avLst/>
          </a:prstGeom>
          <a:solidFill>
            <a:srgbClr val="F5A623">
              <a:alpha val="50000"/>
            </a:srgbClr>
          </a:solidFill>
          <a:ln w="12700">
            <a:solidFill>
              <a:srgbClr val="F5A623">
                <a:alpha val="50000"/>
              </a:srgbClr>
            </a:solidFill>
            <a:prstDash val="solid"/>
          </a:ln>
        </p:spPr>
        <p:txBody>
          <a:bodyPr/>
          <a:lstStyle/>
          <a:p>
            <a:endParaRPr lang="en-US"/>
          </a:p>
        </p:txBody>
      </p:sp>
      <p:sp>
        <p:nvSpPr>
          <p:cNvPr id="40" name="Text 38"/>
          <p:cNvSpPr/>
          <p:nvPr/>
        </p:nvSpPr>
        <p:spPr>
          <a:xfrm>
            <a:off x="6300216" y="1993392"/>
            <a:ext cx="1097280" cy="256032"/>
          </a:xfrm>
          <a:prstGeom prst="rect">
            <a:avLst/>
          </a:prstGeom>
          <a:noFill/>
          <a:ln/>
        </p:spPr>
        <p:txBody>
          <a:bodyPr wrap="square" lIns="0" tIns="0" rIns="0" bIns="0" rtlCol="0" anchor="ctr"/>
          <a:lstStyle/>
          <a:p>
            <a:pPr marL="0" indent="0">
              <a:buNone/>
            </a:pPr>
            <a:r>
              <a:rPr lang="en-US" sz="900" b="1" dirty="0">
                <a:solidFill>
                  <a:srgbClr val="00C9A7"/>
                </a:solidFill>
                <a:latin typeface="Calibri" pitchFamily="34" charset="0"/>
                <a:ea typeface="Calibri" pitchFamily="34" charset="-122"/>
                <a:cs typeface="Calibri" pitchFamily="34" charset="-120"/>
              </a:rPr>
              <a:t>PROS</a:t>
            </a:r>
            <a:endParaRPr lang="en-US" sz="900" dirty="0"/>
          </a:p>
        </p:txBody>
      </p:sp>
      <p:sp>
        <p:nvSpPr>
          <p:cNvPr id="41" name="Text 39"/>
          <p:cNvSpPr/>
          <p:nvPr/>
        </p:nvSpPr>
        <p:spPr>
          <a:xfrm>
            <a:off x="6300216" y="2267712"/>
            <a:ext cx="2468880" cy="274320"/>
          </a:xfrm>
          <a:prstGeom prst="rect">
            <a:avLst/>
          </a:prstGeom>
          <a:noFill/>
          <a:ln/>
        </p:spPr>
        <p:txBody>
          <a:bodyPr wrap="square" lIns="0" tIns="0" rIns="0" bIns="0" rtlCol="0" anchor="ctr"/>
          <a:lstStyle/>
          <a:p>
            <a:pPr marL="0" indent="0">
              <a:buNone/>
            </a:pPr>
            <a:r>
              <a:rPr lang="en-US" sz="950" dirty="0">
                <a:solidFill>
                  <a:srgbClr val="D4E8E0"/>
                </a:solidFill>
                <a:latin typeface="Calibri" pitchFamily="34" charset="0"/>
                <a:ea typeface="Calibri" pitchFamily="34" charset="-122"/>
                <a:cs typeface="Calibri" pitchFamily="34" charset="-120"/>
              </a:rPr>
              <a:t>+ Best mobile UX</a:t>
            </a:r>
            <a:endParaRPr lang="en-US" sz="950" dirty="0"/>
          </a:p>
        </p:txBody>
      </p:sp>
      <p:sp>
        <p:nvSpPr>
          <p:cNvPr id="42" name="Text 40"/>
          <p:cNvSpPr/>
          <p:nvPr/>
        </p:nvSpPr>
        <p:spPr>
          <a:xfrm>
            <a:off x="6300216" y="2587752"/>
            <a:ext cx="2468880" cy="274320"/>
          </a:xfrm>
          <a:prstGeom prst="rect">
            <a:avLst/>
          </a:prstGeom>
          <a:noFill/>
          <a:ln/>
        </p:spPr>
        <p:txBody>
          <a:bodyPr wrap="square" lIns="0" tIns="0" rIns="0" bIns="0" rtlCol="0" anchor="ctr"/>
          <a:lstStyle/>
          <a:p>
            <a:pPr marL="0" indent="0">
              <a:buNone/>
            </a:pPr>
            <a:r>
              <a:rPr lang="en-US" sz="950" dirty="0">
                <a:solidFill>
                  <a:srgbClr val="D4E8E0"/>
                </a:solidFill>
                <a:latin typeface="Calibri" pitchFamily="34" charset="0"/>
                <a:ea typeface="Calibri" pitchFamily="34" charset="-122"/>
                <a:cs typeface="Calibri" pitchFamily="34" charset="-120"/>
              </a:rPr>
              <a:t>+ Push notifications</a:t>
            </a:r>
            <a:endParaRPr lang="en-US" sz="950" dirty="0"/>
          </a:p>
        </p:txBody>
      </p:sp>
      <p:sp>
        <p:nvSpPr>
          <p:cNvPr id="43" name="Text 41"/>
          <p:cNvSpPr/>
          <p:nvPr/>
        </p:nvSpPr>
        <p:spPr>
          <a:xfrm>
            <a:off x="6300216" y="2907792"/>
            <a:ext cx="2468880" cy="274320"/>
          </a:xfrm>
          <a:prstGeom prst="rect">
            <a:avLst/>
          </a:prstGeom>
          <a:noFill/>
          <a:ln/>
        </p:spPr>
        <p:txBody>
          <a:bodyPr wrap="square" lIns="0" tIns="0" rIns="0" bIns="0" rtlCol="0" anchor="ctr"/>
          <a:lstStyle/>
          <a:p>
            <a:pPr marL="0" indent="0">
              <a:buNone/>
            </a:pPr>
            <a:r>
              <a:rPr lang="en-US" sz="950" dirty="0">
                <a:solidFill>
                  <a:srgbClr val="D4E8E0"/>
                </a:solidFill>
                <a:latin typeface="Calibri" pitchFamily="34" charset="0"/>
                <a:ea typeface="Calibri" pitchFamily="34" charset="-122"/>
                <a:cs typeface="Calibri" pitchFamily="34" charset="-120"/>
              </a:rPr>
              <a:t>+ Offline GPS</a:t>
            </a:r>
            <a:endParaRPr lang="en-US" sz="950" dirty="0"/>
          </a:p>
        </p:txBody>
      </p:sp>
      <p:sp>
        <p:nvSpPr>
          <p:cNvPr id="44" name="Text 42"/>
          <p:cNvSpPr/>
          <p:nvPr/>
        </p:nvSpPr>
        <p:spPr>
          <a:xfrm>
            <a:off x="6300216" y="3319272"/>
            <a:ext cx="1097280" cy="256032"/>
          </a:xfrm>
          <a:prstGeom prst="rect">
            <a:avLst/>
          </a:prstGeom>
          <a:noFill/>
          <a:ln/>
        </p:spPr>
        <p:txBody>
          <a:bodyPr wrap="square" lIns="0" tIns="0" rIns="0" bIns="0" rtlCol="0" anchor="ctr"/>
          <a:lstStyle/>
          <a:p>
            <a:pPr marL="0" indent="0">
              <a:buNone/>
            </a:pPr>
            <a:r>
              <a:rPr lang="en-US" sz="900" b="1" dirty="0">
                <a:solidFill>
                  <a:srgbClr val="E63946"/>
                </a:solidFill>
                <a:latin typeface="Calibri" pitchFamily="34" charset="0"/>
                <a:ea typeface="Calibri" pitchFamily="34" charset="-122"/>
                <a:cs typeface="Calibri" pitchFamily="34" charset="-120"/>
              </a:rPr>
              <a:t>CONS</a:t>
            </a:r>
            <a:endParaRPr lang="en-US" sz="900" dirty="0"/>
          </a:p>
        </p:txBody>
      </p:sp>
      <p:sp>
        <p:nvSpPr>
          <p:cNvPr id="45" name="Text 43"/>
          <p:cNvSpPr/>
          <p:nvPr/>
        </p:nvSpPr>
        <p:spPr>
          <a:xfrm>
            <a:off x="6300216" y="3593592"/>
            <a:ext cx="2468880" cy="274320"/>
          </a:xfrm>
          <a:prstGeom prst="rect">
            <a:avLst/>
          </a:prstGeom>
          <a:noFill/>
          <a:ln/>
        </p:spPr>
        <p:txBody>
          <a:bodyPr wrap="square" lIns="0" tIns="0" rIns="0" bIns="0" rtlCol="0" anchor="ctr"/>
          <a:lstStyle/>
          <a:p>
            <a:pPr marL="0" indent="0">
              <a:buNone/>
            </a:pPr>
            <a:r>
              <a:rPr lang="en-US" sz="950" dirty="0">
                <a:solidFill>
                  <a:srgbClr val="D4E8E0"/>
                </a:solidFill>
                <a:latin typeface="Calibri" pitchFamily="34" charset="0"/>
                <a:ea typeface="Calibri" pitchFamily="34" charset="-122"/>
                <a:cs typeface="Calibri" pitchFamily="34" charset="-120"/>
              </a:rPr>
              <a:t>– iOS + Android = 2x effort</a:t>
            </a:r>
            <a:endParaRPr lang="en-US" sz="950" dirty="0"/>
          </a:p>
        </p:txBody>
      </p:sp>
      <p:sp>
        <p:nvSpPr>
          <p:cNvPr id="46" name="Text 44"/>
          <p:cNvSpPr/>
          <p:nvPr/>
        </p:nvSpPr>
        <p:spPr>
          <a:xfrm>
            <a:off x="6300216" y="3913632"/>
            <a:ext cx="2468880" cy="274320"/>
          </a:xfrm>
          <a:prstGeom prst="rect">
            <a:avLst/>
          </a:prstGeom>
          <a:noFill/>
          <a:ln/>
        </p:spPr>
        <p:txBody>
          <a:bodyPr wrap="square" lIns="0" tIns="0" rIns="0" bIns="0" rtlCol="0" anchor="ctr"/>
          <a:lstStyle/>
          <a:p>
            <a:pPr marL="0" indent="0">
              <a:buNone/>
            </a:pPr>
            <a:r>
              <a:rPr lang="en-US" sz="950" dirty="0">
                <a:solidFill>
                  <a:srgbClr val="D4E8E0"/>
                </a:solidFill>
                <a:latin typeface="Calibri" pitchFamily="34" charset="0"/>
                <a:ea typeface="Calibri" pitchFamily="34" charset="-122"/>
                <a:cs typeface="Calibri" pitchFamily="34" charset="-120"/>
              </a:rPr>
              <a:t>– App Store approval delays</a:t>
            </a:r>
            <a:endParaRPr lang="en-US" sz="950" dirty="0"/>
          </a:p>
        </p:txBody>
      </p:sp>
      <p:sp>
        <p:nvSpPr>
          <p:cNvPr id="47" name="Text 45"/>
          <p:cNvSpPr/>
          <p:nvPr/>
        </p:nvSpPr>
        <p:spPr>
          <a:xfrm>
            <a:off x="6300216" y="4233672"/>
            <a:ext cx="2468880" cy="274320"/>
          </a:xfrm>
          <a:prstGeom prst="rect">
            <a:avLst/>
          </a:prstGeom>
          <a:noFill/>
          <a:ln/>
        </p:spPr>
        <p:txBody>
          <a:bodyPr wrap="square" lIns="0" tIns="0" rIns="0" bIns="0" rtlCol="0" anchor="ctr"/>
          <a:lstStyle/>
          <a:p>
            <a:pPr marL="0" indent="0">
              <a:buNone/>
            </a:pPr>
            <a:r>
              <a:rPr lang="en-US" sz="950" dirty="0">
                <a:solidFill>
                  <a:srgbClr val="D4E8E0"/>
                </a:solidFill>
                <a:latin typeface="Calibri" pitchFamily="34" charset="0"/>
                <a:ea typeface="Calibri" pitchFamily="34" charset="-122"/>
                <a:cs typeface="Calibri" pitchFamily="34" charset="-120"/>
              </a:rPr>
              <a:t>– Harder to update quickly</a:t>
            </a:r>
            <a:endParaRPr lang="en-US" sz="950" dirty="0"/>
          </a:p>
        </p:txBody>
      </p:sp>
      <p:sp>
        <p:nvSpPr>
          <p:cNvPr id="48" name="Shape 46"/>
          <p:cNvSpPr/>
          <p:nvPr/>
        </p:nvSpPr>
        <p:spPr>
          <a:xfrm>
            <a:off x="6163056" y="4507992"/>
            <a:ext cx="2788920" cy="365760"/>
          </a:xfrm>
          <a:prstGeom prst="rect">
            <a:avLst/>
          </a:prstGeom>
          <a:solidFill>
            <a:srgbClr val="F5A623">
              <a:alpha val="25000"/>
            </a:srgbClr>
          </a:solidFill>
          <a:ln w="12700">
            <a:solidFill>
              <a:srgbClr val="F5A623"/>
            </a:solidFill>
            <a:prstDash val="solid"/>
          </a:ln>
        </p:spPr>
        <p:txBody>
          <a:bodyPr/>
          <a:lstStyle/>
          <a:p>
            <a:endParaRPr lang="en-US"/>
          </a:p>
        </p:txBody>
      </p:sp>
      <p:sp>
        <p:nvSpPr>
          <p:cNvPr id="49" name="Text 47"/>
          <p:cNvSpPr/>
          <p:nvPr/>
        </p:nvSpPr>
        <p:spPr>
          <a:xfrm>
            <a:off x="6254496" y="4343400"/>
            <a:ext cx="2606040" cy="5303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Rejected — too costly for v1 scope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5A623"/>
          </a:solidFill>
          <a:ln w="12700">
            <a:solidFill>
              <a:srgbClr val="F5A623"/>
            </a:solidFill>
            <a:prstDash val="solid"/>
          </a:ln>
        </p:spPr>
        <p:txBody>
          <a:bodyPr/>
          <a:lstStyle/>
          <a:p>
            <a:endParaRPr lang="en-US"/>
          </a:p>
        </p:txBody>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400" b="1" kern="0" spc="200" dirty="0">
                <a:solidFill>
                  <a:srgbClr val="FFFFFF"/>
                </a:solidFill>
                <a:latin typeface="Calibri" pitchFamily="34" charset="0"/>
                <a:ea typeface="Calibri" pitchFamily="34" charset="-122"/>
                <a:cs typeface="Calibri" pitchFamily="34" charset="-120"/>
              </a:rPr>
              <a:t>03  WHY SOLUTION B? — THE RATIONALE</a:t>
            </a:r>
            <a:endParaRPr lang="en-US" sz="2400" dirty="0"/>
          </a:p>
        </p:txBody>
      </p:sp>
      <p:sp>
        <p:nvSpPr>
          <p:cNvPr id="4" name="Shape 2"/>
          <p:cNvSpPr/>
          <p:nvPr/>
        </p:nvSpPr>
        <p:spPr>
          <a:xfrm>
            <a:off x="365760" y="822960"/>
            <a:ext cx="8412480" cy="914400"/>
          </a:xfrm>
          <a:prstGeom prst="rect">
            <a:avLst/>
          </a:prstGeom>
          <a:solidFill>
            <a:srgbClr val="1B2A3B"/>
          </a:solidFill>
          <a:ln w="12700">
            <a:solidFill>
              <a:srgbClr val="F5A623"/>
            </a:solidFill>
            <a:prstDash val="solid"/>
          </a:ln>
        </p:spPr>
        <p:txBody>
          <a:bodyPr/>
          <a:lstStyle/>
          <a:p>
            <a:endParaRPr lang="en-US"/>
          </a:p>
        </p:txBody>
      </p:sp>
      <p:sp>
        <p:nvSpPr>
          <p:cNvPr id="5" name="Shape 3"/>
          <p:cNvSpPr/>
          <p:nvPr/>
        </p:nvSpPr>
        <p:spPr>
          <a:xfrm>
            <a:off x="365760" y="822960"/>
            <a:ext cx="64008" cy="914400"/>
          </a:xfrm>
          <a:prstGeom prst="rect">
            <a:avLst/>
          </a:prstGeom>
          <a:solidFill>
            <a:srgbClr val="F5A623"/>
          </a:solidFill>
          <a:ln w="12700">
            <a:solidFill>
              <a:srgbClr val="F5A623"/>
            </a:solidFill>
            <a:prstDash val="solid"/>
          </a:ln>
        </p:spPr>
        <p:txBody>
          <a:bodyPr/>
          <a:lstStyle/>
          <a:p>
            <a:endParaRPr lang="en-US"/>
          </a:p>
        </p:txBody>
      </p:sp>
      <p:sp>
        <p:nvSpPr>
          <p:cNvPr id="6" name="Text 4"/>
          <p:cNvSpPr/>
          <p:nvPr/>
        </p:nvSpPr>
        <p:spPr>
          <a:xfrm>
            <a:off x="640080" y="868680"/>
            <a:ext cx="8046720" cy="777240"/>
          </a:xfrm>
          <a:prstGeom prst="rect">
            <a:avLst/>
          </a:prstGeom>
          <a:noFill/>
          <a:ln/>
        </p:spPr>
        <p:txBody>
          <a:bodyPr wrap="square" lIns="0" tIns="0" rIns="0" bIns="0" rtlCol="0" anchor="ctr"/>
          <a:lstStyle/>
          <a:p>
            <a:pPr marL="0" indent="0">
              <a:lnSpc>
                <a:spcPct val="140000"/>
              </a:lnSpc>
              <a:buNone/>
            </a:pPr>
            <a:r>
              <a:rPr lang="en-US" sz="1300" i="1" dirty="0">
                <a:solidFill>
                  <a:srgbClr val="D4E8E0"/>
                </a:solidFill>
                <a:latin typeface="Calibri" pitchFamily="34" charset="0"/>
                <a:ea typeface="Calibri" pitchFamily="34" charset="-122"/>
                <a:cs typeface="Calibri" pitchFamily="34" charset="-120"/>
              </a:rPr>
              <a:t>The problem is not just missing information — it is missing infrastructure. A static site answers today's question; a full-stack web app builds a platform that grows with the network.</a:t>
            </a:r>
            <a:endParaRPr lang="en-US" sz="1300" dirty="0"/>
          </a:p>
        </p:txBody>
      </p:sp>
      <p:sp>
        <p:nvSpPr>
          <p:cNvPr id="7" name="Shape 5"/>
          <p:cNvSpPr/>
          <p:nvPr/>
        </p:nvSpPr>
        <p:spPr>
          <a:xfrm>
            <a:off x="320040" y="1920240"/>
            <a:ext cx="2788920" cy="118872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8" name="Shape 6"/>
          <p:cNvSpPr/>
          <p:nvPr/>
        </p:nvSpPr>
        <p:spPr>
          <a:xfrm>
            <a:off x="320040" y="1920240"/>
            <a:ext cx="2788920" cy="54864"/>
          </a:xfrm>
          <a:prstGeom prst="rect">
            <a:avLst/>
          </a:prstGeom>
          <a:solidFill>
            <a:srgbClr val="00C9A7"/>
          </a:solidFill>
          <a:ln w="12700">
            <a:solidFill>
              <a:srgbClr val="00C9A7"/>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411480" y="2057400"/>
            <a:ext cx="320040" cy="320040"/>
          </a:xfrm>
          <a:prstGeom prst="rect">
            <a:avLst/>
          </a:prstGeom>
        </p:spPr>
      </p:pic>
      <p:sp>
        <p:nvSpPr>
          <p:cNvPr id="10" name="Text 7"/>
          <p:cNvSpPr/>
          <p:nvPr/>
        </p:nvSpPr>
        <p:spPr>
          <a:xfrm>
            <a:off x="822960" y="2029968"/>
            <a:ext cx="221284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Live Data via Admin Panel</a:t>
            </a:r>
            <a:endParaRPr lang="en-US" sz="1100" dirty="0"/>
          </a:p>
        </p:txBody>
      </p:sp>
      <p:sp>
        <p:nvSpPr>
          <p:cNvPr id="11" name="Text 8"/>
          <p:cNvSpPr/>
          <p:nvPr/>
        </p:nvSpPr>
        <p:spPr>
          <a:xfrm>
            <a:off x="411480" y="2487168"/>
            <a:ext cx="2606040" cy="54864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Fare adjustments, new stations, and line edits happen without touching code. Operators use a purpose-built UI.</a:t>
            </a:r>
            <a:endParaRPr lang="en-US" sz="950" dirty="0"/>
          </a:p>
        </p:txBody>
      </p:sp>
      <p:sp>
        <p:nvSpPr>
          <p:cNvPr id="12" name="Shape 9"/>
          <p:cNvSpPr/>
          <p:nvPr/>
        </p:nvSpPr>
        <p:spPr>
          <a:xfrm>
            <a:off x="3264408" y="1920240"/>
            <a:ext cx="2788920" cy="118872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13" name="Shape 10"/>
          <p:cNvSpPr/>
          <p:nvPr/>
        </p:nvSpPr>
        <p:spPr>
          <a:xfrm>
            <a:off x="3264408" y="1920240"/>
            <a:ext cx="2788920" cy="54864"/>
          </a:xfrm>
          <a:prstGeom prst="rect">
            <a:avLst/>
          </a:prstGeom>
          <a:solidFill>
            <a:srgbClr val="F5A623"/>
          </a:solidFill>
          <a:ln w="12700">
            <a:solidFill>
              <a:srgbClr val="F5A623"/>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3355848" y="2057400"/>
            <a:ext cx="320040" cy="320040"/>
          </a:xfrm>
          <a:prstGeom prst="rect">
            <a:avLst/>
          </a:prstGeom>
        </p:spPr>
      </p:pic>
      <p:sp>
        <p:nvSpPr>
          <p:cNvPr id="15" name="Text 11"/>
          <p:cNvSpPr/>
          <p:nvPr/>
        </p:nvSpPr>
        <p:spPr>
          <a:xfrm>
            <a:off x="3767328" y="2029968"/>
            <a:ext cx="221284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Personalized User Experience</a:t>
            </a:r>
            <a:endParaRPr lang="en-US" sz="1100" dirty="0"/>
          </a:p>
        </p:txBody>
      </p:sp>
      <p:sp>
        <p:nvSpPr>
          <p:cNvPr id="16" name="Text 12"/>
          <p:cNvSpPr/>
          <p:nvPr/>
        </p:nvSpPr>
        <p:spPr>
          <a:xfrm>
            <a:off x="3355848" y="2487168"/>
            <a:ext cx="2606040" cy="54864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Trip history, saved journeys, and account profiles turn a lookup tool into a personal commute assistant.</a:t>
            </a:r>
            <a:endParaRPr lang="en-US" sz="950" dirty="0"/>
          </a:p>
        </p:txBody>
      </p:sp>
      <p:sp>
        <p:nvSpPr>
          <p:cNvPr id="17" name="Shape 13"/>
          <p:cNvSpPr/>
          <p:nvPr/>
        </p:nvSpPr>
        <p:spPr>
          <a:xfrm>
            <a:off x="6208776" y="1920240"/>
            <a:ext cx="2788920" cy="118872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18" name="Shape 14"/>
          <p:cNvSpPr/>
          <p:nvPr/>
        </p:nvSpPr>
        <p:spPr>
          <a:xfrm>
            <a:off x="6208776" y="1920240"/>
            <a:ext cx="2788920" cy="54864"/>
          </a:xfrm>
          <a:prstGeom prst="rect">
            <a:avLst/>
          </a:prstGeom>
          <a:solidFill>
            <a:srgbClr val="2196F3"/>
          </a:solidFill>
          <a:ln w="12700">
            <a:solidFill>
              <a:srgbClr val="2196F3"/>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6300216" y="2057400"/>
            <a:ext cx="320040" cy="320040"/>
          </a:xfrm>
          <a:prstGeom prst="rect">
            <a:avLst/>
          </a:prstGeom>
        </p:spPr>
      </p:pic>
      <p:sp>
        <p:nvSpPr>
          <p:cNvPr id="20" name="Text 15"/>
          <p:cNvSpPr/>
          <p:nvPr/>
        </p:nvSpPr>
        <p:spPr>
          <a:xfrm>
            <a:off x="6711696" y="2029968"/>
            <a:ext cx="221284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GPS &amp; Link Integration</a:t>
            </a:r>
            <a:endParaRPr lang="en-US" sz="1100" dirty="0"/>
          </a:p>
        </p:txBody>
      </p:sp>
      <p:sp>
        <p:nvSpPr>
          <p:cNvPr id="21" name="Text 16"/>
          <p:cNvSpPr/>
          <p:nvPr/>
        </p:nvSpPr>
        <p:spPr>
          <a:xfrm>
            <a:off x="6300216" y="2487168"/>
            <a:ext cx="2606040" cy="54864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Converting live location or a Google Maps link into nearest metro stations solves the location-to-station gap directly.</a:t>
            </a:r>
            <a:endParaRPr lang="en-US" sz="950" dirty="0"/>
          </a:p>
        </p:txBody>
      </p:sp>
      <p:sp>
        <p:nvSpPr>
          <p:cNvPr id="22" name="Shape 17"/>
          <p:cNvSpPr/>
          <p:nvPr/>
        </p:nvSpPr>
        <p:spPr>
          <a:xfrm>
            <a:off x="320040" y="3291840"/>
            <a:ext cx="2788920" cy="118872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23" name="Shape 18"/>
          <p:cNvSpPr/>
          <p:nvPr/>
        </p:nvSpPr>
        <p:spPr>
          <a:xfrm>
            <a:off x="320040" y="3291840"/>
            <a:ext cx="2788920" cy="54864"/>
          </a:xfrm>
          <a:prstGeom prst="rect">
            <a:avLst/>
          </a:prstGeom>
          <a:solidFill>
            <a:srgbClr val="FF9800"/>
          </a:solidFill>
          <a:ln w="12700">
            <a:solidFill>
              <a:srgbClr val="FF9800"/>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411480" y="3429000"/>
            <a:ext cx="320040" cy="320040"/>
          </a:xfrm>
          <a:prstGeom prst="rect">
            <a:avLst/>
          </a:prstGeom>
        </p:spPr>
      </p:pic>
      <p:sp>
        <p:nvSpPr>
          <p:cNvPr id="25" name="Text 19"/>
          <p:cNvSpPr/>
          <p:nvPr/>
        </p:nvSpPr>
        <p:spPr>
          <a:xfrm>
            <a:off x="822960" y="3401568"/>
            <a:ext cx="221284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Secure, Role-Based Access</a:t>
            </a:r>
            <a:endParaRPr lang="en-US" sz="1100" dirty="0"/>
          </a:p>
        </p:txBody>
      </p:sp>
      <p:sp>
        <p:nvSpPr>
          <p:cNvPr id="26" name="Text 20"/>
          <p:cNvSpPr/>
          <p:nvPr/>
        </p:nvSpPr>
        <p:spPr>
          <a:xfrm>
            <a:off x="411480" y="3858768"/>
            <a:ext cx="2606040" cy="54864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JWT auth with token rotation separates regular users from admins, ensuring safe data management at all times.</a:t>
            </a:r>
            <a:endParaRPr lang="en-US" sz="950" dirty="0"/>
          </a:p>
        </p:txBody>
      </p:sp>
      <p:sp>
        <p:nvSpPr>
          <p:cNvPr id="27" name="Shape 21"/>
          <p:cNvSpPr/>
          <p:nvPr/>
        </p:nvSpPr>
        <p:spPr>
          <a:xfrm>
            <a:off x="3264408" y="3291840"/>
            <a:ext cx="2788920" cy="118872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28" name="Shape 22"/>
          <p:cNvSpPr/>
          <p:nvPr/>
        </p:nvSpPr>
        <p:spPr>
          <a:xfrm>
            <a:off x="3264408" y="3291840"/>
            <a:ext cx="2788920" cy="54864"/>
          </a:xfrm>
          <a:prstGeom prst="rect">
            <a:avLst/>
          </a:prstGeom>
          <a:solidFill>
            <a:srgbClr val="C792EA"/>
          </a:solidFill>
          <a:ln w="12700">
            <a:solidFill>
              <a:srgbClr val="C792EA"/>
            </a:solidFill>
            <a:prstDash val="solid"/>
          </a:ln>
        </p:spPr>
        <p:txBody>
          <a:bodyPr/>
          <a:lstStyle/>
          <a:p>
            <a:endParaRPr lang="en-US"/>
          </a:p>
        </p:txBody>
      </p:sp>
      <p:pic>
        <p:nvPicPr>
          <p:cNvPr id="29" name="Image 4" descr="preencoded.png"/>
          <p:cNvPicPr>
            <a:picLocks noChangeAspect="1"/>
          </p:cNvPicPr>
          <p:nvPr/>
        </p:nvPicPr>
        <p:blipFill>
          <a:blip r:embed="rId7"/>
          <a:stretch>
            <a:fillRect/>
          </a:stretch>
        </p:blipFill>
        <p:spPr>
          <a:xfrm>
            <a:off x="3355848" y="3429000"/>
            <a:ext cx="320040" cy="320040"/>
          </a:xfrm>
          <a:prstGeom prst="rect">
            <a:avLst/>
          </a:prstGeom>
        </p:spPr>
      </p:pic>
      <p:sp>
        <p:nvSpPr>
          <p:cNvPr id="30" name="Text 23"/>
          <p:cNvSpPr/>
          <p:nvPr/>
        </p:nvSpPr>
        <p:spPr>
          <a:xfrm>
            <a:off x="3767328" y="3401568"/>
            <a:ext cx="221284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Progressive Web App Ready</a:t>
            </a:r>
            <a:endParaRPr lang="en-US" sz="1100" dirty="0"/>
          </a:p>
        </p:txBody>
      </p:sp>
      <p:sp>
        <p:nvSpPr>
          <p:cNvPr id="31" name="Text 24"/>
          <p:cNvSpPr/>
          <p:nvPr/>
        </p:nvSpPr>
        <p:spPr>
          <a:xfrm>
            <a:off x="3355848" y="3858768"/>
            <a:ext cx="2606040" cy="54864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Service worker caching and a responsive layout give near-native mobile experience without App Store barriers.</a:t>
            </a:r>
            <a:endParaRPr lang="en-US" sz="950" dirty="0"/>
          </a:p>
        </p:txBody>
      </p:sp>
      <p:sp>
        <p:nvSpPr>
          <p:cNvPr id="32" name="Shape 25"/>
          <p:cNvSpPr/>
          <p:nvPr/>
        </p:nvSpPr>
        <p:spPr>
          <a:xfrm>
            <a:off x="6208776" y="3291840"/>
            <a:ext cx="2788920" cy="118872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33" name="Shape 26"/>
          <p:cNvSpPr/>
          <p:nvPr/>
        </p:nvSpPr>
        <p:spPr>
          <a:xfrm>
            <a:off x="6208776" y="3291840"/>
            <a:ext cx="2788920" cy="54864"/>
          </a:xfrm>
          <a:prstGeom prst="rect">
            <a:avLst/>
          </a:prstGeom>
          <a:solidFill>
            <a:srgbClr val="7BA5A0"/>
          </a:solidFill>
          <a:ln w="12700">
            <a:solidFill>
              <a:srgbClr val="7BA5A0"/>
            </a:solidFill>
            <a:prstDash val="solid"/>
          </a:ln>
        </p:spPr>
        <p:txBody>
          <a:bodyPr/>
          <a:lstStyle/>
          <a:p>
            <a:endParaRPr lang="en-US"/>
          </a:p>
        </p:txBody>
      </p:sp>
      <p:pic>
        <p:nvPicPr>
          <p:cNvPr id="34" name="Image 5" descr="preencoded.png"/>
          <p:cNvPicPr>
            <a:picLocks noChangeAspect="1"/>
          </p:cNvPicPr>
          <p:nvPr/>
        </p:nvPicPr>
        <p:blipFill>
          <a:blip r:embed="rId8"/>
          <a:stretch>
            <a:fillRect/>
          </a:stretch>
        </p:blipFill>
        <p:spPr>
          <a:xfrm>
            <a:off x="6300216" y="3429000"/>
            <a:ext cx="320040" cy="320040"/>
          </a:xfrm>
          <a:prstGeom prst="rect">
            <a:avLst/>
          </a:prstGeom>
        </p:spPr>
      </p:pic>
      <p:sp>
        <p:nvSpPr>
          <p:cNvPr id="35" name="Text 27"/>
          <p:cNvSpPr/>
          <p:nvPr/>
        </p:nvSpPr>
        <p:spPr>
          <a:xfrm>
            <a:off x="6711696" y="3401568"/>
            <a:ext cx="2212848"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Trip Export (JSON/CSV/GeoJSON)</a:t>
            </a:r>
            <a:endParaRPr lang="en-US" sz="1100" dirty="0"/>
          </a:p>
        </p:txBody>
      </p:sp>
      <p:sp>
        <p:nvSpPr>
          <p:cNvPr id="36" name="Text 28"/>
          <p:cNvSpPr/>
          <p:nvPr/>
        </p:nvSpPr>
        <p:spPr>
          <a:xfrm>
            <a:off x="6300216" y="3858768"/>
            <a:ext cx="2606040" cy="54864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Power users can export their trip data for external analysis, archiving, or integration with other tools.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196F3"/>
          </a:solidFill>
          <a:ln w="12700">
            <a:solidFill>
              <a:srgbClr val="2196F3"/>
            </a:solidFill>
            <a:prstDash val="solid"/>
          </a:ln>
        </p:spPr>
        <p:txBody>
          <a:bodyPr/>
          <a:lstStyle/>
          <a:p>
            <a:endParaRPr lang="en-US"/>
          </a:p>
        </p:txBody>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400" b="1" kern="0" spc="200" dirty="0">
                <a:solidFill>
                  <a:srgbClr val="FFFFFF"/>
                </a:solidFill>
                <a:latin typeface="Calibri" pitchFamily="34" charset="0"/>
                <a:ea typeface="Calibri" pitchFamily="34" charset="-122"/>
                <a:cs typeface="Calibri" pitchFamily="34" charset="-120"/>
              </a:rPr>
              <a:t>04  SYSTEM ARCHITECTURE</a:t>
            </a:r>
            <a:endParaRPr lang="en-US" sz="2400" dirty="0"/>
          </a:p>
        </p:txBody>
      </p:sp>
      <p:sp>
        <p:nvSpPr>
          <p:cNvPr id="4" name="Shape 2"/>
          <p:cNvSpPr/>
          <p:nvPr/>
        </p:nvSpPr>
        <p:spPr>
          <a:xfrm>
            <a:off x="274320" y="822960"/>
            <a:ext cx="2788920" cy="4069080"/>
          </a:xfrm>
          <a:prstGeom prst="rect">
            <a:avLst/>
          </a:prstGeom>
          <a:solidFill>
            <a:srgbClr val="1B2A3B"/>
          </a:solidFill>
          <a:ln w="19050">
            <a:solidFill>
              <a:srgbClr val="2196F3"/>
            </a:solidFill>
            <a:prstDash val="solid"/>
          </a:ln>
          <a:effectLst>
            <a:outerShdw blurRad="127000" dist="50800" dir="8100000" algn="bl" rotWithShape="0">
              <a:srgbClr val="000000">
                <a:alpha val="30000"/>
              </a:srgbClr>
            </a:outerShdw>
          </a:effectLst>
        </p:spPr>
        <p:txBody>
          <a:bodyPr/>
          <a:lstStyle/>
          <a:p>
            <a:endParaRPr lang="en-US"/>
          </a:p>
        </p:txBody>
      </p:sp>
      <p:sp>
        <p:nvSpPr>
          <p:cNvPr id="5" name="Shape 3"/>
          <p:cNvSpPr/>
          <p:nvPr/>
        </p:nvSpPr>
        <p:spPr>
          <a:xfrm>
            <a:off x="274320" y="822960"/>
            <a:ext cx="2788920" cy="502920"/>
          </a:xfrm>
          <a:prstGeom prst="rect">
            <a:avLst/>
          </a:prstGeom>
          <a:solidFill>
            <a:srgbClr val="2196F3"/>
          </a:solidFill>
          <a:ln w="12700">
            <a:solidFill>
              <a:srgbClr val="2196F3"/>
            </a:solidFill>
            <a:prstDash val="solid"/>
          </a:ln>
        </p:spPr>
        <p:txBody>
          <a:bodyPr/>
          <a:lstStyle/>
          <a:p>
            <a:endParaRPr lang="en-US"/>
          </a:p>
        </p:txBody>
      </p:sp>
      <p:sp>
        <p:nvSpPr>
          <p:cNvPr id="6" name="Text 4"/>
          <p:cNvSpPr/>
          <p:nvPr/>
        </p:nvSpPr>
        <p:spPr>
          <a:xfrm>
            <a:off x="365760" y="822960"/>
            <a:ext cx="2606040" cy="502920"/>
          </a:xfrm>
          <a:prstGeom prst="rect">
            <a:avLst/>
          </a:prstGeom>
          <a:noFill/>
          <a:ln/>
        </p:spPr>
        <p:txBody>
          <a:bodyPr wrap="square" lIns="0" tIns="0" rIns="0" bIns="0" rtlCol="0" anchor="ctr"/>
          <a:lstStyle/>
          <a:p>
            <a:pPr marL="0" indent="0" algn="ctr">
              <a:buNone/>
            </a:pPr>
            <a:r>
              <a:rPr lang="en-US" sz="1400" b="1" kern="0" spc="300" dirty="0">
                <a:solidFill>
                  <a:srgbClr val="FFFFFF"/>
                </a:solidFill>
                <a:latin typeface="Calibri" pitchFamily="34" charset="0"/>
                <a:ea typeface="Calibri" pitchFamily="34" charset="-122"/>
                <a:cs typeface="Calibri" pitchFamily="34" charset="-120"/>
              </a:rPr>
              <a:t>FRONTEND</a:t>
            </a:r>
            <a:endParaRPr lang="en-US" sz="1400" dirty="0"/>
          </a:p>
        </p:txBody>
      </p:sp>
      <p:sp>
        <p:nvSpPr>
          <p:cNvPr id="7" name="Shape 5"/>
          <p:cNvSpPr/>
          <p:nvPr/>
        </p:nvSpPr>
        <p:spPr>
          <a:xfrm>
            <a:off x="438912" y="1508760"/>
            <a:ext cx="2468880" cy="420624"/>
          </a:xfrm>
          <a:prstGeom prst="rect">
            <a:avLst/>
          </a:prstGeom>
          <a:solidFill>
            <a:srgbClr val="0D1B2A"/>
          </a:solidFill>
          <a:ln w="12700">
            <a:solidFill>
              <a:srgbClr val="2196F3">
                <a:alpha val="30000"/>
              </a:srgbClr>
            </a:solidFill>
            <a:prstDash val="solid"/>
          </a:ln>
        </p:spPr>
        <p:txBody>
          <a:bodyPr/>
          <a:lstStyle/>
          <a:p>
            <a:endParaRPr lang="en-US"/>
          </a:p>
        </p:txBody>
      </p:sp>
      <p:sp>
        <p:nvSpPr>
          <p:cNvPr id="8" name="Text 6"/>
          <p:cNvSpPr/>
          <p:nvPr/>
        </p:nvSpPr>
        <p:spPr>
          <a:xfrm>
            <a:off x="502920" y="1508760"/>
            <a:ext cx="2331720" cy="420624"/>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React 18 + Vite</a:t>
            </a:r>
            <a:endParaRPr lang="en-US" sz="1050" dirty="0"/>
          </a:p>
        </p:txBody>
      </p:sp>
      <p:sp>
        <p:nvSpPr>
          <p:cNvPr id="9" name="Shape 7"/>
          <p:cNvSpPr/>
          <p:nvPr/>
        </p:nvSpPr>
        <p:spPr>
          <a:xfrm>
            <a:off x="438912" y="2075688"/>
            <a:ext cx="2468880" cy="420624"/>
          </a:xfrm>
          <a:prstGeom prst="rect">
            <a:avLst/>
          </a:prstGeom>
          <a:solidFill>
            <a:srgbClr val="0D1B2A"/>
          </a:solidFill>
          <a:ln w="12700">
            <a:solidFill>
              <a:srgbClr val="2196F3">
                <a:alpha val="30000"/>
              </a:srgbClr>
            </a:solidFill>
            <a:prstDash val="solid"/>
          </a:ln>
        </p:spPr>
        <p:txBody>
          <a:bodyPr/>
          <a:lstStyle/>
          <a:p>
            <a:endParaRPr lang="en-US"/>
          </a:p>
        </p:txBody>
      </p:sp>
      <p:sp>
        <p:nvSpPr>
          <p:cNvPr id="10" name="Text 8"/>
          <p:cNvSpPr/>
          <p:nvPr/>
        </p:nvSpPr>
        <p:spPr>
          <a:xfrm>
            <a:off x="502920" y="2075688"/>
            <a:ext cx="2331720" cy="420624"/>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Leaflet.js (interactive map)</a:t>
            </a:r>
            <a:endParaRPr lang="en-US" sz="1050" dirty="0"/>
          </a:p>
        </p:txBody>
      </p:sp>
      <p:sp>
        <p:nvSpPr>
          <p:cNvPr id="11" name="Shape 9"/>
          <p:cNvSpPr/>
          <p:nvPr/>
        </p:nvSpPr>
        <p:spPr>
          <a:xfrm>
            <a:off x="438912" y="2642616"/>
            <a:ext cx="2468880" cy="420624"/>
          </a:xfrm>
          <a:prstGeom prst="rect">
            <a:avLst/>
          </a:prstGeom>
          <a:solidFill>
            <a:srgbClr val="0D1B2A"/>
          </a:solidFill>
          <a:ln w="12700">
            <a:solidFill>
              <a:srgbClr val="2196F3">
                <a:alpha val="30000"/>
              </a:srgbClr>
            </a:solidFill>
            <a:prstDash val="solid"/>
          </a:ln>
        </p:spPr>
        <p:txBody>
          <a:bodyPr/>
          <a:lstStyle/>
          <a:p>
            <a:endParaRPr lang="en-US"/>
          </a:p>
        </p:txBody>
      </p:sp>
      <p:sp>
        <p:nvSpPr>
          <p:cNvPr id="12" name="Text 10"/>
          <p:cNvSpPr/>
          <p:nvPr/>
        </p:nvSpPr>
        <p:spPr>
          <a:xfrm>
            <a:off x="502920" y="2642616"/>
            <a:ext cx="2331720" cy="420624"/>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Service Worker (PWA caching)</a:t>
            </a:r>
            <a:endParaRPr lang="en-US" sz="1050" dirty="0"/>
          </a:p>
        </p:txBody>
      </p:sp>
      <p:sp>
        <p:nvSpPr>
          <p:cNvPr id="13" name="Shape 11"/>
          <p:cNvSpPr/>
          <p:nvPr/>
        </p:nvSpPr>
        <p:spPr>
          <a:xfrm>
            <a:off x="438912" y="3209544"/>
            <a:ext cx="2468880" cy="420624"/>
          </a:xfrm>
          <a:prstGeom prst="rect">
            <a:avLst/>
          </a:prstGeom>
          <a:solidFill>
            <a:srgbClr val="0D1B2A"/>
          </a:solidFill>
          <a:ln w="12700">
            <a:solidFill>
              <a:srgbClr val="2196F3">
                <a:alpha val="30000"/>
              </a:srgbClr>
            </a:solidFill>
            <a:prstDash val="solid"/>
          </a:ln>
        </p:spPr>
        <p:txBody>
          <a:bodyPr/>
          <a:lstStyle/>
          <a:p>
            <a:endParaRPr lang="en-US"/>
          </a:p>
        </p:txBody>
      </p:sp>
      <p:sp>
        <p:nvSpPr>
          <p:cNvPr id="14" name="Text 12"/>
          <p:cNvSpPr/>
          <p:nvPr/>
        </p:nvSpPr>
        <p:spPr>
          <a:xfrm>
            <a:off x="502920" y="3209544"/>
            <a:ext cx="2331720" cy="420624"/>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Component-based SPA routing</a:t>
            </a:r>
            <a:endParaRPr lang="en-US" sz="1050" dirty="0"/>
          </a:p>
        </p:txBody>
      </p:sp>
      <p:sp>
        <p:nvSpPr>
          <p:cNvPr id="15" name="Shape 13"/>
          <p:cNvSpPr/>
          <p:nvPr/>
        </p:nvSpPr>
        <p:spPr>
          <a:xfrm>
            <a:off x="438912" y="3776472"/>
            <a:ext cx="2468880" cy="420624"/>
          </a:xfrm>
          <a:prstGeom prst="rect">
            <a:avLst/>
          </a:prstGeom>
          <a:solidFill>
            <a:srgbClr val="0D1B2A"/>
          </a:solidFill>
          <a:ln w="12700">
            <a:solidFill>
              <a:srgbClr val="2196F3">
                <a:alpha val="30000"/>
              </a:srgbClr>
            </a:solidFill>
            <a:prstDash val="solid"/>
          </a:ln>
        </p:spPr>
        <p:txBody>
          <a:bodyPr/>
          <a:lstStyle/>
          <a:p>
            <a:endParaRPr lang="en-US"/>
          </a:p>
        </p:txBody>
      </p:sp>
      <p:sp>
        <p:nvSpPr>
          <p:cNvPr id="16" name="Text 14"/>
          <p:cNvSpPr/>
          <p:nvPr/>
        </p:nvSpPr>
        <p:spPr>
          <a:xfrm>
            <a:off x="502920" y="3776472"/>
            <a:ext cx="2331720" cy="420624"/>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JWT session via localStorage</a:t>
            </a:r>
            <a:endParaRPr lang="en-US" sz="1050" dirty="0"/>
          </a:p>
        </p:txBody>
      </p:sp>
      <p:sp>
        <p:nvSpPr>
          <p:cNvPr id="17" name="Shape 15"/>
          <p:cNvSpPr/>
          <p:nvPr/>
        </p:nvSpPr>
        <p:spPr>
          <a:xfrm>
            <a:off x="3218688" y="822960"/>
            <a:ext cx="2788920" cy="4069080"/>
          </a:xfrm>
          <a:prstGeom prst="rect">
            <a:avLst/>
          </a:prstGeom>
          <a:solidFill>
            <a:srgbClr val="1B2A3B"/>
          </a:solidFill>
          <a:ln w="19050">
            <a:solidFill>
              <a:srgbClr val="00C9A7"/>
            </a:solidFill>
            <a:prstDash val="solid"/>
          </a:ln>
          <a:effectLst>
            <a:outerShdw blurRad="127000" dist="50800" dir="8100000" algn="bl" rotWithShape="0">
              <a:srgbClr val="000000">
                <a:alpha val="30000"/>
              </a:srgbClr>
            </a:outerShdw>
          </a:effectLst>
        </p:spPr>
        <p:txBody>
          <a:bodyPr/>
          <a:lstStyle/>
          <a:p>
            <a:endParaRPr lang="en-US"/>
          </a:p>
        </p:txBody>
      </p:sp>
      <p:sp>
        <p:nvSpPr>
          <p:cNvPr id="18" name="Shape 16"/>
          <p:cNvSpPr/>
          <p:nvPr/>
        </p:nvSpPr>
        <p:spPr>
          <a:xfrm>
            <a:off x="3218688" y="822960"/>
            <a:ext cx="2788920" cy="502920"/>
          </a:xfrm>
          <a:prstGeom prst="rect">
            <a:avLst/>
          </a:prstGeom>
          <a:solidFill>
            <a:srgbClr val="00C9A7"/>
          </a:solidFill>
          <a:ln w="12700">
            <a:solidFill>
              <a:srgbClr val="00C9A7"/>
            </a:solidFill>
            <a:prstDash val="solid"/>
          </a:ln>
        </p:spPr>
        <p:txBody>
          <a:bodyPr/>
          <a:lstStyle/>
          <a:p>
            <a:endParaRPr lang="en-US"/>
          </a:p>
        </p:txBody>
      </p:sp>
      <p:sp>
        <p:nvSpPr>
          <p:cNvPr id="19" name="Text 17"/>
          <p:cNvSpPr/>
          <p:nvPr/>
        </p:nvSpPr>
        <p:spPr>
          <a:xfrm>
            <a:off x="3310128" y="822960"/>
            <a:ext cx="2606040" cy="502920"/>
          </a:xfrm>
          <a:prstGeom prst="rect">
            <a:avLst/>
          </a:prstGeom>
          <a:noFill/>
          <a:ln/>
        </p:spPr>
        <p:txBody>
          <a:bodyPr wrap="square" lIns="0" tIns="0" rIns="0" bIns="0" rtlCol="0" anchor="ctr"/>
          <a:lstStyle/>
          <a:p>
            <a:pPr marL="0" indent="0" algn="ctr">
              <a:buNone/>
            </a:pPr>
            <a:r>
              <a:rPr lang="en-US" sz="1400" b="1" kern="0" spc="300" dirty="0">
                <a:solidFill>
                  <a:srgbClr val="FFFFFF"/>
                </a:solidFill>
                <a:latin typeface="Calibri" pitchFamily="34" charset="0"/>
                <a:ea typeface="Calibri" pitchFamily="34" charset="-122"/>
                <a:cs typeface="Calibri" pitchFamily="34" charset="-120"/>
              </a:rPr>
              <a:t>BACKEND</a:t>
            </a:r>
            <a:endParaRPr lang="en-US" sz="1400" dirty="0"/>
          </a:p>
        </p:txBody>
      </p:sp>
      <p:sp>
        <p:nvSpPr>
          <p:cNvPr id="20" name="Shape 18"/>
          <p:cNvSpPr/>
          <p:nvPr/>
        </p:nvSpPr>
        <p:spPr>
          <a:xfrm>
            <a:off x="3383280" y="1508760"/>
            <a:ext cx="2468880" cy="420624"/>
          </a:xfrm>
          <a:prstGeom prst="rect">
            <a:avLst/>
          </a:prstGeom>
          <a:solidFill>
            <a:srgbClr val="0D1B2A"/>
          </a:solidFill>
          <a:ln w="12700">
            <a:solidFill>
              <a:srgbClr val="00C9A7">
                <a:alpha val="30000"/>
              </a:srgbClr>
            </a:solidFill>
            <a:prstDash val="solid"/>
          </a:ln>
        </p:spPr>
        <p:txBody>
          <a:bodyPr/>
          <a:lstStyle/>
          <a:p>
            <a:endParaRPr lang="en-US"/>
          </a:p>
        </p:txBody>
      </p:sp>
      <p:sp>
        <p:nvSpPr>
          <p:cNvPr id="21" name="Text 19"/>
          <p:cNvSpPr/>
          <p:nvPr/>
        </p:nvSpPr>
        <p:spPr>
          <a:xfrm>
            <a:off x="3447288" y="1508760"/>
            <a:ext cx="2331720" cy="420624"/>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Express + TypeScript</a:t>
            </a:r>
            <a:endParaRPr lang="en-US" sz="1050" dirty="0"/>
          </a:p>
        </p:txBody>
      </p:sp>
      <p:sp>
        <p:nvSpPr>
          <p:cNvPr id="22" name="Shape 20"/>
          <p:cNvSpPr/>
          <p:nvPr/>
        </p:nvSpPr>
        <p:spPr>
          <a:xfrm>
            <a:off x="3383280" y="2075688"/>
            <a:ext cx="2468880" cy="420624"/>
          </a:xfrm>
          <a:prstGeom prst="rect">
            <a:avLst/>
          </a:prstGeom>
          <a:solidFill>
            <a:srgbClr val="0D1B2A"/>
          </a:solidFill>
          <a:ln w="12700">
            <a:solidFill>
              <a:srgbClr val="00C9A7">
                <a:alpha val="30000"/>
              </a:srgbClr>
            </a:solidFill>
            <a:prstDash val="solid"/>
          </a:ln>
        </p:spPr>
        <p:txBody>
          <a:bodyPr/>
          <a:lstStyle/>
          <a:p>
            <a:endParaRPr lang="en-US"/>
          </a:p>
        </p:txBody>
      </p:sp>
      <p:sp>
        <p:nvSpPr>
          <p:cNvPr id="23" name="Text 21"/>
          <p:cNvSpPr/>
          <p:nvPr/>
        </p:nvSpPr>
        <p:spPr>
          <a:xfrm>
            <a:off x="3447288" y="2075688"/>
            <a:ext cx="2331720" cy="420624"/>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Prisma ORM</a:t>
            </a:r>
            <a:endParaRPr lang="en-US" sz="1050" dirty="0"/>
          </a:p>
        </p:txBody>
      </p:sp>
      <p:sp>
        <p:nvSpPr>
          <p:cNvPr id="24" name="Shape 22"/>
          <p:cNvSpPr/>
          <p:nvPr/>
        </p:nvSpPr>
        <p:spPr>
          <a:xfrm>
            <a:off x="3383280" y="2642616"/>
            <a:ext cx="2468880" cy="420624"/>
          </a:xfrm>
          <a:prstGeom prst="rect">
            <a:avLst/>
          </a:prstGeom>
          <a:solidFill>
            <a:srgbClr val="0D1B2A"/>
          </a:solidFill>
          <a:ln w="12700">
            <a:solidFill>
              <a:srgbClr val="00C9A7">
                <a:alpha val="30000"/>
              </a:srgbClr>
            </a:solidFill>
            <a:prstDash val="solid"/>
          </a:ln>
        </p:spPr>
        <p:txBody>
          <a:bodyPr/>
          <a:lstStyle/>
          <a:p>
            <a:endParaRPr lang="en-US"/>
          </a:p>
        </p:txBody>
      </p:sp>
      <p:sp>
        <p:nvSpPr>
          <p:cNvPr id="25" name="Text 23"/>
          <p:cNvSpPr/>
          <p:nvPr/>
        </p:nvSpPr>
        <p:spPr>
          <a:xfrm>
            <a:off x="3447288" y="2642616"/>
            <a:ext cx="2331720" cy="420624"/>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JWT access + refresh tokens</a:t>
            </a:r>
            <a:endParaRPr lang="en-US" sz="1050" dirty="0"/>
          </a:p>
        </p:txBody>
      </p:sp>
      <p:sp>
        <p:nvSpPr>
          <p:cNvPr id="26" name="Shape 24"/>
          <p:cNvSpPr/>
          <p:nvPr/>
        </p:nvSpPr>
        <p:spPr>
          <a:xfrm>
            <a:off x="3383280" y="3209544"/>
            <a:ext cx="2468880" cy="420624"/>
          </a:xfrm>
          <a:prstGeom prst="rect">
            <a:avLst/>
          </a:prstGeom>
          <a:solidFill>
            <a:srgbClr val="0D1B2A"/>
          </a:solidFill>
          <a:ln w="12700">
            <a:solidFill>
              <a:srgbClr val="00C9A7">
                <a:alpha val="30000"/>
              </a:srgbClr>
            </a:solidFill>
            <a:prstDash val="solid"/>
          </a:ln>
        </p:spPr>
        <p:txBody>
          <a:bodyPr/>
          <a:lstStyle/>
          <a:p>
            <a:endParaRPr lang="en-US"/>
          </a:p>
        </p:txBody>
      </p:sp>
      <p:sp>
        <p:nvSpPr>
          <p:cNvPr id="27" name="Text 25"/>
          <p:cNvSpPr/>
          <p:nvPr/>
        </p:nvSpPr>
        <p:spPr>
          <a:xfrm>
            <a:off x="3447288" y="3209544"/>
            <a:ext cx="2331720" cy="420624"/>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Role-based auth (USER / ADMIN)</a:t>
            </a:r>
            <a:endParaRPr lang="en-US" sz="1050" dirty="0"/>
          </a:p>
        </p:txBody>
      </p:sp>
      <p:sp>
        <p:nvSpPr>
          <p:cNvPr id="28" name="Shape 26"/>
          <p:cNvSpPr/>
          <p:nvPr/>
        </p:nvSpPr>
        <p:spPr>
          <a:xfrm>
            <a:off x="3383280" y="3776472"/>
            <a:ext cx="2468880" cy="420624"/>
          </a:xfrm>
          <a:prstGeom prst="rect">
            <a:avLst/>
          </a:prstGeom>
          <a:solidFill>
            <a:srgbClr val="0D1B2A"/>
          </a:solidFill>
          <a:ln w="12700">
            <a:solidFill>
              <a:srgbClr val="00C9A7">
                <a:alpha val="30000"/>
              </a:srgbClr>
            </a:solidFill>
            <a:prstDash val="solid"/>
          </a:ln>
        </p:spPr>
        <p:txBody>
          <a:bodyPr/>
          <a:lstStyle/>
          <a:p>
            <a:endParaRPr lang="en-US"/>
          </a:p>
        </p:txBody>
      </p:sp>
      <p:sp>
        <p:nvSpPr>
          <p:cNvPr id="29" name="Text 27"/>
          <p:cNvSpPr/>
          <p:nvPr/>
        </p:nvSpPr>
        <p:spPr>
          <a:xfrm>
            <a:off x="3447288" y="3776472"/>
            <a:ext cx="2331720" cy="420624"/>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RESTful API surface</a:t>
            </a:r>
            <a:endParaRPr lang="en-US" sz="1050" dirty="0"/>
          </a:p>
        </p:txBody>
      </p:sp>
      <p:sp>
        <p:nvSpPr>
          <p:cNvPr id="30" name="Shape 28"/>
          <p:cNvSpPr/>
          <p:nvPr/>
        </p:nvSpPr>
        <p:spPr>
          <a:xfrm>
            <a:off x="6163056" y="822960"/>
            <a:ext cx="2788920" cy="4069080"/>
          </a:xfrm>
          <a:prstGeom prst="rect">
            <a:avLst/>
          </a:prstGeom>
          <a:solidFill>
            <a:srgbClr val="1B2A3B"/>
          </a:solidFill>
          <a:ln w="19050">
            <a:solidFill>
              <a:srgbClr val="F5A623"/>
            </a:solidFill>
            <a:prstDash val="solid"/>
          </a:ln>
          <a:effectLst>
            <a:outerShdw blurRad="127000" dist="50800" dir="8100000" algn="bl" rotWithShape="0">
              <a:srgbClr val="000000">
                <a:alpha val="30000"/>
              </a:srgbClr>
            </a:outerShdw>
          </a:effectLst>
        </p:spPr>
        <p:txBody>
          <a:bodyPr/>
          <a:lstStyle/>
          <a:p>
            <a:endParaRPr lang="en-US"/>
          </a:p>
        </p:txBody>
      </p:sp>
      <p:sp>
        <p:nvSpPr>
          <p:cNvPr id="31" name="Shape 29"/>
          <p:cNvSpPr/>
          <p:nvPr/>
        </p:nvSpPr>
        <p:spPr>
          <a:xfrm>
            <a:off x="6163056" y="822960"/>
            <a:ext cx="2788920" cy="502920"/>
          </a:xfrm>
          <a:prstGeom prst="rect">
            <a:avLst/>
          </a:prstGeom>
          <a:solidFill>
            <a:srgbClr val="F5A623"/>
          </a:solidFill>
          <a:ln w="12700">
            <a:solidFill>
              <a:srgbClr val="F5A623"/>
            </a:solidFill>
            <a:prstDash val="solid"/>
          </a:ln>
        </p:spPr>
        <p:txBody>
          <a:bodyPr/>
          <a:lstStyle/>
          <a:p>
            <a:endParaRPr lang="en-US"/>
          </a:p>
        </p:txBody>
      </p:sp>
      <p:sp>
        <p:nvSpPr>
          <p:cNvPr id="32" name="Text 30"/>
          <p:cNvSpPr/>
          <p:nvPr/>
        </p:nvSpPr>
        <p:spPr>
          <a:xfrm>
            <a:off x="6254496" y="822960"/>
            <a:ext cx="2606040" cy="502920"/>
          </a:xfrm>
          <a:prstGeom prst="rect">
            <a:avLst/>
          </a:prstGeom>
          <a:noFill/>
          <a:ln/>
        </p:spPr>
        <p:txBody>
          <a:bodyPr wrap="square" lIns="0" tIns="0" rIns="0" bIns="0" rtlCol="0" anchor="ctr"/>
          <a:lstStyle/>
          <a:p>
            <a:pPr marL="0" indent="0" algn="ctr">
              <a:buNone/>
            </a:pPr>
            <a:r>
              <a:rPr lang="en-US" sz="1400" b="1" kern="0" spc="300" dirty="0">
                <a:solidFill>
                  <a:srgbClr val="FFFFFF"/>
                </a:solidFill>
                <a:latin typeface="Calibri" pitchFamily="34" charset="0"/>
                <a:ea typeface="Calibri" pitchFamily="34" charset="-122"/>
                <a:cs typeface="Calibri" pitchFamily="34" charset="-120"/>
              </a:rPr>
              <a:t>DATABASE</a:t>
            </a:r>
            <a:endParaRPr lang="en-US" sz="1400" dirty="0"/>
          </a:p>
        </p:txBody>
      </p:sp>
      <p:sp>
        <p:nvSpPr>
          <p:cNvPr id="33" name="Shape 31"/>
          <p:cNvSpPr/>
          <p:nvPr/>
        </p:nvSpPr>
        <p:spPr>
          <a:xfrm>
            <a:off x="6327648" y="1508760"/>
            <a:ext cx="2468880" cy="420624"/>
          </a:xfrm>
          <a:prstGeom prst="rect">
            <a:avLst/>
          </a:prstGeom>
          <a:solidFill>
            <a:srgbClr val="0D1B2A"/>
          </a:solidFill>
          <a:ln w="12700">
            <a:solidFill>
              <a:srgbClr val="F5A623">
                <a:alpha val="30000"/>
              </a:srgbClr>
            </a:solidFill>
            <a:prstDash val="solid"/>
          </a:ln>
        </p:spPr>
        <p:txBody>
          <a:bodyPr/>
          <a:lstStyle/>
          <a:p>
            <a:endParaRPr lang="en-US"/>
          </a:p>
        </p:txBody>
      </p:sp>
      <p:sp>
        <p:nvSpPr>
          <p:cNvPr id="34" name="Text 32"/>
          <p:cNvSpPr/>
          <p:nvPr/>
        </p:nvSpPr>
        <p:spPr>
          <a:xfrm>
            <a:off x="6391656" y="1508760"/>
            <a:ext cx="2331720" cy="420624"/>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SQLite (dev.db)</a:t>
            </a:r>
            <a:endParaRPr lang="en-US" sz="1050" dirty="0"/>
          </a:p>
        </p:txBody>
      </p:sp>
      <p:sp>
        <p:nvSpPr>
          <p:cNvPr id="35" name="Shape 33"/>
          <p:cNvSpPr/>
          <p:nvPr/>
        </p:nvSpPr>
        <p:spPr>
          <a:xfrm>
            <a:off x="6327648" y="2075688"/>
            <a:ext cx="2468880" cy="420624"/>
          </a:xfrm>
          <a:prstGeom prst="rect">
            <a:avLst/>
          </a:prstGeom>
          <a:solidFill>
            <a:srgbClr val="0D1B2A"/>
          </a:solidFill>
          <a:ln w="12700">
            <a:solidFill>
              <a:srgbClr val="F5A623">
                <a:alpha val="30000"/>
              </a:srgbClr>
            </a:solidFill>
            <a:prstDash val="solid"/>
          </a:ln>
        </p:spPr>
        <p:txBody>
          <a:bodyPr/>
          <a:lstStyle/>
          <a:p>
            <a:endParaRPr lang="en-US"/>
          </a:p>
        </p:txBody>
      </p:sp>
      <p:sp>
        <p:nvSpPr>
          <p:cNvPr id="36" name="Text 34"/>
          <p:cNvSpPr/>
          <p:nvPr/>
        </p:nvSpPr>
        <p:spPr>
          <a:xfrm>
            <a:off x="6391656" y="2075688"/>
            <a:ext cx="2331720" cy="420624"/>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User, Trip, RefreshToken</a:t>
            </a:r>
            <a:endParaRPr lang="en-US" sz="1050" dirty="0"/>
          </a:p>
        </p:txBody>
      </p:sp>
      <p:sp>
        <p:nvSpPr>
          <p:cNvPr id="37" name="Shape 35"/>
          <p:cNvSpPr/>
          <p:nvPr/>
        </p:nvSpPr>
        <p:spPr>
          <a:xfrm>
            <a:off x="6327648" y="2642616"/>
            <a:ext cx="2468880" cy="420624"/>
          </a:xfrm>
          <a:prstGeom prst="rect">
            <a:avLst/>
          </a:prstGeom>
          <a:solidFill>
            <a:srgbClr val="0D1B2A"/>
          </a:solidFill>
          <a:ln w="12700">
            <a:solidFill>
              <a:srgbClr val="F5A623">
                <a:alpha val="30000"/>
              </a:srgbClr>
            </a:solidFill>
            <a:prstDash val="solid"/>
          </a:ln>
        </p:spPr>
        <p:txBody>
          <a:bodyPr/>
          <a:lstStyle/>
          <a:p>
            <a:endParaRPr lang="en-US"/>
          </a:p>
        </p:txBody>
      </p:sp>
      <p:sp>
        <p:nvSpPr>
          <p:cNvPr id="38" name="Text 36"/>
          <p:cNvSpPr/>
          <p:nvPr/>
        </p:nvSpPr>
        <p:spPr>
          <a:xfrm>
            <a:off x="6391656" y="2642616"/>
            <a:ext cx="2331720" cy="420624"/>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MetroLine, MetroStation</a:t>
            </a:r>
            <a:endParaRPr lang="en-US" sz="1050" dirty="0"/>
          </a:p>
        </p:txBody>
      </p:sp>
      <p:sp>
        <p:nvSpPr>
          <p:cNvPr id="39" name="Shape 37"/>
          <p:cNvSpPr/>
          <p:nvPr/>
        </p:nvSpPr>
        <p:spPr>
          <a:xfrm>
            <a:off x="6327648" y="3209544"/>
            <a:ext cx="2468880" cy="420624"/>
          </a:xfrm>
          <a:prstGeom prst="rect">
            <a:avLst/>
          </a:prstGeom>
          <a:solidFill>
            <a:srgbClr val="0D1B2A"/>
          </a:solidFill>
          <a:ln w="12700">
            <a:solidFill>
              <a:srgbClr val="F5A623">
                <a:alpha val="30000"/>
              </a:srgbClr>
            </a:solidFill>
            <a:prstDash val="solid"/>
          </a:ln>
        </p:spPr>
        <p:txBody>
          <a:bodyPr/>
          <a:lstStyle/>
          <a:p>
            <a:endParaRPr lang="en-US"/>
          </a:p>
        </p:txBody>
      </p:sp>
      <p:sp>
        <p:nvSpPr>
          <p:cNvPr id="40" name="Text 38"/>
          <p:cNvSpPr/>
          <p:nvPr/>
        </p:nvSpPr>
        <p:spPr>
          <a:xfrm>
            <a:off x="6391656" y="3209544"/>
            <a:ext cx="2331720" cy="420624"/>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FareBand (configurable)</a:t>
            </a:r>
            <a:endParaRPr lang="en-US" sz="1050" dirty="0"/>
          </a:p>
        </p:txBody>
      </p:sp>
      <p:sp>
        <p:nvSpPr>
          <p:cNvPr id="41" name="Shape 39"/>
          <p:cNvSpPr/>
          <p:nvPr/>
        </p:nvSpPr>
        <p:spPr>
          <a:xfrm>
            <a:off x="6327648" y="3776472"/>
            <a:ext cx="2468880" cy="420624"/>
          </a:xfrm>
          <a:prstGeom prst="rect">
            <a:avLst/>
          </a:prstGeom>
          <a:solidFill>
            <a:srgbClr val="0D1B2A"/>
          </a:solidFill>
          <a:ln w="12700">
            <a:solidFill>
              <a:srgbClr val="F5A623">
                <a:alpha val="30000"/>
              </a:srgbClr>
            </a:solidFill>
            <a:prstDash val="solid"/>
          </a:ln>
        </p:spPr>
        <p:txBody>
          <a:bodyPr/>
          <a:lstStyle/>
          <a:p>
            <a:endParaRPr lang="en-US"/>
          </a:p>
        </p:txBody>
      </p:sp>
      <p:sp>
        <p:nvSpPr>
          <p:cNvPr id="42" name="Text 40"/>
          <p:cNvSpPr/>
          <p:nvPr/>
        </p:nvSpPr>
        <p:spPr>
          <a:xfrm>
            <a:off x="6391656" y="3776472"/>
            <a:ext cx="2331720" cy="420624"/>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Seeded from metroData.js</a:t>
            </a:r>
            <a:endParaRPr lang="en-US" sz="1050" dirty="0"/>
          </a:p>
        </p:txBody>
      </p:sp>
      <p:sp>
        <p:nvSpPr>
          <p:cNvPr id="43" name="Shape 41"/>
          <p:cNvSpPr/>
          <p:nvPr/>
        </p:nvSpPr>
        <p:spPr>
          <a:xfrm>
            <a:off x="3063240" y="2834640"/>
            <a:ext cx="164592" cy="0"/>
          </a:xfrm>
          <a:prstGeom prst="line">
            <a:avLst/>
          </a:prstGeom>
          <a:noFill/>
          <a:ln w="25400">
            <a:solidFill>
              <a:srgbClr val="00C9A7"/>
            </a:solidFill>
            <a:prstDash val="sysDash"/>
          </a:ln>
        </p:spPr>
        <p:txBody>
          <a:bodyPr/>
          <a:lstStyle/>
          <a:p>
            <a:endParaRPr lang="en-US"/>
          </a:p>
        </p:txBody>
      </p:sp>
      <p:sp>
        <p:nvSpPr>
          <p:cNvPr id="44" name="Text 42"/>
          <p:cNvSpPr/>
          <p:nvPr/>
        </p:nvSpPr>
        <p:spPr>
          <a:xfrm>
            <a:off x="2743200" y="2587099"/>
            <a:ext cx="868680" cy="228600"/>
          </a:xfrm>
          <a:prstGeom prst="rect">
            <a:avLst/>
          </a:prstGeom>
          <a:noFill/>
          <a:ln/>
        </p:spPr>
        <p:txBody>
          <a:bodyPr wrap="square" lIns="0" tIns="0" rIns="0" bIns="0" rtlCol="0" anchor="ctr"/>
          <a:lstStyle/>
          <a:p>
            <a:pPr marL="0" indent="0" algn="ctr">
              <a:buNone/>
            </a:pPr>
            <a:r>
              <a:rPr lang="en-US" sz="800" dirty="0">
                <a:solidFill>
                  <a:srgbClr val="7BA5A0"/>
                </a:solidFill>
                <a:latin typeface="Calibri" pitchFamily="34" charset="0"/>
                <a:ea typeface="Calibri" pitchFamily="34" charset="-122"/>
                <a:cs typeface="Calibri" pitchFamily="34" charset="-120"/>
              </a:rPr>
              <a:t>REST API</a:t>
            </a:r>
            <a:endParaRPr lang="en-US" sz="800" dirty="0"/>
          </a:p>
        </p:txBody>
      </p:sp>
      <p:sp>
        <p:nvSpPr>
          <p:cNvPr id="45" name="Shape 43"/>
          <p:cNvSpPr/>
          <p:nvPr/>
        </p:nvSpPr>
        <p:spPr>
          <a:xfrm>
            <a:off x="6007608" y="2834640"/>
            <a:ext cx="155448" cy="0"/>
          </a:xfrm>
          <a:prstGeom prst="line">
            <a:avLst/>
          </a:prstGeom>
          <a:noFill/>
          <a:ln w="25400">
            <a:solidFill>
              <a:srgbClr val="F5A623"/>
            </a:solidFill>
            <a:prstDash val="sysDash"/>
          </a:ln>
        </p:spPr>
        <p:txBody>
          <a:bodyPr/>
          <a:lstStyle/>
          <a:p>
            <a:endParaRPr lang="en-US"/>
          </a:p>
        </p:txBody>
      </p:sp>
      <p:sp>
        <p:nvSpPr>
          <p:cNvPr id="46" name="Text 44"/>
          <p:cNvSpPr/>
          <p:nvPr/>
        </p:nvSpPr>
        <p:spPr>
          <a:xfrm>
            <a:off x="5650992" y="2574036"/>
            <a:ext cx="868680" cy="228600"/>
          </a:xfrm>
          <a:prstGeom prst="rect">
            <a:avLst/>
          </a:prstGeom>
          <a:noFill/>
          <a:ln/>
        </p:spPr>
        <p:txBody>
          <a:bodyPr wrap="square" lIns="0" tIns="0" rIns="0" bIns="0" rtlCol="0" anchor="ctr"/>
          <a:lstStyle/>
          <a:p>
            <a:pPr marL="0" indent="0" algn="ctr">
              <a:buNone/>
            </a:pPr>
            <a:r>
              <a:rPr lang="en-US" sz="800" dirty="0">
                <a:solidFill>
                  <a:srgbClr val="7BA5A0"/>
                </a:solidFill>
                <a:latin typeface="Calibri" pitchFamily="34" charset="0"/>
                <a:ea typeface="Calibri" pitchFamily="34" charset="-122"/>
                <a:cs typeface="Calibri" pitchFamily="34" charset="-120"/>
              </a:rPr>
              <a:t>Prisma</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9A7"/>
          </a:solidFill>
          <a:ln w="12700">
            <a:solidFill>
              <a:srgbClr val="00C9A7"/>
            </a:solidFill>
            <a:prstDash val="solid"/>
          </a:ln>
        </p:spPr>
        <p:txBody>
          <a:bodyPr/>
          <a:lstStyle/>
          <a:p>
            <a:endParaRPr lang="en-US"/>
          </a:p>
        </p:txBody>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400" b="1" kern="0" spc="200" dirty="0">
                <a:solidFill>
                  <a:srgbClr val="FFFFFF"/>
                </a:solidFill>
                <a:latin typeface="Calibri" pitchFamily="34" charset="0"/>
                <a:ea typeface="Calibri" pitchFamily="34" charset="-122"/>
                <a:cs typeface="Calibri" pitchFamily="34" charset="-120"/>
              </a:rPr>
              <a:t>05  KEY FEATURES</a:t>
            </a:r>
            <a:endParaRPr lang="en-US" sz="2400" dirty="0"/>
          </a:p>
        </p:txBody>
      </p:sp>
      <p:sp>
        <p:nvSpPr>
          <p:cNvPr id="4" name="Shape 2"/>
          <p:cNvSpPr/>
          <p:nvPr/>
        </p:nvSpPr>
        <p:spPr>
          <a:xfrm>
            <a:off x="201168" y="822960"/>
            <a:ext cx="2084832" cy="182880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5" name="Shape 3"/>
          <p:cNvSpPr/>
          <p:nvPr/>
        </p:nvSpPr>
        <p:spPr>
          <a:xfrm>
            <a:off x="201168" y="822960"/>
            <a:ext cx="2084832" cy="54864"/>
          </a:xfrm>
          <a:prstGeom prst="rect">
            <a:avLst/>
          </a:prstGeom>
          <a:solidFill>
            <a:srgbClr val="00C9A7"/>
          </a:solidFill>
          <a:ln w="12700">
            <a:solidFill>
              <a:srgbClr val="00C9A7"/>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292608" y="987552"/>
            <a:ext cx="365760" cy="365760"/>
          </a:xfrm>
          <a:prstGeom prst="rect">
            <a:avLst/>
          </a:prstGeom>
        </p:spPr>
      </p:pic>
      <p:sp>
        <p:nvSpPr>
          <p:cNvPr id="7" name="Text 4"/>
          <p:cNvSpPr/>
          <p:nvPr/>
        </p:nvSpPr>
        <p:spPr>
          <a:xfrm>
            <a:off x="749808" y="987552"/>
            <a:ext cx="1444752" cy="4114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Smart Route Planner</a:t>
            </a:r>
            <a:endParaRPr lang="en-US" sz="1050" dirty="0"/>
          </a:p>
        </p:txBody>
      </p:sp>
      <p:sp>
        <p:nvSpPr>
          <p:cNvPr id="8" name="Text 5"/>
          <p:cNvSpPr/>
          <p:nvPr/>
        </p:nvSpPr>
        <p:spPr>
          <a:xfrm>
            <a:off x="292608" y="1508760"/>
            <a:ext cx="1901952" cy="105156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Select origin + destination. App calculates the shortest path, identifies required transfers, and highlights the complete route on the map.</a:t>
            </a:r>
            <a:endParaRPr lang="en-US" sz="950" dirty="0"/>
          </a:p>
        </p:txBody>
      </p:sp>
      <p:sp>
        <p:nvSpPr>
          <p:cNvPr id="9" name="Shape 6"/>
          <p:cNvSpPr/>
          <p:nvPr/>
        </p:nvSpPr>
        <p:spPr>
          <a:xfrm>
            <a:off x="2414016" y="822960"/>
            <a:ext cx="2084832" cy="182880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10" name="Shape 7"/>
          <p:cNvSpPr/>
          <p:nvPr/>
        </p:nvSpPr>
        <p:spPr>
          <a:xfrm>
            <a:off x="2414016" y="822960"/>
            <a:ext cx="2084832" cy="54864"/>
          </a:xfrm>
          <a:prstGeom prst="rect">
            <a:avLst/>
          </a:prstGeom>
          <a:solidFill>
            <a:srgbClr val="F5A623"/>
          </a:solidFill>
          <a:ln w="12700">
            <a:solidFill>
              <a:srgbClr val="F5A623"/>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2505456" y="987552"/>
            <a:ext cx="365760" cy="365760"/>
          </a:xfrm>
          <a:prstGeom prst="rect">
            <a:avLst/>
          </a:prstGeom>
        </p:spPr>
      </p:pic>
      <p:sp>
        <p:nvSpPr>
          <p:cNvPr id="12" name="Text 8"/>
          <p:cNvSpPr/>
          <p:nvPr/>
        </p:nvSpPr>
        <p:spPr>
          <a:xfrm>
            <a:off x="2962656" y="987552"/>
            <a:ext cx="1444752" cy="4114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Fare &amp; Time Estimate</a:t>
            </a:r>
            <a:endParaRPr lang="en-US" sz="1050" dirty="0"/>
          </a:p>
        </p:txBody>
      </p:sp>
      <p:sp>
        <p:nvSpPr>
          <p:cNvPr id="13" name="Text 9"/>
          <p:cNvSpPr/>
          <p:nvPr/>
        </p:nvSpPr>
        <p:spPr>
          <a:xfrm>
            <a:off x="2505456" y="1508760"/>
            <a:ext cx="1901952" cy="105156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DB-backed fare bands compute exact ticket price and estimated travel time before the user even boards a train.</a:t>
            </a:r>
            <a:endParaRPr lang="en-US" sz="950" dirty="0"/>
          </a:p>
        </p:txBody>
      </p:sp>
      <p:sp>
        <p:nvSpPr>
          <p:cNvPr id="14" name="Shape 10"/>
          <p:cNvSpPr/>
          <p:nvPr/>
        </p:nvSpPr>
        <p:spPr>
          <a:xfrm>
            <a:off x="4626864" y="822960"/>
            <a:ext cx="2084832" cy="182880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15" name="Shape 11"/>
          <p:cNvSpPr/>
          <p:nvPr/>
        </p:nvSpPr>
        <p:spPr>
          <a:xfrm>
            <a:off x="4626864" y="822960"/>
            <a:ext cx="2084832" cy="54864"/>
          </a:xfrm>
          <a:prstGeom prst="rect">
            <a:avLst/>
          </a:prstGeom>
          <a:solidFill>
            <a:srgbClr val="2196F3"/>
          </a:solidFill>
          <a:ln w="12700">
            <a:solidFill>
              <a:srgbClr val="2196F3"/>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4718304" y="987552"/>
            <a:ext cx="365760" cy="365760"/>
          </a:xfrm>
          <a:prstGeom prst="rect">
            <a:avLst/>
          </a:prstGeom>
        </p:spPr>
      </p:pic>
      <p:sp>
        <p:nvSpPr>
          <p:cNvPr id="17" name="Text 12"/>
          <p:cNvSpPr/>
          <p:nvPr/>
        </p:nvSpPr>
        <p:spPr>
          <a:xfrm>
            <a:off x="5175504" y="987552"/>
            <a:ext cx="1444752" cy="4114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Interactive Leaflet Map</a:t>
            </a:r>
            <a:endParaRPr lang="en-US" sz="1050" dirty="0"/>
          </a:p>
        </p:txBody>
      </p:sp>
      <p:sp>
        <p:nvSpPr>
          <p:cNvPr id="18" name="Text 13"/>
          <p:cNvSpPr/>
          <p:nvPr/>
        </p:nvSpPr>
        <p:spPr>
          <a:xfrm>
            <a:off x="4718304" y="1508760"/>
            <a:ext cx="1901952" cy="105156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Live route highlighting, travel mode animation, nearest-station finder, and GeoJSON overlay of all Cairo Metro station points.</a:t>
            </a:r>
            <a:endParaRPr lang="en-US" sz="950" dirty="0"/>
          </a:p>
        </p:txBody>
      </p:sp>
      <p:sp>
        <p:nvSpPr>
          <p:cNvPr id="19" name="Shape 14"/>
          <p:cNvSpPr/>
          <p:nvPr/>
        </p:nvSpPr>
        <p:spPr>
          <a:xfrm>
            <a:off x="6839712" y="822960"/>
            <a:ext cx="2084832" cy="182880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20" name="Shape 15"/>
          <p:cNvSpPr/>
          <p:nvPr/>
        </p:nvSpPr>
        <p:spPr>
          <a:xfrm>
            <a:off x="6839712" y="822960"/>
            <a:ext cx="2084832" cy="54864"/>
          </a:xfrm>
          <a:prstGeom prst="rect">
            <a:avLst/>
          </a:prstGeom>
          <a:solidFill>
            <a:srgbClr val="FF9800"/>
          </a:solidFill>
          <a:ln w="12700">
            <a:solidFill>
              <a:srgbClr val="FF9800"/>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931152" y="987552"/>
            <a:ext cx="365760" cy="365760"/>
          </a:xfrm>
          <a:prstGeom prst="rect">
            <a:avLst/>
          </a:prstGeom>
        </p:spPr>
      </p:pic>
      <p:sp>
        <p:nvSpPr>
          <p:cNvPr id="22" name="Text 16"/>
          <p:cNvSpPr/>
          <p:nvPr/>
        </p:nvSpPr>
        <p:spPr>
          <a:xfrm>
            <a:off x="7388352" y="987552"/>
            <a:ext cx="1444752" cy="4114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Coordinate Tools</a:t>
            </a:r>
            <a:endParaRPr lang="en-US" sz="1050" dirty="0"/>
          </a:p>
        </p:txBody>
      </p:sp>
      <p:sp>
        <p:nvSpPr>
          <p:cNvPr id="23" name="Text 17"/>
          <p:cNvSpPr/>
          <p:nvPr/>
        </p:nvSpPr>
        <p:spPr>
          <a:xfrm>
            <a:off x="6931152" y="1508760"/>
            <a:ext cx="1901952" cy="105156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Paste a Google Maps link or use device GPS. The app finds the nearest metro station automatically and populates the planner.</a:t>
            </a:r>
            <a:endParaRPr lang="en-US" sz="950" dirty="0"/>
          </a:p>
        </p:txBody>
      </p:sp>
      <p:sp>
        <p:nvSpPr>
          <p:cNvPr id="24" name="Shape 18"/>
          <p:cNvSpPr/>
          <p:nvPr/>
        </p:nvSpPr>
        <p:spPr>
          <a:xfrm>
            <a:off x="201168" y="2834640"/>
            <a:ext cx="2084832" cy="182880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25" name="Shape 19"/>
          <p:cNvSpPr/>
          <p:nvPr/>
        </p:nvSpPr>
        <p:spPr>
          <a:xfrm>
            <a:off x="201168" y="2834640"/>
            <a:ext cx="2084832" cy="54864"/>
          </a:xfrm>
          <a:prstGeom prst="rect">
            <a:avLst/>
          </a:prstGeom>
          <a:solidFill>
            <a:srgbClr val="C792EA"/>
          </a:solidFill>
          <a:ln w="12700">
            <a:solidFill>
              <a:srgbClr val="C792EA"/>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292608" y="2999232"/>
            <a:ext cx="365760" cy="365760"/>
          </a:xfrm>
          <a:prstGeom prst="rect">
            <a:avLst/>
          </a:prstGeom>
        </p:spPr>
      </p:pic>
      <p:sp>
        <p:nvSpPr>
          <p:cNvPr id="27" name="Text 20"/>
          <p:cNvSpPr/>
          <p:nvPr/>
        </p:nvSpPr>
        <p:spPr>
          <a:xfrm>
            <a:off x="749808" y="2999232"/>
            <a:ext cx="1444752" cy="4114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Auth + Profile</a:t>
            </a:r>
            <a:endParaRPr lang="en-US" sz="1050" dirty="0"/>
          </a:p>
        </p:txBody>
      </p:sp>
      <p:sp>
        <p:nvSpPr>
          <p:cNvPr id="28" name="Text 21"/>
          <p:cNvSpPr/>
          <p:nvPr/>
        </p:nvSpPr>
        <p:spPr>
          <a:xfrm>
            <a:off x="292608" y="3520440"/>
            <a:ext cx="1901952" cy="105156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Sign up, sign in, update account, delete account. JWT access/refresh token rotation with role-based session management.</a:t>
            </a:r>
            <a:endParaRPr lang="en-US" sz="950" dirty="0"/>
          </a:p>
        </p:txBody>
      </p:sp>
      <p:sp>
        <p:nvSpPr>
          <p:cNvPr id="29" name="Shape 22"/>
          <p:cNvSpPr/>
          <p:nvPr/>
        </p:nvSpPr>
        <p:spPr>
          <a:xfrm>
            <a:off x="2414016" y="2834640"/>
            <a:ext cx="2084832" cy="182880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30" name="Shape 23"/>
          <p:cNvSpPr/>
          <p:nvPr/>
        </p:nvSpPr>
        <p:spPr>
          <a:xfrm>
            <a:off x="2414016" y="2834640"/>
            <a:ext cx="2084832" cy="54864"/>
          </a:xfrm>
          <a:prstGeom prst="rect">
            <a:avLst/>
          </a:prstGeom>
          <a:solidFill>
            <a:srgbClr val="7BA5A0"/>
          </a:solidFill>
          <a:ln w="12700">
            <a:solidFill>
              <a:srgbClr val="7BA5A0"/>
            </a:solidFill>
            <a:prstDash val="solid"/>
          </a:ln>
        </p:spPr>
        <p:txBody>
          <a:bodyPr/>
          <a:lstStyle/>
          <a:p>
            <a:endParaRPr lang="en-US"/>
          </a:p>
        </p:txBody>
      </p:sp>
      <p:pic>
        <p:nvPicPr>
          <p:cNvPr id="31" name="Image 5" descr="preencoded.png"/>
          <p:cNvPicPr>
            <a:picLocks noChangeAspect="1"/>
          </p:cNvPicPr>
          <p:nvPr/>
        </p:nvPicPr>
        <p:blipFill>
          <a:blip r:embed="rId8"/>
          <a:stretch>
            <a:fillRect/>
          </a:stretch>
        </p:blipFill>
        <p:spPr>
          <a:xfrm>
            <a:off x="2505456" y="2999232"/>
            <a:ext cx="365760" cy="365760"/>
          </a:xfrm>
          <a:prstGeom prst="rect">
            <a:avLst/>
          </a:prstGeom>
        </p:spPr>
      </p:pic>
      <p:sp>
        <p:nvSpPr>
          <p:cNvPr id="32" name="Text 24"/>
          <p:cNvSpPr/>
          <p:nvPr/>
        </p:nvSpPr>
        <p:spPr>
          <a:xfrm>
            <a:off x="2962656" y="2999232"/>
            <a:ext cx="1444752" cy="4114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Trip History &amp; Export</a:t>
            </a:r>
            <a:endParaRPr lang="en-US" sz="1050" dirty="0"/>
          </a:p>
        </p:txBody>
      </p:sp>
      <p:sp>
        <p:nvSpPr>
          <p:cNvPr id="33" name="Text 25"/>
          <p:cNvSpPr/>
          <p:nvPr/>
        </p:nvSpPr>
        <p:spPr>
          <a:xfrm>
            <a:off x="2505456" y="3520440"/>
            <a:ext cx="1901952" cy="105156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Save journeys to your profile. Export any trip as JSON, CSV, or GeoJSON for offline use or integration with other tools.</a:t>
            </a:r>
            <a:endParaRPr lang="en-US" sz="950" dirty="0"/>
          </a:p>
        </p:txBody>
      </p:sp>
      <p:sp>
        <p:nvSpPr>
          <p:cNvPr id="34" name="Shape 26"/>
          <p:cNvSpPr/>
          <p:nvPr/>
        </p:nvSpPr>
        <p:spPr>
          <a:xfrm>
            <a:off x="4626864" y="2834640"/>
            <a:ext cx="2084832" cy="182880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35" name="Shape 27"/>
          <p:cNvSpPr/>
          <p:nvPr/>
        </p:nvSpPr>
        <p:spPr>
          <a:xfrm>
            <a:off x="4626864" y="2834640"/>
            <a:ext cx="2084832" cy="54864"/>
          </a:xfrm>
          <a:prstGeom prst="rect">
            <a:avLst/>
          </a:prstGeom>
          <a:solidFill>
            <a:srgbClr val="E63946"/>
          </a:solidFill>
          <a:ln w="12700">
            <a:solidFill>
              <a:srgbClr val="E63946"/>
            </a:solidFill>
            <a:prstDash val="solid"/>
          </a:ln>
        </p:spPr>
        <p:txBody>
          <a:bodyPr/>
          <a:lstStyle/>
          <a:p>
            <a:endParaRPr lang="en-US"/>
          </a:p>
        </p:txBody>
      </p:sp>
      <p:pic>
        <p:nvPicPr>
          <p:cNvPr id="36" name="Image 6" descr="preencoded.png"/>
          <p:cNvPicPr>
            <a:picLocks noChangeAspect="1"/>
          </p:cNvPicPr>
          <p:nvPr/>
        </p:nvPicPr>
        <p:blipFill>
          <a:blip r:embed="rId9"/>
          <a:stretch>
            <a:fillRect/>
          </a:stretch>
        </p:blipFill>
        <p:spPr>
          <a:xfrm>
            <a:off x="4718304" y="2999232"/>
            <a:ext cx="365760" cy="365760"/>
          </a:xfrm>
          <a:prstGeom prst="rect">
            <a:avLst/>
          </a:prstGeom>
        </p:spPr>
      </p:pic>
      <p:sp>
        <p:nvSpPr>
          <p:cNvPr id="37" name="Text 28"/>
          <p:cNvSpPr/>
          <p:nvPr/>
        </p:nvSpPr>
        <p:spPr>
          <a:xfrm>
            <a:off x="5175504" y="2999232"/>
            <a:ext cx="1444752" cy="4114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Admin Panel (CRUD)</a:t>
            </a:r>
            <a:endParaRPr lang="en-US" sz="1050" dirty="0"/>
          </a:p>
        </p:txBody>
      </p:sp>
      <p:sp>
        <p:nvSpPr>
          <p:cNvPr id="38" name="Text 29"/>
          <p:cNvSpPr/>
          <p:nvPr/>
        </p:nvSpPr>
        <p:spPr>
          <a:xfrm>
            <a:off x="4718304" y="3520440"/>
            <a:ext cx="1901952" cy="105156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Admins manage metro lines, stations, and fare bands directly from the UI — no code changes required after deployment.</a:t>
            </a:r>
            <a:endParaRPr lang="en-US" sz="950" dirty="0"/>
          </a:p>
        </p:txBody>
      </p:sp>
      <p:sp>
        <p:nvSpPr>
          <p:cNvPr id="39" name="Shape 30"/>
          <p:cNvSpPr/>
          <p:nvPr/>
        </p:nvSpPr>
        <p:spPr>
          <a:xfrm>
            <a:off x="6839712" y="2834640"/>
            <a:ext cx="2084832" cy="182880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40" name="Shape 31"/>
          <p:cNvSpPr/>
          <p:nvPr/>
        </p:nvSpPr>
        <p:spPr>
          <a:xfrm>
            <a:off x="6839712" y="2834640"/>
            <a:ext cx="2084832" cy="54864"/>
          </a:xfrm>
          <a:prstGeom prst="rect">
            <a:avLst/>
          </a:prstGeom>
          <a:solidFill>
            <a:srgbClr val="1E8A6E"/>
          </a:solidFill>
          <a:ln w="12700">
            <a:solidFill>
              <a:srgbClr val="1E8A6E"/>
            </a:solidFill>
            <a:prstDash val="solid"/>
          </a:ln>
        </p:spPr>
        <p:txBody>
          <a:bodyPr/>
          <a:lstStyle/>
          <a:p>
            <a:endParaRPr lang="en-US"/>
          </a:p>
        </p:txBody>
      </p:sp>
      <p:pic>
        <p:nvPicPr>
          <p:cNvPr id="41" name="Image 7" descr="preencoded.png"/>
          <p:cNvPicPr>
            <a:picLocks noChangeAspect="1"/>
          </p:cNvPicPr>
          <p:nvPr/>
        </p:nvPicPr>
        <p:blipFill>
          <a:blip r:embed="rId10"/>
          <a:stretch>
            <a:fillRect/>
          </a:stretch>
        </p:blipFill>
        <p:spPr>
          <a:xfrm>
            <a:off x="6931152" y="2999232"/>
            <a:ext cx="365760" cy="365760"/>
          </a:xfrm>
          <a:prstGeom prst="rect">
            <a:avLst/>
          </a:prstGeom>
        </p:spPr>
      </p:pic>
      <p:sp>
        <p:nvSpPr>
          <p:cNvPr id="42" name="Text 32"/>
          <p:cNvSpPr/>
          <p:nvPr/>
        </p:nvSpPr>
        <p:spPr>
          <a:xfrm>
            <a:off x="7388352" y="2999232"/>
            <a:ext cx="1444752" cy="4114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PWA Offline Support</a:t>
            </a:r>
            <a:endParaRPr lang="en-US" sz="1050" dirty="0"/>
          </a:p>
        </p:txBody>
      </p:sp>
      <p:sp>
        <p:nvSpPr>
          <p:cNvPr id="43" name="Text 33"/>
          <p:cNvSpPr/>
          <p:nvPr/>
        </p:nvSpPr>
        <p:spPr>
          <a:xfrm>
            <a:off x="6931152" y="3520440"/>
            <a:ext cx="1901952" cy="105156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Service worker pre-caches core assets and map tiles. Previously visited route pages and map areas work fully offline.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792EA"/>
          </a:solidFill>
          <a:ln w="12700">
            <a:solidFill>
              <a:srgbClr val="C792EA"/>
            </a:solidFill>
            <a:prstDash val="solid"/>
          </a:ln>
        </p:spPr>
        <p:txBody>
          <a:bodyPr/>
          <a:lstStyle/>
          <a:p>
            <a:endParaRPr lang="en-US"/>
          </a:p>
        </p:txBody>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100" b="1" kern="0" spc="200" dirty="0">
                <a:solidFill>
                  <a:srgbClr val="FFFFFF"/>
                </a:solidFill>
                <a:latin typeface="Calibri" pitchFamily="34" charset="0"/>
                <a:ea typeface="Calibri" pitchFamily="34" charset="-122"/>
                <a:cs typeface="Calibri" pitchFamily="34" charset="-120"/>
              </a:rPr>
              <a:t>06  CODE HIGHLIGHT — App.jsx: Session &amp; Map API Pattern</a:t>
            </a:r>
            <a:endParaRPr lang="en-US" sz="2100" dirty="0"/>
          </a:p>
        </p:txBody>
      </p:sp>
      <p:sp>
        <p:nvSpPr>
          <p:cNvPr id="4" name="Shape 2"/>
          <p:cNvSpPr/>
          <p:nvPr/>
        </p:nvSpPr>
        <p:spPr>
          <a:xfrm>
            <a:off x="274320" y="804672"/>
            <a:ext cx="5212080" cy="4114800"/>
          </a:xfrm>
          <a:prstGeom prst="rect">
            <a:avLst/>
          </a:prstGeom>
          <a:solidFill>
            <a:srgbClr val="0A1628"/>
          </a:solidFill>
          <a:ln w="12700">
            <a:solidFill>
              <a:srgbClr val="2D3748"/>
            </a:solidFill>
            <a:prstDash val="solid"/>
          </a:ln>
          <a:effectLst>
            <a:outerShdw blurRad="101600" dist="38100" dir="8100000" algn="bl" rotWithShape="0">
              <a:srgbClr val="000000">
                <a:alpha val="25000"/>
              </a:srgbClr>
            </a:outerShdw>
          </a:effectLst>
        </p:spPr>
        <p:txBody>
          <a:bodyPr/>
          <a:lstStyle/>
          <a:p>
            <a:endParaRPr lang="en-US"/>
          </a:p>
        </p:txBody>
      </p:sp>
      <p:sp>
        <p:nvSpPr>
          <p:cNvPr id="5" name="Shape 3"/>
          <p:cNvSpPr/>
          <p:nvPr/>
        </p:nvSpPr>
        <p:spPr>
          <a:xfrm>
            <a:off x="274320" y="804672"/>
            <a:ext cx="5212080" cy="347472"/>
          </a:xfrm>
          <a:prstGeom prst="rect">
            <a:avLst/>
          </a:prstGeom>
          <a:solidFill>
            <a:srgbClr val="1A2030"/>
          </a:solidFill>
          <a:ln w="12700">
            <a:solidFill>
              <a:srgbClr val="2D3748"/>
            </a:solidFill>
            <a:prstDash val="solid"/>
          </a:ln>
        </p:spPr>
        <p:txBody>
          <a:bodyPr/>
          <a:lstStyle/>
          <a:p>
            <a:endParaRPr lang="en-US"/>
          </a:p>
        </p:txBody>
      </p:sp>
      <p:sp>
        <p:nvSpPr>
          <p:cNvPr id="6" name="Text 4"/>
          <p:cNvSpPr/>
          <p:nvPr/>
        </p:nvSpPr>
        <p:spPr>
          <a:xfrm>
            <a:off x="274320" y="804672"/>
            <a:ext cx="5212080" cy="347472"/>
          </a:xfrm>
          <a:prstGeom prst="rect">
            <a:avLst/>
          </a:prstGeom>
          <a:noFill/>
          <a:ln/>
        </p:spPr>
        <p:txBody>
          <a:bodyPr wrap="square" lIns="0" tIns="0" rIns="0" bIns="0" rtlCol="0" anchor="ctr"/>
          <a:lstStyle/>
          <a:p>
            <a:pPr marL="0" indent="0">
              <a:buNone/>
            </a:pPr>
            <a:r>
              <a:rPr lang="en-US" sz="900" dirty="0">
                <a:solidFill>
                  <a:srgbClr val="7BA5A0"/>
                </a:solidFill>
                <a:latin typeface="Consolas" pitchFamily="34" charset="0"/>
                <a:ea typeface="Consolas" pitchFamily="34" charset="-122"/>
                <a:cs typeface="Consolas" pitchFamily="34" charset="-120"/>
              </a:rPr>
              <a:t>  App.jsx  —  Session restoration + pending map refs</a:t>
            </a:r>
            <a:endParaRPr lang="en-US" sz="900" dirty="0"/>
          </a:p>
        </p:txBody>
      </p:sp>
      <p:sp>
        <p:nvSpPr>
          <p:cNvPr id="7" name="Text 5"/>
          <p:cNvSpPr/>
          <p:nvPr/>
        </p:nvSpPr>
        <p:spPr>
          <a:xfrm>
            <a:off x="384048" y="1261872"/>
            <a:ext cx="5029200" cy="182880"/>
          </a:xfrm>
          <a:prstGeom prst="rect">
            <a:avLst/>
          </a:prstGeom>
          <a:noFill/>
          <a:ln/>
        </p:spPr>
        <p:txBody>
          <a:bodyPr wrap="square" lIns="0" tIns="0" rIns="0" bIns="0" rtlCol="0" anchor="ctr"/>
          <a:lstStyle/>
          <a:p>
            <a:pPr marL="0" indent="0">
              <a:buNone/>
            </a:pPr>
            <a:r>
              <a:rPr lang="en-US" sz="880" dirty="0">
                <a:solidFill>
                  <a:srgbClr val="7BA5A0"/>
                </a:solidFill>
                <a:latin typeface="Consolas" pitchFamily="34" charset="0"/>
                <a:ea typeface="Consolas" pitchFamily="34" charset="-122"/>
                <a:cs typeface="Consolas" pitchFamily="34" charset="-120"/>
              </a:rPr>
              <a:t>// Refs for deferred map actions</a:t>
            </a:r>
            <a:endParaRPr lang="en-US" sz="880" dirty="0"/>
          </a:p>
        </p:txBody>
      </p:sp>
      <p:sp>
        <p:nvSpPr>
          <p:cNvPr id="8" name="Text 6"/>
          <p:cNvSpPr/>
          <p:nvPr/>
        </p:nvSpPr>
        <p:spPr>
          <a:xfrm>
            <a:off x="384048" y="1444752"/>
            <a:ext cx="5029200" cy="182880"/>
          </a:xfrm>
          <a:prstGeom prst="rect">
            <a:avLst/>
          </a:prstGeom>
          <a:noFill/>
          <a:ln/>
        </p:spPr>
        <p:txBody>
          <a:bodyPr wrap="square" lIns="0" tIns="0" rIns="0" bIns="0" rtlCol="0" anchor="ctr"/>
          <a:lstStyle/>
          <a:p>
            <a:pPr marL="0" indent="0">
              <a:buNone/>
            </a:pPr>
            <a:r>
              <a:rPr lang="en-US" sz="880" dirty="0">
                <a:solidFill>
                  <a:srgbClr val="78C1FF"/>
                </a:solidFill>
                <a:latin typeface="Consolas" pitchFamily="34" charset="0"/>
                <a:ea typeface="Consolas" pitchFamily="34" charset="-122"/>
                <a:cs typeface="Consolas" pitchFamily="34" charset="-120"/>
              </a:rPr>
              <a:t>const mapApiRef       = useRef(null);</a:t>
            </a:r>
            <a:endParaRPr lang="en-US" sz="880" dirty="0"/>
          </a:p>
        </p:txBody>
      </p:sp>
      <p:sp>
        <p:nvSpPr>
          <p:cNvPr id="9" name="Text 7"/>
          <p:cNvSpPr/>
          <p:nvPr/>
        </p:nvSpPr>
        <p:spPr>
          <a:xfrm>
            <a:off x="384048" y="1627632"/>
            <a:ext cx="5029200" cy="182880"/>
          </a:xfrm>
          <a:prstGeom prst="rect">
            <a:avLst/>
          </a:prstGeom>
          <a:noFill/>
          <a:ln/>
        </p:spPr>
        <p:txBody>
          <a:bodyPr wrap="square" lIns="0" tIns="0" rIns="0" bIns="0" rtlCol="0" anchor="ctr"/>
          <a:lstStyle/>
          <a:p>
            <a:pPr marL="0" indent="0">
              <a:buNone/>
            </a:pPr>
            <a:r>
              <a:rPr lang="en-US" sz="880" dirty="0">
                <a:solidFill>
                  <a:srgbClr val="78C1FF"/>
                </a:solidFill>
                <a:latin typeface="Consolas" pitchFamily="34" charset="0"/>
                <a:ea typeface="Consolas" pitchFamily="34" charset="-122"/>
                <a:cs typeface="Consolas" pitchFamily="34" charset="-120"/>
              </a:rPr>
              <a:t>const pendingRouteRef = useRef(null);</a:t>
            </a:r>
            <a:endParaRPr lang="en-US" sz="880" dirty="0"/>
          </a:p>
        </p:txBody>
      </p:sp>
      <p:sp>
        <p:nvSpPr>
          <p:cNvPr id="10" name="Text 8"/>
          <p:cNvSpPr/>
          <p:nvPr/>
        </p:nvSpPr>
        <p:spPr>
          <a:xfrm>
            <a:off x="384048" y="1810512"/>
            <a:ext cx="5029200" cy="182880"/>
          </a:xfrm>
          <a:prstGeom prst="rect">
            <a:avLst/>
          </a:prstGeom>
          <a:noFill/>
          <a:ln/>
        </p:spPr>
        <p:txBody>
          <a:bodyPr wrap="square" lIns="0" tIns="0" rIns="0" bIns="0" rtlCol="0" anchor="ctr"/>
          <a:lstStyle/>
          <a:p>
            <a:pPr marL="0" indent="0">
              <a:buNone/>
            </a:pPr>
            <a:r>
              <a:rPr lang="en-US" sz="880" dirty="0">
                <a:solidFill>
                  <a:srgbClr val="78C1FF"/>
                </a:solidFill>
                <a:latin typeface="Consolas" pitchFamily="34" charset="0"/>
                <a:ea typeface="Consolas" pitchFamily="34" charset="-122"/>
                <a:cs typeface="Consolas" pitchFamily="34" charset="-120"/>
              </a:rPr>
              <a:t>const pendingTravelRef= useRef(false);</a:t>
            </a:r>
            <a:endParaRPr lang="en-US" sz="880" dirty="0"/>
          </a:p>
        </p:txBody>
      </p:sp>
      <p:sp>
        <p:nvSpPr>
          <p:cNvPr id="11" name="Text 9"/>
          <p:cNvSpPr/>
          <p:nvPr/>
        </p:nvSpPr>
        <p:spPr>
          <a:xfrm>
            <a:off x="384048" y="1993392"/>
            <a:ext cx="5029200" cy="182880"/>
          </a:xfrm>
          <a:prstGeom prst="rect">
            <a:avLst/>
          </a:prstGeom>
          <a:noFill/>
          <a:ln/>
        </p:spPr>
        <p:txBody>
          <a:bodyPr wrap="square" lIns="0" tIns="0" rIns="0" bIns="0" rtlCol="0" anchor="ctr"/>
          <a:lstStyle/>
          <a:p>
            <a:pPr marL="0" indent="0">
              <a:buNone/>
            </a:pPr>
            <a:endParaRPr lang="en-US" sz="880" dirty="0"/>
          </a:p>
        </p:txBody>
      </p:sp>
      <p:sp>
        <p:nvSpPr>
          <p:cNvPr id="12" name="Text 10"/>
          <p:cNvSpPr/>
          <p:nvPr/>
        </p:nvSpPr>
        <p:spPr>
          <a:xfrm>
            <a:off x="384048" y="2176272"/>
            <a:ext cx="5029200" cy="182880"/>
          </a:xfrm>
          <a:prstGeom prst="rect">
            <a:avLst/>
          </a:prstGeom>
          <a:noFill/>
          <a:ln/>
        </p:spPr>
        <p:txBody>
          <a:bodyPr wrap="square" lIns="0" tIns="0" rIns="0" bIns="0" rtlCol="0" anchor="ctr"/>
          <a:lstStyle/>
          <a:p>
            <a:pPr marL="0" indent="0">
              <a:buNone/>
            </a:pPr>
            <a:r>
              <a:rPr lang="en-US" sz="880" dirty="0">
                <a:solidFill>
                  <a:srgbClr val="7BA5A0"/>
                </a:solidFill>
                <a:latin typeface="Consolas" pitchFamily="34" charset="0"/>
                <a:ea typeface="Consolas" pitchFamily="34" charset="-122"/>
                <a:cs typeface="Consolas" pitchFamily="34" charset="-120"/>
              </a:rPr>
              <a:t>// Called when RoutePlanner map mounts</a:t>
            </a:r>
            <a:endParaRPr lang="en-US" sz="880" dirty="0"/>
          </a:p>
        </p:txBody>
      </p:sp>
      <p:sp>
        <p:nvSpPr>
          <p:cNvPr id="13" name="Text 11"/>
          <p:cNvSpPr/>
          <p:nvPr/>
        </p:nvSpPr>
        <p:spPr>
          <a:xfrm>
            <a:off x="384048" y="2359152"/>
            <a:ext cx="5029200" cy="182880"/>
          </a:xfrm>
          <a:prstGeom prst="rect">
            <a:avLst/>
          </a:prstGeom>
          <a:noFill/>
          <a:ln/>
        </p:spPr>
        <p:txBody>
          <a:bodyPr wrap="square" lIns="0" tIns="0" rIns="0" bIns="0" rtlCol="0" anchor="ctr"/>
          <a:lstStyle/>
          <a:p>
            <a:pPr marL="0" indent="0">
              <a:buNone/>
            </a:pPr>
            <a:r>
              <a:rPr lang="en-US" sz="880" dirty="0">
                <a:solidFill>
                  <a:srgbClr val="FFFFFF"/>
                </a:solidFill>
                <a:latin typeface="Consolas" pitchFamily="34" charset="0"/>
                <a:ea typeface="Consolas" pitchFamily="34" charset="-122"/>
                <a:cs typeface="Consolas" pitchFamily="34" charset="-120"/>
              </a:rPr>
              <a:t>const handleApiReady = useCallback((api) =&gt; {</a:t>
            </a:r>
            <a:endParaRPr lang="en-US" sz="880" dirty="0"/>
          </a:p>
        </p:txBody>
      </p:sp>
      <p:sp>
        <p:nvSpPr>
          <p:cNvPr id="14" name="Text 12"/>
          <p:cNvSpPr/>
          <p:nvPr/>
        </p:nvSpPr>
        <p:spPr>
          <a:xfrm>
            <a:off x="384048" y="2542032"/>
            <a:ext cx="5029200" cy="182880"/>
          </a:xfrm>
          <a:prstGeom prst="rect">
            <a:avLst/>
          </a:prstGeom>
          <a:noFill/>
          <a:ln/>
        </p:spPr>
        <p:txBody>
          <a:bodyPr wrap="square" lIns="0" tIns="0" rIns="0" bIns="0" rtlCol="0" anchor="ctr"/>
          <a:lstStyle/>
          <a:p>
            <a:pPr marL="0" indent="0">
              <a:buNone/>
            </a:pPr>
            <a:r>
              <a:rPr lang="en-US" sz="880" dirty="0">
                <a:solidFill>
                  <a:srgbClr val="A8FF78"/>
                </a:solidFill>
                <a:latin typeface="Consolas" pitchFamily="34" charset="0"/>
                <a:ea typeface="Consolas" pitchFamily="34" charset="-122"/>
                <a:cs typeface="Consolas" pitchFamily="34" charset="-120"/>
              </a:rPr>
              <a:t>  mapApiRef.current = api;</a:t>
            </a:r>
            <a:endParaRPr lang="en-US" sz="880" dirty="0"/>
          </a:p>
        </p:txBody>
      </p:sp>
      <p:sp>
        <p:nvSpPr>
          <p:cNvPr id="15" name="Text 13"/>
          <p:cNvSpPr/>
          <p:nvPr/>
        </p:nvSpPr>
        <p:spPr>
          <a:xfrm>
            <a:off x="384048" y="2724912"/>
            <a:ext cx="5029200" cy="182880"/>
          </a:xfrm>
          <a:prstGeom prst="rect">
            <a:avLst/>
          </a:prstGeom>
          <a:noFill/>
          <a:ln/>
        </p:spPr>
        <p:txBody>
          <a:bodyPr wrap="square" lIns="0" tIns="0" rIns="0" bIns="0" rtlCol="0" anchor="ctr"/>
          <a:lstStyle/>
          <a:p>
            <a:pPr marL="0" indent="0">
              <a:buNone/>
            </a:pPr>
            <a:r>
              <a:rPr lang="en-US" sz="880" dirty="0">
                <a:solidFill>
                  <a:srgbClr val="FFFFFF"/>
                </a:solidFill>
                <a:latin typeface="Consolas" pitchFamily="34" charset="0"/>
                <a:ea typeface="Consolas" pitchFamily="34" charset="-122"/>
                <a:cs typeface="Consolas" pitchFamily="34" charset="-120"/>
              </a:rPr>
              <a:t>  if (api &amp;&amp; pendingRouteRef.current) {</a:t>
            </a:r>
            <a:endParaRPr lang="en-US" sz="880" dirty="0"/>
          </a:p>
        </p:txBody>
      </p:sp>
      <p:sp>
        <p:nvSpPr>
          <p:cNvPr id="16" name="Text 14"/>
          <p:cNvSpPr/>
          <p:nvPr/>
        </p:nvSpPr>
        <p:spPr>
          <a:xfrm>
            <a:off x="384048" y="2907792"/>
            <a:ext cx="5029200" cy="182880"/>
          </a:xfrm>
          <a:prstGeom prst="rect">
            <a:avLst/>
          </a:prstGeom>
          <a:noFill/>
          <a:ln/>
        </p:spPr>
        <p:txBody>
          <a:bodyPr wrap="square" lIns="0" tIns="0" rIns="0" bIns="0" rtlCol="0" anchor="ctr"/>
          <a:lstStyle/>
          <a:p>
            <a:pPr marL="0" indent="0">
              <a:buNone/>
            </a:pPr>
            <a:r>
              <a:rPr lang="en-US" sz="880" dirty="0">
                <a:solidFill>
                  <a:srgbClr val="FFFFFF"/>
                </a:solidFill>
                <a:latin typeface="Consolas" pitchFamily="34" charset="0"/>
                <a:ea typeface="Consolas" pitchFamily="34" charset="-122"/>
                <a:cs typeface="Consolas" pitchFamily="34" charset="-120"/>
              </a:rPr>
              <a:t>    const { route, startLine, endLine,</a:t>
            </a:r>
            <a:endParaRPr lang="en-US" sz="880" dirty="0"/>
          </a:p>
        </p:txBody>
      </p:sp>
      <p:sp>
        <p:nvSpPr>
          <p:cNvPr id="17" name="Text 15"/>
          <p:cNvSpPr/>
          <p:nvPr/>
        </p:nvSpPr>
        <p:spPr>
          <a:xfrm>
            <a:off x="384048" y="3090672"/>
            <a:ext cx="5029200" cy="182880"/>
          </a:xfrm>
          <a:prstGeom prst="rect">
            <a:avLst/>
          </a:prstGeom>
          <a:noFill/>
          <a:ln/>
        </p:spPr>
        <p:txBody>
          <a:bodyPr wrap="square" lIns="0" tIns="0" rIns="0" bIns="0" rtlCol="0" anchor="ctr"/>
          <a:lstStyle/>
          <a:p>
            <a:pPr marL="0" indent="0">
              <a:buNone/>
            </a:pPr>
            <a:r>
              <a:rPr lang="en-US" sz="880" dirty="0">
                <a:solidFill>
                  <a:srgbClr val="FFFFFF"/>
                </a:solidFill>
                <a:latin typeface="Consolas" pitchFamily="34" charset="0"/>
                <a:ea typeface="Consolas" pitchFamily="34" charset="-122"/>
                <a:cs typeface="Consolas" pitchFamily="34" charset="-120"/>
              </a:rPr>
              <a:t>            transferStation } =</a:t>
            </a:r>
            <a:endParaRPr lang="en-US" sz="880" dirty="0"/>
          </a:p>
        </p:txBody>
      </p:sp>
      <p:sp>
        <p:nvSpPr>
          <p:cNvPr id="18" name="Text 16"/>
          <p:cNvSpPr/>
          <p:nvPr/>
        </p:nvSpPr>
        <p:spPr>
          <a:xfrm>
            <a:off x="384048" y="3273552"/>
            <a:ext cx="5029200" cy="182880"/>
          </a:xfrm>
          <a:prstGeom prst="rect">
            <a:avLst/>
          </a:prstGeom>
          <a:noFill/>
          <a:ln/>
        </p:spPr>
        <p:txBody>
          <a:bodyPr wrap="square" lIns="0" tIns="0" rIns="0" bIns="0" rtlCol="0" anchor="ctr"/>
          <a:lstStyle/>
          <a:p>
            <a:pPr marL="0" indent="0">
              <a:buNone/>
            </a:pPr>
            <a:r>
              <a:rPr lang="en-US" sz="880" dirty="0">
                <a:solidFill>
                  <a:srgbClr val="FFFFFF"/>
                </a:solidFill>
                <a:latin typeface="Consolas" pitchFamily="34" charset="0"/>
                <a:ea typeface="Consolas" pitchFamily="34" charset="-122"/>
                <a:cs typeface="Consolas" pitchFamily="34" charset="-120"/>
              </a:rPr>
              <a:t>              pendingRouteRef.current;</a:t>
            </a:r>
            <a:endParaRPr lang="en-US" sz="880" dirty="0"/>
          </a:p>
        </p:txBody>
      </p:sp>
      <p:sp>
        <p:nvSpPr>
          <p:cNvPr id="19" name="Text 17"/>
          <p:cNvSpPr/>
          <p:nvPr/>
        </p:nvSpPr>
        <p:spPr>
          <a:xfrm>
            <a:off x="384048" y="3456432"/>
            <a:ext cx="5029200" cy="182880"/>
          </a:xfrm>
          <a:prstGeom prst="rect">
            <a:avLst/>
          </a:prstGeom>
          <a:noFill/>
          <a:ln/>
        </p:spPr>
        <p:txBody>
          <a:bodyPr wrap="square" lIns="0" tIns="0" rIns="0" bIns="0" rtlCol="0" anchor="ctr"/>
          <a:lstStyle/>
          <a:p>
            <a:pPr marL="0" indent="0">
              <a:buNone/>
            </a:pPr>
            <a:r>
              <a:rPr lang="en-US" sz="880" dirty="0">
                <a:solidFill>
                  <a:srgbClr val="FFD580"/>
                </a:solidFill>
                <a:latin typeface="Consolas" pitchFamily="34" charset="0"/>
                <a:ea typeface="Consolas" pitchFamily="34" charset="-122"/>
                <a:cs typeface="Consolas" pitchFamily="34" charset="-120"/>
              </a:rPr>
              <a:t>    api.showRoute?.(route, startLine,</a:t>
            </a:r>
            <a:endParaRPr lang="en-US" sz="880" dirty="0"/>
          </a:p>
        </p:txBody>
      </p:sp>
      <p:sp>
        <p:nvSpPr>
          <p:cNvPr id="20" name="Text 18"/>
          <p:cNvSpPr/>
          <p:nvPr/>
        </p:nvSpPr>
        <p:spPr>
          <a:xfrm>
            <a:off x="384048" y="3639312"/>
            <a:ext cx="5029200" cy="182880"/>
          </a:xfrm>
          <a:prstGeom prst="rect">
            <a:avLst/>
          </a:prstGeom>
          <a:noFill/>
          <a:ln/>
        </p:spPr>
        <p:txBody>
          <a:bodyPr wrap="square" lIns="0" tIns="0" rIns="0" bIns="0" rtlCol="0" anchor="ctr"/>
          <a:lstStyle/>
          <a:p>
            <a:pPr marL="0" indent="0">
              <a:buNone/>
            </a:pPr>
            <a:r>
              <a:rPr lang="en-US" sz="880" dirty="0">
                <a:solidFill>
                  <a:srgbClr val="FFD580"/>
                </a:solidFill>
                <a:latin typeface="Consolas" pitchFamily="34" charset="0"/>
                <a:ea typeface="Consolas" pitchFamily="34" charset="-122"/>
                <a:cs typeface="Consolas" pitchFamily="34" charset="-120"/>
              </a:rPr>
              <a:t>                  endLine, transferStation);</a:t>
            </a:r>
            <a:endParaRPr lang="en-US" sz="880" dirty="0"/>
          </a:p>
        </p:txBody>
      </p:sp>
      <p:sp>
        <p:nvSpPr>
          <p:cNvPr id="21" name="Text 19"/>
          <p:cNvSpPr/>
          <p:nvPr/>
        </p:nvSpPr>
        <p:spPr>
          <a:xfrm>
            <a:off x="384048" y="3822192"/>
            <a:ext cx="5029200" cy="182880"/>
          </a:xfrm>
          <a:prstGeom prst="rect">
            <a:avLst/>
          </a:prstGeom>
          <a:noFill/>
          <a:ln/>
        </p:spPr>
        <p:txBody>
          <a:bodyPr wrap="square" lIns="0" tIns="0" rIns="0" bIns="0" rtlCol="0" anchor="ctr"/>
          <a:lstStyle/>
          <a:p>
            <a:pPr marL="0" indent="0">
              <a:buNone/>
            </a:pPr>
            <a:r>
              <a:rPr lang="en-US" sz="880" dirty="0">
                <a:solidFill>
                  <a:srgbClr val="A8FF78"/>
                </a:solidFill>
                <a:latin typeface="Consolas" pitchFamily="34" charset="0"/>
                <a:ea typeface="Consolas" pitchFamily="34" charset="-122"/>
                <a:cs typeface="Consolas" pitchFamily="34" charset="-120"/>
              </a:rPr>
              <a:t>    pendingRouteRef.current = null;</a:t>
            </a:r>
            <a:endParaRPr lang="en-US" sz="880" dirty="0"/>
          </a:p>
        </p:txBody>
      </p:sp>
      <p:sp>
        <p:nvSpPr>
          <p:cNvPr id="22" name="Text 20"/>
          <p:cNvSpPr/>
          <p:nvPr/>
        </p:nvSpPr>
        <p:spPr>
          <a:xfrm>
            <a:off x="384048" y="4005072"/>
            <a:ext cx="5029200" cy="182880"/>
          </a:xfrm>
          <a:prstGeom prst="rect">
            <a:avLst/>
          </a:prstGeom>
          <a:noFill/>
          <a:ln/>
        </p:spPr>
        <p:txBody>
          <a:bodyPr wrap="square" lIns="0" tIns="0" rIns="0" bIns="0" rtlCol="0" anchor="ctr"/>
          <a:lstStyle/>
          <a:p>
            <a:pPr marL="0" indent="0">
              <a:buNone/>
            </a:pPr>
            <a:r>
              <a:rPr lang="en-US" sz="880" dirty="0">
                <a:solidFill>
                  <a:srgbClr val="FFFFFF"/>
                </a:solidFill>
                <a:latin typeface="Consolas" pitchFamily="34" charset="0"/>
                <a:ea typeface="Consolas" pitchFamily="34" charset="-122"/>
                <a:cs typeface="Consolas" pitchFamily="34" charset="-120"/>
              </a:rPr>
              <a:t>  }</a:t>
            </a:r>
            <a:endParaRPr lang="en-US" sz="880" dirty="0"/>
          </a:p>
        </p:txBody>
      </p:sp>
      <p:sp>
        <p:nvSpPr>
          <p:cNvPr id="23" name="Text 21"/>
          <p:cNvSpPr/>
          <p:nvPr/>
        </p:nvSpPr>
        <p:spPr>
          <a:xfrm>
            <a:off x="384048" y="4187952"/>
            <a:ext cx="5029200" cy="182880"/>
          </a:xfrm>
          <a:prstGeom prst="rect">
            <a:avLst/>
          </a:prstGeom>
          <a:noFill/>
          <a:ln/>
        </p:spPr>
        <p:txBody>
          <a:bodyPr wrap="square" lIns="0" tIns="0" rIns="0" bIns="0" rtlCol="0" anchor="ctr"/>
          <a:lstStyle/>
          <a:p>
            <a:pPr marL="0" indent="0">
              <a:buNone/>
            </a:pPr>
            <a:r>
              <a:rPr lang="en-US" sz="880" dirty="0">
                <a:solidFill>
                  <a:srgbClr val="FFFFFF"/>
                </a:solidFill>
                <a:latin typeface="Consolas" pitchFamily="34" charset="0"/>
                <a:ea typeface="Consolas" pitchFamily="34" charset="-122"/>
                <a:cs typeface="Consolas" pitchFamily="34" charset="-120"/>
              </a:rPr>
              <a:t>}, []);</a:t>
            </a:r>
            <a:endParaRPr lang="en-US" sz="880" dirty="0"/>
          </a:p>
        </p:txBody>
      </p:sp>
      <p:sp>
        <p:nvSpPr>
          <p:cNvPr id="24" name="Shape 22"/>
          <p:cNvSpPr/>
          <p:nvPr/>
        </p:nvSpPr>
        <p:spPr>
          <a:xfrm>
            <a:off x="5669280" y="804672"/>
            <a:ext cx="3200400" cy="411480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25" name="Shape 23"/>
          <p:cNvSpPr/>
          <p:nvPr/>
        </p:nvSpPr>
        <p:spPr>
          <a:xfrm>
            <a:off x="5669280" y="804672"/>
            <a:ext cx="64008" cy="4114800"/>
          </a:xfrm>
          <a:prstGeom prst="rect">
            <a:avLst/>
          </a:prstGeom>
          <a:solidFill>
            <a:srgbClr val="C792EA"/>
          </a:solidFill>
          <a:ln w="12700">
            <a:solidFill>
              <a:srgbClr val="C792EA"/>
            </a:solidFill>
            <a:prstDash val="solid"/>
          </a:ln>
        </p:spPr>
        <p:txBody>
          <a:bodyPr/>
          <a:lstStyle/>
          <a:p>
            <a:endParaRPr lang="en-US"/>
          </a:p>
        </p:txBody>
      </p:sp>
      <p:sp>
        <p:nvSpPr>
          <p:cNvPr id="26" name="Text 24"/>
          <p:cNvSpPr/>
          <p:nvPr/>
        </p:nvSpPr>
        <p:spPr>
          <a:xfrm>
            <a:off x="5852160" y="914400"/>
            <a:ext cx="2834640" cy="594360"/>
          </a:xfrm>
          <a:prstGeom prst="rect">
            <a:avLst/>
          </a:prstGeom>
          <a:noFill/>
          <a:ln/>
        </p:spPr>
        <p:txBody>
          <a:bodyPr wrap="square" lIns="0" tIns="0" rIns="0" bIns="0" rtlCol="0" anchor="ctr"/>
          <a:lstStyle/>
          <a:p>
            <a:pPr marL="0" indent="0">
              <a:lnSpc>
                <a:spcPct val="130000"/>
              </a:lnSpc>
              <a:buNone/>
            </a:pPr>
            <a:r>
              <a:rPr lang="en-US" sz="1300" b="1" dirty="0">
                <a:solidFill>
                  <a:srgbClr val="C792EA"/>
                </a:solidFill>
                <a:latin typeface="Calibri" pitchFamily="34" charset="0"/>
                <a:ea typeface="Calibri" pitchFamily="34" charset="-122"/>
                <a:cs typeface="Calibri" pitchFamily="34" charset="-120"/>
              </a:rPr>
              <a:t>Design Pattern:</a:t>
            </a:r>
            <a:endParaRPr lang="en-US" sz="1300" dirty="0"/>
          </a:p>
          <a:p>
            <a:pPr marL="0" indent="0">
              <a:lnSpc>
                <a:spcPct val="130000"/>
              </a:lnSpc>
              <a:buNone/>
            </a:pPr>
            <a:r>
              <a:rPr lang="en-US" sz="1300" b="1" dirty="0">
                <a:solidFill>
                  <a:srgbClr val="C792EA"/>
                </a:solidFill>
                <a:latin typeface="Calibri" pitchFamily="34" charset="0"/>
                <a:ea typeface="Calibri" pitchFamily="34" charset="-122"/>
                <a:cs typeface="Calibri" pitchFamily="34" charset="-120"/>
              </a:rPr>
              <a:t>Imperative Map API</a:t>
            </a:r>
            <a:endParaRPr lang="en-US" sz="1300" dirty="0"/>
          </a:p>
        </p:txBody>
      </p:sp>
      <p:sp>
        <p:nvSpPr>
          <p:cNvPr id="27" name="Text 25"/>
          <p:cNvSpPr/>
          <p:nvPr/>
        </p:nvSpPr>
        <p:spPr>
          <a:xfrm>
            <a:off x="5852160" y="1600200"/>
            <a:ext cx="2834640" cy="3154680"/>
          </a:xfrm>
          <a:prstGeom prst="rect">
            <a:avLst/>
          </a:prstGeom>
          <a:noFill/>
          <a:ln/>
        </p:spPr>
        <p:txBody>
          <a:bodyPr wrap="square" lIns="0" tIns="0" rIns="0" bIns="0" rtlCol="0" anchor="ctr"/>
          <a:lstStyle/>
          <a:p>
            <a:pPr marL="0" indent="0">
              <a:lnSpc>
                <a:spcPct val="145000"/>
              </a:lnSpc>
              <a:buNone/>
            </a:pPr>
            <a:r>
              <a:rPr lang="en-US" sz="1050" dirty="0">
                <a:solidFill>
                  <a:srgbClr val="D4E8E0"/>
                </a:solidFill>
                <a:latin typeface="Calibri" pitchFamily="34" charset="0"/>
                <a:ea typeface="Calibri" pitchFamily="34" charset="-122"/>
                <a:cs typeface="Calibri" pitchFamily="34" charset="-120"/>
              </a:rPr>
              <a:t>The RoutePlanner component exposes an API object via a callback (onMapApiReady). App.jsx stores this in a ref — not state — so calling map methods never triggers a re-render.</a:t>
            </a:r>
            <a:endParaRPr lang="en-US" sz="1050" dirty="0"/>
          </a:p>
          <a:p>
            <a:pPr marL="0" indent="0">
              <a:lnSpc>
                <a:spcPct val="145000"/>
              </a:lnSpc>
              <a:buNone/>
            </a:pPr>
            <a:endParaRPr lang="en-US" sz="1050" dirty="0"/>
          </a:p>
          <a:p>
            <a:pPr marL="0" indent="0">
              <a:lnSpc>
                <a:spcPct val="145000"/>
              </a:lnSpc>
              <a:buNone/>
            </a:pPr>
            <a:r>
              <a:rPr lang="en-US" sz="1050" dirty="0">
                <a:solidFill>
                  <a:srgbClr val="D4E8E0"/>
                </a:solidFill>
                <a:latin typeface="Calibri" pitchFamily="34" charset="0"/>
                <a:ea typeface="Calibri" pitchFamily="34" charset="-122"/>
                <a:cs typeface="Calibri" pitchFamily="34" charset="-120"/>
              </a:rPr>
              <a:t>The 'pending ref' pattern solves a race condition:</a:t>
            </a:r>
            <a:endParaRPr lang="en-US" sz="1050" dirty="0"/>
          </a:p>
          <a:p>
            <a:pPr marL="0" indent="0">
              <a:lnSpc>
                <a:spcPct val="145000"/>
              </a:lnSpc>
              <a:buNone/>
            </a:pPr>
            <a:endParaRPr lang="en-US" sz="1050" dirty="0"/>
          </a:p>
          <a:p>
            <a:pPr marL="0" indent="0">
              <a:lnSpc>
                <a:spcPct val="145000"/>
              </a:lnSpc>
              <a:buNone/>
            </a:pPr>
            <a:r>
              <a:rPr lang="en-US" sz="1050" dirty="0">
                <a:solidFill>
                  <a:srgbClr val="D4E8E0"/>
                </a:solidFill>
                <a:latin typeface="Calibri" pitchFamily="34" charset="0"/>
                <a:ea typeface="Calibri" pitchFamily="34" charset="-122"/>
                <a:cs typeface="Calibri" pitchFamily="34" charset="-120"/>
              </a:rPr>
              <a:t>If the user triggers 'Show Route' before the map has mounted, the route is saved in pendingRouteRef. The moment the map calls back with its API, the pending action is flushed immediately.</a:t>
            </a:r>
            <a:endParaRPr lang="en-US" sz="1050" dirty="0"/>
          </a:p>
          <a:p>
            <a:pPr marL="0" indent="0">
              <a:lnSpc>
                <a:spcPct val="145000"/>
              </a:lnSpc>
              <a:buNone/>
            </a:pPr>
            <a:endParaRPr lang="en-US" sz="1050" dirty="0"/>
          </a:p>
          <a:p>
            <a:pPr marL="0" indent="0">
              <a:lnSpc>
                <a:spcPct val="145000"/>
              </a:lnSpc>
              <a:buNone/>
            </a:pPr>
            <a:r>
              <a:rPr lang="en-US" sz="1050" dirty="0">
                <a:solidFill>
                  <a:srgbClr val="D4E8E0"/>
                </a:solidFill>
                <a:latin typeface="Calibri" pitchFamily="34" charset="0"/>
                <a:ea typeface="Calibri" pitchFamily="34" charset="-122"/>
                <a:cs typeface="Calibri" pitchFamily="34" charset="-120"/>
              </a:rPr>
              <a:t>This keeps the map decoupled from the planner logic while preserving correct behavior across all navigation timing scenarios.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5A623"/>
          </a:solidFill>
          <a:ln w="12700">
            <a:solidFill>
              <a:srgbClr val="F5A623"/>
            </a:solidFill>
            <a:prstDash val="solid"/>
          </a:ln>
        </p:spPr>
        <p:txBody>
          <a:bodyPr/>
          <a:lstStyle/>
          <a:p>
            <a:endParaRPr lang="en-US"/>
          </a:p>
        </p:txBody>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100" b="1" kern="0" spc="200" dirty="0">
                <a:solidFill>
                  <a:srgbClr val="FFFFFF"/>
                </a:solidFill>
                <a:latin typeface="Calibri" pitchFamily="34" charset="0"/>
                <a:ea typeface="Calibri" pitchFamily="34" charset="-122"/>
                <a:cs typeface="Calibri" pitchFamily="34" charset="-120"/>
              </a:rPr>
              <a:t>06  CODE HIGHLIGHT — Session Persistence &amp; Auth Flow</a:t>
            </a:r>
            <a:endParaRPr lang="en-US" sz="2100" dirty="0"/>
          </a:p>
        </p:txBody>
      </p:sp>
      <p:sp>
        <p:nvSpPr>
          <p:cNvPr id="4" name="Shape 2"/>
          <p:cNvSpPr/>
          <p:nvPr/>
        </p:nvSpPr>
        <p:spPr>
          <a:xfrm>
            <a:off x="274320" y="804672"/>
            <a:ext cx="5029200" cy="4114800"/>
          </a:xfrm>
          <a:prstGeom prst="rect">
            <a:avLst/>
          </a:prstGeom>
          <a:solidFill>
            <a:srgbClr val="0A1628"/>
          </a:solidFill>
          <a:ln w="12700">
            <a:solidFill>
              <a:srgbClr val="2D3748"/>
            </a:solidFill>
            <a:prstDash val="solid"/>
          </a:ln>
          <a:effectLst>
            <a:outerShdw blurRad="101600" dist="38100" dir="8100000" algn="bl" rotWithShape="0">
              <a:srgbClr val="000000">
                <a:alpha val="25000"/>
              </a:srgbClr>
            </a:outerShdw>
          </a:effectLst>
        </p:spPr>
        <p:txBody>
          <a:bodyPr/>
          <a:lstStyle/>
          <a:p>
            <a:endParaRPr lang="en-US"/>
          </a:p>
        </p:txBody>
      </p:sp>
      <p:sp>
        <p:nvSpPr>
          <p:cNvPr id="5" name="Shape 3"/>
          <p:cNvSpPr/>
          <p:nvPr/>
        </p:nvSpPr>
        <p:spPr>
          <a:xfrm>
            <a:off x="274320" y="804672"/>
            <a:ext cx="5029200" cy="347472"/>
          </a:xfrm>
          <a:prstGeom prst="rect">
            <a:avLst/>
          </a:prstGeom>
          <a:solidFill>
            <a:srgbClr val="1A2030"/>
          </a:solidFill>
          <a:ln w="12700">
            <a:solidFill>
              <a:srgbClr val="2D3748"/>
            </a:solidFill>
            <a:prstDash val="solid"/>
          </a:ln>
        </p:spPr>
        <p:txBody>
          <a:bodyPr/>
          <a:lstStyle/>
          <a:p>
            <a:endParaRPr lang="en-US"/>
          </a:p>
        </p:txBody>
      </p:sp>
      <p:sp>
        <p:nvSpPr>
          <p:cNvPr id="6" name="Text 4"/>
          <p:cNvSpPr/>
          <p:nvPr/>
        </p:nvSpPr>
        <p:spPr>
          <a:xfrm>
            <a:off x="274320" y="804672"/>
            <a:ext cx="5029200" cy="347472"/>
          </a:xfrm>
          <a:prstGeom prst="rect">
            <a:avLst/>
          </a:prstGeom>
          <a:noFill/>
          <a:ln/>
        </p:spPr>
        <p:txBody>
          <a:bodyPr wrap="square" lIns="0" tIns="0" rIns="0" bIns="0" rtlCol="0" anchor="ctr"/>
          <a:lstStyle/>
          <a:p>
            <a:pPr marL="0" indent="0">
              <a:buNone/>
            </a:pPr>
            <a:r>
              <a:rPr lang="en-US" sz="900" dirty="0">
                <a:solidFill>
                  <a:srgbClr val="7BA5A0"/>
                </a:solidFill>
                <a:latin typeface="Consolas" pitchFamily="34" charset="0"/>
                <a:ea typeface="Consolas" pitchFamily="34" charset="-122"/>
                <a:cs typeface="Consolas" pitchFamily="34" charset="-120"/>
              </a:rPr>
              <a:t>  App.jsx — handleSignIn  +  restoreSession</a:t>
            </a:r>
            <a:endParaRPr lang="en-US" sz="900" dirty="0"/>
          </a:p>
        </p:txBody>
      </p:sp>
      <p:sp>
        <p:nvSpPr>
          <p:cNvPr id="7" name="Text 5"/>
          <p:cNvSpPr/>
          <p:nvPr/>
        </p:nvSpPr>
        <p:spPr>
          <a:xfrm>
            <a:off x="384048" y="1261872"/>
            <a:ext cx="4754880" cy="160020"/>
          </a:xfrm>
          <a:prstGeom prst="rect">
            <a:avLst/>
          </a:prstGeom>
          <a:noFill/>
          <a:ln/>
        </p:spPr>
        <p:txBody>
          <a:bodyPr wrap="square" lIns="0" tIns="0" rIns="0" bIns="0" rtlCol="0" anchor="ctr"/>
          <a:lstStyle/>
          <a:p>
            <a:pPr marL="0" indent="0">
              <a:buNone/>
            </a:pPr>
            <a:r>
              <a:rPr lang="en-US" sz="850" dirty="0">
                <a:solidFill>
                  <a:srgbClr val="7BA5A0"/>
                </a:solidFill>
                <a:latin typeface="Consolas" pitchFamily="34" charset="0"/>
                <a:ea typeface="Consolas" pitchFamily="34" charset="-122"/>
                <a:cs typeface="Consolas" pitchFamily="34" charset="-120"/>
              </a:rPr>
              <a:t>// Restore session on load</a:t>
            </a:r>
            <a:endParaRPr lang="en-US" sz="850" dirty="0"/>
          </a:p>
        </p:txBody>
      </p:sp>
      <p:sp>
        <p:nvSpPr>
          <p:cNvPr id="8" name="Text 6"/>
          <p:cNvSpPr/>
          <p:nvPr/>
        </p:nvSpPr>
        <p:spPr>
          <a:xfrm>
            <a:off x="384048" y="1421892"/>
            <a:ext cx="4754880" cy="160020"/>
          </a:xfrm>
          <a:prstGeom prst="rect">
            <a:avLst/>
          </a:prstGeom>
          <a:noFill/>
          <a:ln/>
        </p:spPr>
        <p:txBody>
          <a:bodyPr wrap="square" lIns="0" tIns="0" rIns="0" bIns="0" rtlCol="0" anchor="ctr"/>
          <a:lstStyle/>
          <a:p>
            <a:pPr marL="0" indent="0">
              <a:buNone/>
            </a:pPr>
            <a:r>
              <a:rPr lang="en-US" sz="850" dirty="0">
                <a:solidFill>
                  <a:srgbClr val="FFFFFF"/>
                </a:solidFill>
                <a:latin typeface="Consolas" pitchFamily="34" charset="0"/>
                <a:ea typeface="Consolas" pitchFamily="34" charset="-122"/>
                <a:cs typeface="Consolas" pitchFamily="34" charset="-120"/>
              </a:rPr>
              <a:t>useEffect(() =&gt; {</a:t>
            </a:r>
            <a:endParaRPr lang="en-US" sz="850" dirty="0"/>
          </a:p>
        </p:txBody>
      </p:sp>
      <p:sp>
        <p:nvSpPr>
          <p:cNvPr id="9" name="Text 7"/>
          <p:cNvSpPr/>
          <p:nvPr/>
        </p:nvSpPr>
        <p:spPr>
          <a:xfrm>
            <a:off x="384048" y="1581912"/>
            <a:ext cx="4754880" cy="160020"/>
          </a:xfrm>
          <a:prstGeom prst="rect">
            <a:avLst/>
          </a:prstGeom>
          <a:noFill/>
          <a:ln/>
        </p:spPr>
        <p:txBody>
          <a:bodyPr wrap="square" lIns="0" tIns="0" rIns="0" bIns="0" rtlCol="0" anchor="ctr"/>
          <a:lstStyle/>
          <a:p>
            <a:pPr marL="0" indent="0">
              <a:buNone/>
            </a:pPr>
            <a:r>
              <a:rPr lang="en-US" sz="850" dirty="0">
                <a:solidFill>
                  <a:srgbClr val="78C1FF"/>
                </a:solidFill>
                <a:latin typeface="Consolas" pitchFamily="34" charset="0"/>
                <a:ea typeface="Consolas" pitchFamily="34" charset="-122"/>
                <a:cs typeface="Consolas" pitchFamily="34" charset="-120"/>
              </a:rPr>
              <a:t>  const session = safeReadJson(KEY, null);</a:t>
            </a:r>
            <a:endParaRPr lang="en-US" sz="850" dirty="0"/>
          </a:p>
        </p:txBody>
      </p:sp>
      <p:sp>
        <p:nvSpPr>
          <p:cNvPr id="10" name="Text 8"/>
          <p:cNvSpPr/>
          <p:nvPr/>
        </p:nvSpPr>
        <p:spPr>
          <a:xfrm>
            <a:off x="384048" y="1741932"/>
            <a:ext cx="4754880" cy="160020"/>
          </a:xfrm>
          <a:prstGeom prst="rect">
            <a:avLst/>
          </a:prstGeom>
          <a:noFill/>
          <a:ln/>
        </p:spPr>
        <p:txBody>
          <a:bodyPr wrap="square" lIns="0" tIns="0" rIns="0" bIns="0" rtlCol="0" anchor="ctr"/>
          <a:lstStyle/>
          <a:p>
            <a:pPr marL="0" indent="0">
              <a:buNone/>
            </a:pPr>
            <a:r>
              <a:rPr lang="en-US" sz="850" dirty="0">
                <a:solidFill>
                  <a:srgbClr val="FFFFFF"/>
                </a:solidFill>
                <a:latin typeface="Consolas" pitchFamily="34" charset="0"/>
                <a:ea typeface="Consolas" pitchFamily="34" charset="-122"/>
                <a:cs typeface="Consolas" pitchFamily="34" charset="-120"/>
              </a:rPr>
              <a:t>  if (!session?.accessToken) return;</a:t>
            </a:r>
            <a:endParaRPr lang="en-US" sz="850" dirty="0"/>
          </a:p>
        </p:txBody>
      </p:sp>
      <p:sp>
        <p:nvSpPr>
          <p:cNvPr id="11" name="Text 9"/>
          <p:cNvSpPr/>
          <p:nvPr/>
        </p:nvSpPr>
        <p:spPr>
          <a:xfrm>
            <a:off x="384048" y="1901952"/>
            <a:ext cx="4754880" cy="160020"/>
          </a:xfrm>
          <a:prstGeom prst="rect">
            <a:avLst/>
          </a:prstGeom>
          <a:noFill/>
          <a:ln/>
        </p:spPr>
        <p:txBody>
          <a:bodyPr wrap="square" lIns="0" tIns="0" rIns="0" bIns="0" rtlCol="0" anchor="ctr"/>
          <a:lstStyle/>
          <a:p>
            <a:pPr marL="0" indent="0">
              <a:buNone/>
            </a:pPr>
            <a:endParaRPr lang="en-US" sz="850" dirty="0"/>
          </a:p>
        </p:txBody>
      </p:sp>
      <p:sp>
        <p:nvSpPr>
          <p:cNvPr id="12" name="Text 10"/>
          <p:cNvSpPr/>
          <p:nvPr/>
        </p:nvSpPr>
        <p:spPr>
          <a:xfrm>
            <a:off x="384048" y="2061972"/>
            <a:ext cx="4754880" cy="160020"/>
          </a:xfrm>
          <a:prstGeom prst="rect">
            <a:avLst/>
          </a:prstGeom>
          <a:noFill/>
          <a:ln/>
        </p:spPr>
        <p:txBody>
          <a:bodyPr wrap="square" lIns="0" tIns="0" rIns="0" bIns="0" rtlCol="0" anchor="ctr"/>
          <a:lstStyle/>
          <a:p>
            <a:pPr marL="0" indent="0">
              <a:buNone/>
            </a:pPr>
            <a:r>
              <a:rPr lang="en-US" sz="850" dirty="0">
                <a:solidFill>
                  <a:srgbClr val="FFFFFF"/>
                </a:solidFill>
                <a:latin typeface="Consolas" pitchFamily="34" charset="0"/>
                <a:ea typeface="Consolas" pitchFamily="34" charset="-122"/>
                <a:cs typeface="Consolas" pitchFamily="34" charset="-120"/>
              </a:rPr>
              <a:t>  const me = await getCurrentUser(</a:t>
            </a:r>
            <a:endParaRPr lang="en-US" sz="850" dirty="0"/>
          </a:p>
        </p:txBody>
      </p:sp>
      <p:sp>
        <p:nvSpPr>
          <p:cNvPr id="13" name="Text 11"/>
          <p:cNvSpPr/>
          <p:nvPr/>
        </p:nvSpPr>
        <p:spPr>
          <a:xfrm>
            <a:off x="384048" y="2221992"/>
            <a:ext cx="4754880" cy="160020"/>
          </a:xfrm>
          <a:prstGeom prst="rect">
            <a:avLst/>
          </a:prstGeom>
          <a:noFill/>
          <a:ln/>
        </p:spPr>
        <p:txBody>
          <a:bodyPr wrap="square" lIns="0" tIns="0" rIns="0" bIns="0" rtlCol="0" anchor="ctr"/>
          <a:lstStyle/>
          <a:p>
            <a:pPr marL="0" indent="0">
              <a:buNone/>
            </a:pPr>
            <a:r>
              <a:rPr lang="en-US" sz="850" dirty="0">
                <a:solidFill>
                  <a:srgbClr val="FFFFFF"/>
                </a:solidFill>
                <a:latin typeface="Consolas" pitchFamily="34" charset="0"/>
                <a:ea typeface="Consolas" pitchFamily="34" charset="-122"/>
                <a:cs typeface="Consolas" pitchFamily="34" charset="-120"/>
              </a:rPr>
              <a:t>               session.accessToken);</a:t>
            </a:r>
            <a:endParaRPr lang="en-US" sz="850" dirty="0"/>
          </a:p>
        </p:txBody>
      </p:sp>
      <p:sp>
        <p:nvSpPr>
          <p:cNvPr id="14" name="Text 12"/>
          <p:cNvSpPr/>
          <p:nvPr/>
        </p:nvSpPr>
        <p:spPr>
          <a:xfrm>
            <a:off x="384048" y="2382012"/>
            <a:ext cx="4754880" cy="160020"/>
          </a:xfrm>
          <a:prstGeom prst="rect">
            <a:avLst/>
          </a:prstGeom>
          <a:noFill/>
          <a:ln/>
        </p:spPr>
        <p:txBody>
          <a:bodyPr wrap="square" lIns="0" tIns="0" rIns="0" bIns="0" rtlCol="0" anchor="ctr"/>
          <a:lstStyle/>
          <a:p>
            <a:pPr marL="0" indent="0">
              <a:buNone/>
            </a:pPr>
            <a:r>
              <a:rPr lang="en-US" sz="850" dirty="0">
                <a:solidFill>
                  <a:srgbClr val="FFFFFF"/>
                </a:solidFill>
                <a:latin typeface="Consolas" pitchFamily="34" charset="0"/>
                <a:ea typeface="Consolas" pitchFamily="34" charset="-122"/>
                <a:cs typeface="Consolas" pitchFamily="34" charset="-120"/>
              </a:rPr>
              <a:t>  if (!me.ok) {</a:t>
            </a:r>
            <a:endParaRPr lang="en-US" sz="850" dirty="0"/>
          </a:p>
        </p:txBody>
      </p:sp>
      <p:sp>
        <p:nvSpPr>
          <p:cNvPr id="15" name="Text 13"/>
          <p:cNvSpPr/>
          <p:nvPr/>
        </p:nvSpPr>
        <p:spPr>
          <a:xfrm>
            <a:off x="384048" y="2542032"/>
            <a:ext cx="4754880" cy="160020"/>
          </a:xfrm>
          <a:prstGeom prst="rect">
            <a:avLst/>
          </a:prstGeom>
          <a:noFill/>
          <a:ln/>
        </p:spPr>
        <p:txBody>
          <a:bodyPr wrap="square" lIns="0" tIns="0" rIns="0" bIns="0" rtlCol="0" anchor="ctr"/>
          <a:lstStyle/>
          <a:p>
            <a:pPr marL="0" indent="0">
              <a:buNone/>
            </a:pPr>
            <a:r>
              <a:rPr lang="en-US" sz="850" dirty="0">
                <a:solidFill>
                  <a:srgbClr val="E63946"/>
                </a:solidFill>
                <a:latin typeface="Consolas" pitchFamily="34" charset="0"/>
                <a:ea typeface="Consolas" pitchFamily="34" charset="-122"/>
                <a:cs typeface="Consolas" pitchFamily="34" charset="-120"/>
              </a:rPr>
              <a:t>    localStorage.removeItem(KEY);</a:t>
            </a:r>
            <a:endParaRPr lang="en-US" sz="850" dirty="0"/>
          </a:p>
        </p:txBody>
      </p:sp>
      <p:sp>
        <p:nvSpPr>
          <p:cNvPr id="16" name="Text 14"/>
          <p:cNvSpPr/>
          <p:nvPr/>
        </p:nvSpPr>
        <p:spPr>
          <a:xfrm>
            <a:off x="384048" y="2702052"/>
            <a:ext cx="4754880" cy="160020"/>
          </a:xfrm>
          <a:prstGeom prst="rect">
            <a:avLst/>
          </a:prstGeom>
          <a:noFill/>
          <a:ln/>
        </p:spPr>
        <p:txBody>
          <a:bodyPr wrap="square" lIns="0" tIns="0" rIns="0" bIns="0" rtlCol="0" anchor="ctr"/>
          <a:lstStyle/>
          <a:p>
            <a:pPr marL="0" indent="0">
              <a:buNone/>
            </a:pPr>
            <a:r>
              <a:rPr lang="en-US" sz="850" dirty="0">
                <a:solidFill>
                  <a:srgbClr val="E63946"/>
                </a:solidFill>
                <a:latin typeface="Consolas" pitchFamily="34" charset="0"/>
                <a:ea typeface="Consolas" pitchFamily="34" charset="-122"/>
                <a:cs typeface="Consolas" pitchFamily="34" charset="-120"/>
              </a:rPr>
              <a:t>    return;</a:t>
            </a:r>
            <a:endParaRPr lang="en-US" sz="850" dirty="0"/>
          </a:p>
        </p:txBody>
      </p:sp>
      <p:sp>
        <p:nvSpPr>
          <p:cNvPr id="17" name="Text 15"/>
          <p:cNvSpPr/>
          <p:nvPr/>
        </p:nvSpPr>
        <p:spPr>
          <a:xfrm>
            <a:off x="384048" y="2862072"/>
            <a:ext cx="4754880" cy="160020"/>
          </a:xfrm>
          <a:prstGeom prst="rect">
            <a:avLst/>
          </a:prstGeom>
          <a:noFill/>
          <a:ln/>
        </p:spPr>
        <p:txBody>
          <a:bodyPr wrap="square" lIns="0" tIns="0" rIns="0" bIns="0" rtlCol="0" anchor="ctr"/>
          <a:lstStyle/>
          <a:p>
            <a:pPr marL="0" indent="0">
              <a:buNone/>
            </a:pPr>
            <a:r>
              <a:rPr lang="en-US" sz="850" dirty="0">
                <a:solidFill>
                  <a:srgbClr val="FFFFFF"/>
                </a:solidFill>
                <a:latin typeface="Consolas" pitchFamily="34" charset="0"/>
                <a:ea typeface="Consolas" pitchFamily="34" charset="-122"/>
                <a:cs typeface="Consolas" pitchFamily="34" charset="-120"/>
              </a:rPr>
              <a:t>  }</a:t>
            </a:r>
            <a:endParaRPr lang="en-US" sz="850" dirty="0"/>
          </a:p>
        </p:txBody>
      </p:sp>
      <p:sp>
        <p:nvSpPr>
          <p:cNvPr id="18" name="Text 16"/>
          <p:cNvSpPr/>
          <p:nvPr/>
        </p:nvSpPr>
        <p:spPr>
          <a:xfrm>
            <a:off x="384048" y="3022092"/>
            <a:ext cx="4754880" cy="160020"/>
          </a:xfrm>
          <a:prstGeom prst="rect">
            <a:avLst/>
          </a:prstGeom>
          <a:noFill/>
          <a:ln/>
        </p:spPr>
        <p:txBody>
          <a:bodyPr wrap="square" lIns="0" tIns="0" rIns="0" bIns="0" rtlCol="0" anchor="ctr"/>
          <a:lstStyle/>
          <a:p>
            <a:pPr marL="0" indent="0">
              <a:buNone/>
            </a:pPr>
            <a:r>
              <a:rPr lang="en-US" sz="850" dirty="0">
                <a:solidFill>
                  <a:srgbClr val="A8FF78"/>
                </a:solidFill>
                <a:latin typeface="Consolas" pitchFamily="34" charset="0"/>
                <a:ea typeface="Consolas" pitchFamily="34" charset="-122"/>
                <a:cs typeface="Consolas" pitchFamily="34" charset="-120"/>
              </a:rPr>
              <a:t>  setAuthUser(me.user);</a:t>
            </a:r>
            <a:endParaRPr lang="en-US" sz="850" dirty="0"/>
          </a:p>
        </p:txBody>
      </p:sp>
      <p:sp>
        <p:nvSpPr>
          <p:cNvPr id="19" name="Text 17"/>
          <p:cNvSpPr/>
          <p:nvPr/>
        </p:nvSpPr>
        <p:spPr>
          <a:xfrm>
            <a:off x="384048" y="3182112"/>
            <a:ext cx="4754880" cy="160020"/>
          </a:xfrm>
          <a:prstGeom prst="rect">
            <a:avLst/>
          </a:prstGeom>
          <a:noFill/>
          <a:ln/>
        </p:spPr>
        <p:txBody>
          <a:bodyPr wrap="square" lIns="0" tIns="0" rIns="0" bIns="0" rtlCol="0" anchor="ctr"/>
          <a:lstStyle/>
          <a:p>
            <a:pPr marL="0" indent="0">
              <a:buNone/>
            </a:pPr>
            <a:r>
              <a:rPr lang="en-US" sz="850" dirty="0">
                <a:solidFill>
                  <a:srgbClr val="FFFFFF"/>
                </a:solidFill>
                <a:latin typeface="Consolas" pitchFamily="34" charset="0"/>
                <a:ea typeface="Consolas" pitchFamily="34" charset="-122"/>
                <a:cs typeface="Consolas" pitchFamily="34" charset="-120"/>
              </a:rPr>
              <a:t>}, []);</a:t>
            </a:r>
            <a:endParaRPr lang="en-US" sz="850" dirty="0"/>
          </a:p>
        </p:txBody>
      </p:sp>
      <p:sp>
        <p:nvSpPr>
          <p:cNvPr id="20" name="Text 18"/>
          <p:cNvSpPr/>
          <p:nvPr/>
        </p:nvSpPr>
        <p:spPr>
          <a:xfrm>
            <a:off x="384048" y="3342132"/>
            <a:ext cx="4754880" cy="160020"/>
          </a:xfrm>
          <a:prstGeom prst="rect">
            <a:avLst/>
          </a:prstGeom>
          <a:noFill/>
          <a:ln/>
        </p:spPr>
        <p:txBody>
          <a:bodyPr wrap="square" lIns="0" tIns="0" rIns="0" bIns="0" rtlCol="0" anchor="ctr"/>
          <a:lstStyle/>
          <a:p>
            <a:pPr marL="0" indent="0">
              <a:buNone/>
            </a:pPr>
            <a:endParaRPr lang="en-US" sz="850" dirty="0"/>
          </a:p>
        </p:txBody>
      </p:sp>
      <p:sp>
        <p:nvSpPr>
          <p:cNvPr id="21" name="Text 19"/>
          <p:cNvSpPr/>
          <p:nvPr/>
        </p:nvSpPr>
        <p:spPr>
          <a:xfrm>
            <a:off x="384048" y="3502152"/>
            <a:ext cx="4754880" cy="160020"/>
          </a:xfrm>
          <a:prstGeom prst="rect">
            <a:avLst/>
          </a:prstGeom>
          <a:noFill/>
          <a:ln/>
        </p:spPr>
        <p:txBody>
          <a:bodyPr wrap="square" lIns="0" tIns="0" rIns="0" bIns="0" rtlCol="0" anchor="ctr"/>
          <a:lstStyle/>
          <a:p>
            <a:pPr marL="0" indent="0">
              <a:buNone/>
            </a:pPr>
            <a:r>
              <a:rPr lang="en-US" sz="850" dirty="0">
                <a:solidFill>
                  <a:srgbClr val="7BA5A0"/>
                </a:solidFill>
                <a:latin typeface="Consolas" pitchFamily="34" charset="0"/>
                <a:ea typeface="Consolas" pitchFamily="34" charset="-122"/>
                <a:cs typeface="Consolas" pitchFamily="34" charset="-120"/>
              </a:rPr>
              <a:t>// Sign in handler</a:t>
            </a:r>
            <a:endParaRPr lang="en-US" sz="850" dirty="0"/>
          </a:p>
        </p:txBody>
      </p:sp>
      <p:sp>
        <p:nvSpPr>
          <p:cNvPr id="22" name="Text 20"/>
          <p:cNvSpPr/>
          <p:nvPr/>
        </p:nvSpPr>
        <p:spPr>
          <a:xfrm>
            <a:off x="384048" y="3662172"/>
            <a:ext cx="4754880" cy="160020"/>
          </a:xfrm>
          <a:prstGeom prst="rect">
            <a:avLst/>
          </a:prstGeom>
          <a:noFill/>
          <a:ln/>
        </p:spPr>
        <p:txBody>
          <a:bodyPr wrap="square" lIns="0" tIns="0" rIns="0" bIns="0" rtlCol="0" anchor="ctr"/>
          <a:lstStyle/>
          <a:p>
            <a:pPr marL="0" indent="0">
              <a:buNone/>
            </a:pPr>
            <a:r>
              <a:rPr lang="en-US" sz="850" dirty="0">
                <a:solidFill>
                  <a:srgbClr val="FFFFFF"/>
                </a:solidFill>
                <a:latin typeface="Consolas" pitchFamily="34" charset="0"/>
                <a:ea typeface="Consolas" pitchFamily="34" charset="-122"/>
                <a:cs typeface="Consolas" pitchFamily="34" charset="-120"/>
              </a:rPr>
              <a:t>const handleSignIn = async (email, pw) =&gt; {</a:t>
            </a:r>
            <a:endParaRPr lang="en-US" sz="850" dirty="0"/>
          </a:p>
        </p:txBody>
      </p:sp>
      <p:sp>
        <p:nvSpPr>
          <p:cNvPr id="23" name="Text 21"/>
          <p:cNvSpPr/>
          <p:nvPr/>
        </p:nvSpPr>
        <p:spPr>
          <a:xfrm>
            <a:off x="384048" y="3822192"/>
            <a:ext cx="4754880" cy="160020"/>
          </a:xfrm>
          <a:prstGeom prst="rect">
            <a:avLst/>
          </a:prstGeom>
          <a:noFill/>
          <a:ln/>
        </p:spPr>
        <p:txBody>
          <a:bodyPr wrap="square" lIns="0" tIns="0" rIns="0" bIns="0" rtlCol="0" anchor="ctr"/>
          <a:lstStyle/>
          <a:p>
            <a:pPr marL="0" indent="0">
              <a:buNone/>
            </a:pPr>
            <a:r>
              <a:rPr lang="en-US" sz="850" dirty="0">
                <a:solidFill>
                  <a:srgbClr val="FFFFFF"/>
                </a:solidFill>
                <a:latin typeface="Consolas" pitchFamily="34" charset="0"/>
                <a:ea typeface="Consolas" pitchFamily="34" charset="-122"/>
                <a:cs typeface="Consolas" pitchFamily="34" charset="-120"/>
              </a:rPr>
              <a:t>  const result = await signInRequest(</a:t>
            </a:r>
            <a:endParaRPr lang="en-US" sz="850" dirty="0"/>
          </a:p>
        </p:txBody>
      </p:sp>
      <p:sp>
        <p:nvSpPr>
          <p:cNvPr id="24" name="Text 22"/>
          <p:cNvSpPr/>
          <p:nvPr/>
        </p:nvSpPr>
        <p:spPr>
          <a:xfrm>
            <a:off x="384048" y="3982212"/>
            <a:ext cx="4754880" cy="160020"/>
          </a:xfrm>
          <a:prstGeom prst="rect">
            <a:avLst/>
          </a:prstGeom>
          <a:noFill/>
          <a:ln/>
        </p:spPr>
        <p:txBody>
          <a:bodyPr wrap="square" lIns="0" tIns="0" rIns="0" bIns="0" rtlCol="0" anchor="ctr"/>
          <a:lstStyle/>
          <a:p>
            <a:pPr marL="0" indent="0">
              <a:buNone/>
            </a:pPr>
            <a:r>
              <a:rPr lang="en-US" sz="850" dirty="0">
                <a:solidFill>
                  <a:srgbClr val="FFFFFF"/>
                </a:solidFill>
                <a:latin typeface="Consolas" pitchFamily="34" charset="0"/>
                <a:ea typeface="Consolas" pitchFamily="34" charset="-122"/>
                <a:cs typeface="Consolas" pitchFamily="34" charset="-120"/>
              </a:rPr>
              <a:t>                   email, pw);</a:t>
            </a:r>
            <a:endParaRPr lang="en-US" sz="850" dirty="0"/>
          </a:p>
        </p:txBody>
      </p:sp>
      <p:sp>
        <p:nvSpPr>
          <p:cNvPr id="25" name="Text 23"/>
          <p:cNvSpPr/>
          <p:nvPr/>
        </p:nvSpPr>
        <p:spPr>
          <a:xfrm>
            <a:off x="384048" y="4142232"/>
            <a:ext cx="4754880" cy="160020"/>
          </a:xfrm>
          <a:prstGeom prst="rect">
            <a:avLst/>
          </a:prstGeom>
          <a:noFill/>
          <a:ln/>
        </p:spPr>
        <p:txBody>
          <a:bodyPr wrap="square" lIns="0" tIns="0" rIns="0" bIns="0" rtlCol="0" anchor="ctr"/>
          <a:lstStyle/>
          <a:p>
            <a:pPr marL="0" indent="0">
              <a:buNone/>
            </a:pPr>
            <a:r>
              <a:rPr lang="en-US" sz="850" dirty="0">
                <a:solidFill>
                  <a:srgbClr val="FFD580"/>
                </a:solidFill>
                <a:latin typeface="Consolas" pitchFamily="34" charset="0"/>
                <a:ea typeface="Consolas" pitchFamily="34" charset="-122"/>
                <a:cs typeface="Consolas" pitchFamily="34" charset="-120"/>
              </a:rPr>
              <a:t>  localStorage.setItem(KEY,</a:t>
            </a:r>
            <a:endParaRPr lang="en-US" sz="850" dirty="0"/>
          </a:p>
        </p:txBody>
      </p:sp>
      <p:sp>
        <p:nvSpPr>
          <p:cNvPr id="26" name="Text 24"/>
          <p:cNvSpPr/>
          <p:nvPr/>
        </p:nvSpPr>
        <p:spPr>
          <a:xfrm>
            <a:off x="384048" y="4302252"/>
            <a:ext cx="4754880" cy="160020"/>
          </a:xfrm>
          <a:prstGeom prst="rect">
            <a:avLst/>
          </a:prstGeom>
          <a:noFill/>
          <a:ln/>
        </p:spPr>
        <p:txBody>
          <a:bodyPr wrap="square" lIns="0" tIns="0" rIns="0" bIns="0" rtlCol="0" anchor="ctr"/>
          <a:lstStyle/>
          <a:p>
            <a:pPr marL="0" indent="0">
              <a:buNone/>
            </a:pPr>
            <a:r>
              <a:rPr lang="en-US" sz="850" dirty="0">
                <a:solidFill>
                  <a:srgbClr val="FFD580"/>
                </a:solidFill>
                <a:latin typeface="Consolas" pitchFamily="34" charset="0"/>
                <a:ea typeface="Consolas" pitchFamily="34" charset="-122"/>
                <a:cs typeface="Consolas" pitchFamily="34" charset="-120"/>
              </a:rPr>
              <a:t>    JSON.stringify({ user, accessToken,</a:t>
            </a:r>
            <a:endParaRPr lang="en-US" sz="850" dirty="0"/>
          </a:p>
        </p:txBody>
      </p:sp>
      <p:sp>
        <p:nvSpPr>
          <p:cNvPr id="27" name="Text 25"/>
          <p:cNvSpPr/>
          <p:nvPr/>
        </p:nvSpPr>
        <p:spPr>
          <a:xfrm>
            <a:off x="384048" y="4462272"/>
            <a:ext cx="4754880" cy="160020"/>
          </a:xfrm>
          <a:prstGeom prst="rect">
            <a:avLst/>
          </a:prstGeom>
          <a:noFill/>
          <a:ln/>
        </p:spPr>
        <p:txBody>
          <a:bodyPr wrap="square" lIns="0" tIns="0" rIns="0" bIns="0" rtlCol="0" anchor="ctr"/>
          <a:lstStyle/>
          <a:p>
            <a:pPr marL="0" indent="0">
              <a:buNone/>
            </a:pPr>
            <a:r>
              <a:rPr lang="en-US" sz="850" dirty="0">
                <a:solidFill>
                  <a:srgbClr val="FFD580"/>
                </a:solidFill>
                <a:latin typeface="Consolas" pitchFamily="34" charset="0"/>
                <a:ea typeface="Consolas" pitchFamily="34" charset="-122"/>
                <a:cs typeface="Consolas" pitchFamily="34" charset="-120"/>
              </a:rPr>
              <a:t>                    refreshToken }));</a:t>
            </a:r>
            <a:endParaRPr lang="en-US" sz="850" dirty="0"/>
          </a:p>
        </p:txBody>
      </p:sp>
      <p:sp>
        <p:nvSpPr>
          <p:cNvPr id="28" name="Text 26"/>
          <p:cNvSpPr/>
          <p:nvPr/>
        </p:nvSpPr>
        <p:spPr>
          <a:xfrm>
            <a:off x="384048" y="4622292"/>
            <a:ext cx="4754880" cy="160020"/>
          </a:xfrm>
          <a:prstGeom prst="rect">
            <a:avLst/>
          </a:prstGeom>
          <a:noFill/>
          <a:ln/>
        </p:spPr>
        <p:txBody>
          <a:bodyPr wrap="square" lIns="0" tIns="0" rIns="0" bIns="0" rtlCol="0" anchor="ctr"/>
          <a:lstStyle/>
          <a:p>
            <a:pPr marL="0" indent="0">
              <a:buNone/>
            </a:pPr>
            <a:r>
              <a:rPr lang="en-US" sz="850" dirty="0">
                <a:solidFill>
                  <a:srgbClr val="A8FF78"/>
                </a:solidFill>
                <a:latin typeface="Consolas" pitchFamily="34" charset="0"/>
                <a:ea typeface="Consolas" pitchFamily="34" charset="-122"/>
                <a:cs typeface="Consolas" pitchFamily="34" charset="-120"/>
              </a:rPr>
              <a:t>  setActivePage('profile');</a:t>
            </a:r>
            <a:endParaRPr lang="en-US" sz="850" dirty="0"/>
          </a:p>
        </p:txBody>
      </p:sp>
      <p:sp>
        <p:nvSpPr>
          <p:cNvPr id="29" name="Text 27"/>
          <p:cNvSpPr/>
          <p:nvPr/>
        </p:nvSpPr>
        <p:spPr>
          <a:xfrm>
            <a:off x="384048" y="4782312"/>
            <a:ext cx="4754880" cy="160020"/>
          </a:xfrm>
          <a:prstGeom prst="rect">
            <a:avLst/>
          </a:prstGeom>
          <a:noFill/>
          <a:ln/>
        </p:spPr>
        <p:txBody>
          <a:bodyPr wrap="square" lIns="0" tIns="0" rIns="0" bIns="0" rtlCol="0" anchor="ctr"/>
          <a:lstStyle/>
          <a:p>
            <a:pPr marL="0" indent="0">
              <a:buNone/>
            </a:pPr>
            <a:r>
              <a:rPr lang="en-US" sz="850" dirty="0">
                <a:solidFill>
                  <a:srgbClr val="FFFFFF"/>
                </a:solidFill>
                <a:latin typeface="Consolas" pitchFamily="34" charset="0"/>
                <a:ea typeface="Consolas" pitchFamily="34" charset="-122"/>
                <a:cs typeface="Consolas" pitchFamily="34" charset="-120"/>
              </a:rPr>
              <a:t>};</a:t>
            </a:r>
            <a:endParaRPr lang="en-US" sz="850" dirty="0"/>
          </a:p>
        </p:txBody>
      </p:sp>
      <p:sp>
        <p:nvSpPr>
          <p:cNvPr id="30" name="Shape 28"/>
          <p:cNvSpPr/>
          <p:nvPr/>
        </p:nvSpPr>
        <p:spPr>
          <a:xfrm>
            <a:off x="5486400" y="804672"/>
            <a:ext cx="3383280" cy="411480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31" name="Shape 29"/>
          <p:cNvSpPr/>
          <p:nvPr/>
        </p:nvSpPr>
        <p:spPr>
          <a:xfrm>
            <a:off x="5486400" y="804672"/>
            <a:ext cx="64008" cy="4114800"/>
          </a:xfrm>
          <a:prstGeom prst="rect">
            <a:avLst/>
          </a:prstGeom>
          <a:solidFill>
            <a:srgbClr val="F5A623"/>
          </a:solidFill>
          <a:ln w="12700">
            <a:solidFill>
              <a:srgbClr val="F5A623"/>
            </a:solidFill>
            <a:prstDash val="solid"/>
          </a:ln>
        </p:spPr>
        <p:txBody>
          <a:bodyPr/>
          <a:lstStyle/>
          <a:p>
            <a:endParaRPr lang="en-US"/>
          </a:p>
        </p:txBody>
      </p:sp>
      <p:sp>
        <p:nvSpPr>
          <p:cNvPr id="32" name="Text 30"/>
          <p:cNvSpPr/>
          <p:nvPr/>
        </p:nvSpPr>
        <p:spPr>
          <a:xfrm>
            <a:off x="5669280" y="914400"/>
            <a:ext cx="3017520" cy="384048"/>
          </a:xfrm>
          <a:prstGeom prst="rect">
            <a:avLst/>
          </a:prstGeom>
          <a:noFill/>
          <a:ln/>
        </p:spPr>
        <p:txBody>
          <a:bodyPr wrap="square" lIns="0" tIns="0" rIns="0" bIns="0" rtlCol="0" anchor="ctr"/>
          <a:lstStyle/>
          <a:p>
            <a:pPr marL="0" indent="0">
              <a:buNone/>
            </a:pPr>
            <a:r>
              <a:rPr lang="en-US" sz="1400" b="1" dirty="0">
                <a:solidFill>
                  <a:srgbClr val="F5A623"/>
                </a:solidFill>
                <a:latin typeface="Calibri" pitchFamily="34" charset="0"/>
                <a:ea typeface="Calibri" pitchFamily="34" charset="-122"/>
                <a:cs typeface="Calibri" pitchFamily="34" charset="-120"/>
              </a:rPr>
              <a:t>Auth Architecture</a:t>
            </a:r>
            <a:endParaRPr lang="en-US" sz="1400" dirty="0"/>
          </a:p>
        </p:txBody>
      </p:sp>
      <p:sp>
        <p:nvSpPr>
          <p:cNvPr id="33" name="Text 31"/>
          <p:cNvSpPr/>
          <p:nvPr/>
        </p:nvSpPr>
        <p:spPr>
          <a:xfrm>
            <a:off x="5669280" y="1417320"/>
            <a:ext cx="3017520" cy="274320"/>
          </a:xfrm>
          <a:prstGeom prst="rect">
            <a:avLst/>
          </a:prstGeom>
          <a:noFill/>
          <a:ln/>
        </p:spPr>
        <p:txBody>
          <a:bodyPr wrap="square" lIns="0" tIns="0" rIns="0" bIns="0"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safeReadJson()</a:t>
            </a:r>
            <a:endParaRPr lang="en-US" sz="1100" dirty="0"/>
          </a:p>
        </p:txBody>
      </p:sp>
      <p:sp>
        <p:nvSpPr>
          <p:cNvPr id="34" name="Text 32"/>
          <p:cNvSpPr/>
          <p:nvPr/>
        </p:nvSpPr>
        <p:spPr>
          <a:xfrm>
            <a:off x="5669280" y="1719072"/>
            <a:ext cx="3017520" cy="45720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Wraps localStorage.getItem() in try/catch — prevents crashes if storage is corrupted or unavailable.</a:t>
            </a:r>
            <a:endParaRPr lang="en-US" sz="950" dirty="0"/>
          </a:p>
        </p:txBody>
      </p:sp>
      <p:sp>
        <p:nvSpPr>
          <p:cNvPr id="35" name="Text 33"/>
          <p:cNvSpPr/>
          <p:nvPr/>
        </p:nvSpPr>
        <p:spPr>
          <a:xfrm>
            <a:off x="5669280" y="2221992"/>
            <a:ext cx="3017520" cy="274320"/>
          </a:xfrm>
          <a:prstGeom prst="rect">
            <a:avLst/>
          </a:prstGeom>
          <a:noFill/>
          <a:ln/>
        </p:spPr>
        <p:txBody>
          <a:bodyPr wrap="square" lIns="0" tIns="0" rIns="0" bIns="0"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Token Verification</a:t>
            </a:r>
            <a:endParaRPr lang="en-US" sz="1100" dirty="0"/>
          </a:p>
        </p:txBody>
      </p:sp>
      <p:sp>
        <p:nvSpPr>
          <p:cNvPr id="36" name="Text 34"/>
          <p:cNvSpPr/>
          <p:nvPr/>
        </p:nvSpPr>
        <p:spPr>
          <a:xfrm>
            <a:off x="5669280" y="2523744"/>
            <a:ext cx="3017520" cy="45720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Every page load calls GET /users/me with the stored token. If the server rejects it, the session is cleared immediately.</a:t>
            </a:r>
            <a:endParaRPr lang="en-US" sz="950" dirty="0"/>
          </a:p>
        </p:txBody>
      </p:sp>
      <p:sp>
        <p:nvSpPr>
          <p:cNvPr id="37" name="Text 35"/>
          <p:cNvSpPr/>
          <p:nvPr/>
        </p:nvSpPr>
        <p:spPr>
          <a:xfrm>
            <a:off x="5669280" y="3026664"/>
            <a:ext cx="3017520" cy="274320"/>
          </a:xfrm>
          <a:prstGeom prst="rect">
            <a:avLst/>
          </a:prstGeom>
          <a:noFill/>
          <a:ln/>
        </p:spPr>
        <p:txBody>
          <a:bodyPr wrap="square" lIns="0" tIns="0" rIns="0" bIns="0"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JWT Rotation</a:t>
            </a:r>
            <a:endParaRPr lang="en-US" sz="1100" dirty="0"/>
          </a:p>
        </p:txBody>
      </p:sp>
      <p:sp>
        <p:nvSpPr>
          <p:cNvPr id="38" name="Text 36"/>
          <p:cNvSpPr/>
          <p:nvPr/>
        </p:nvSpPr>
        <p:spPr>
          <a:xfrm>
            <a:off x="5669280" y="3328416"/>
            <a:ext cx="3017520" cy="45720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Sign-in returns both an access token (short-lived) and a refresh token (long-lived). Refresh tokens are stored server-side and can be revoked.</a:t>
            </a:r>
            <a:endParaRPr lang="en-US" sz="950" dirty="0"/>
          </a:p>
        </p:txBody>
      </p:sp>
      <p:sp>
        <p:nvSpPr>
          <p:cNvPr id="39" name="Text 37"/>
          <p:cNvSpPr/>
          <p:nvPr/>
        </p:nvSpPr>
        <p:spPr>
          <a:xfrm>
            <a:off x="5669280" y="3831336"/>
            <a:ext cx="3017520" cy="274320"/>
          </a:xfrm>
          <a:prstGeom prst="rect">
            <a:avLst/>
          </a:prstGeom>
          <a:noFill/>
          <a:ln/>
        </p:spPr>
        <p:txBody>
          <a:bodyPr wrap="square" lIns="0" tIns="0" rIns="0" bIns="0"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Role-Based UI</a:t>
            </a:r>
            <a:endParaRPr lang="en-US" sz="1100" dirty="0"/>
          </a:p>
        </p:txBody>
      </p:sp>
      <p:sp>
        <p:nvSpPr>
          <p:cNvPr id="40" name="Text 38"/>
          <p:cNvSpPr/>
          <p:nvPr/>
        </p:nvSpPr>
        <p:spPr>
          <a:xfrm>
            <a:off x="5669280" y="4133088"/>
            <a:ext cx="3017520" cy="45720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authUser.role drives which navigation items appear and whether AdminPanel is rendered.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2196F3"/>
          </a:solidFill>
          <a:ln w="12700">
            <a:solidFill>
              <a:srgbClr val="2196F3"/>
            </a:solidFill>
            <a:prstDash val="solid"/>
          </a:ln>
        </p:spPr>
        <p:txBody>
          <a:bodyPr/>
          <a:lstStyle/>
          <a:p>
            <a:endParaRPr lang="en-US"/>
          </a:p>
        </p:txBody>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100" b="1" kern="0" spc="200" dirty="0">
                <a:solidFill>
                  <a:srgbClr val="FFFFFF"/>
                </a:solidFill>
                <a:latin typeface="Calibri" pitchFamily="34" charset="0"/>
                <a:ea typeface="Calibri" pitchFamily="34" charset="-122"/>
                <a:cs typeface="Calibri" pitchFamily="34" charset="-120"/>
              </a:rPr>
              <a:t>06  CODE HIGHLIGHT — Service Worker (sw.js): PWA Caching</a:t>
            </a:r>
            <a:endParaRPr lang="en-US" sz="2100" dirty="0"/>
          </a:p>
        </p:txBody>
      </p:sp>
      <p:sp>
        <p:nvSpPr>
          <p:cNvPr id="4" name="Shape 2"/>
          <p:cNvSpPr/>
          <p:nvPr/>
        </p:nvSpPr>
        <p:spPr>
          <a:xfrm>
            <a:off x="274320" y="804672"/>
            <a:ext cx="5029200" cy="4114800"/>
          </a:xfrm>
          <a:prstGeom prst="rect">
            <a:avLst/>
          </a:prstGeom>
          <a:solidFill>
            <a:srgbClr val="0A1628"/>
          </a:solidFill>
          <a:ln w="12700">
            <a:solidFill>
              <a:srgbClr val="2D3748"/>
            </a:solidFill>
            <a:prstDash val="solid"/>
          </a:ln>
          <a:effectLst>
            <a:outerShdw blurRad="101600" dist="38100" dir="8100000" algn="bl" rotWithShape="0">
              <a:srgbClr val="000000">
                <a:alpha val="25000"/>
              </a:srgbClr>
            </a:outerShdw>
          </a:effectLst>
        </p:spPr>
        <p:txBody>
          <a:bodyPr/>
          <a:lstStyle/>
          <a:p>
            <a:endParaRPr lang="en-US"/>
          </a:p>
        </p:txBody>
      </p:sp>
      <p:sp>
        <p:nvSpPr>
          <p:cNvPr id="5" name="Shape 3"/>
          <p:cNvSpPr/>
          <p:nvPr/>
        </p:nvSpPr>
        <p:spPr>
          <a:xfrm>
            <a:off x="274320" y="804672"/>
            <a:ext cx="5029200" cy="347472"/>
          </a:xfrm>
          <a:prstGeom prst="rect">
            <a:avLst/>
          </a:prstGeom>
          <a:solidFill>
            <a:srgbClr val="1A2030"/>
          </a:solidFill>
          <a:ln w="12700">
            <a:solidFill>
              <a:srgbClr val="2D3748"/>
            </a:solidFill>
            <a:prstDash val="solid"/>
          </a:ln>
        </p:spPr>
        <p:txBody>
          <a:bodyPr/>
          <a:lstStyle/>
          <a:p>
            <a:endParaRPr lang="en-US"/>
          </a:p>
        </p:txBody>
      </p:sp>
      <p:sp>
        <p:nvSpPr>
          <p:cNvPr id="6" name="Text 4"/>
          <p:cNvSpPr/>
          <p:nvPr/>
        </p:nvSpPr>
        <p:spPr>
          <a:xfrm>
            <a:off x="274320" y="804672"/>
            <a:ext cx="5029200" cy="347472"/>
          </a:xfrm>
          <a:prstGeom prst="rect">
            <a:avLst/>
          </a:prstGeom>
          <a:noFill/>
          <a:ln/>
        </p:spPr>
        <p:txBody>
          <a:bodyPr wrap="square" lIns="0" tIns="0" rIns="0" bIns="0" rtlCol="0" anchor="ctr"/>
          <a:lstStyle/>
          <a:p>
            <a:pPr marL="0" indent="0">
              <a:buNone/>
            </a:pPr>
            <a:r>
              <a:rPr lang="en-US" sz="900" dirty="0">
                <a:solidFill>
                  <a:srgbClr val="7BA5A0"/>
                </a:solidFill>
                <a:latin typeface="Consolas" pitchFamily="34" charset="0"/>
                <a:ea typeface="Consolas" pitchFamily="34" charset="-122"/>
                <a:cs typeface="Consolas" pitchFamily="34" charset="-120"/>
              </a:rPr>
              <a:t>  sw.js — Map tile caching strategy</a:t>
            </a:r>
            <a:endParaRPr lang="en-US" sz="900" dirty="0"/>
          </a:p>
        </p:txBody>
      </p:sp>
      <p:sp>
        <p:nvSpPr>
          <p:cNvPr id="7" name="Text 5"/>
          <p:cNvSpPr/>
          <p:nvPr/>
        </p:nvSpPr>
        <p:spPr>
          <a:xfrm>
            <a:off x="384048" y="1261872"/>
            <a:ext cx="4754880" cy="160020"/>
          </a:xfrm>
          <a:prstGeom prst="rect">
            <a:avLst/>
          </a:prstGeom>
          <a:noFill/>
          <a:ln/>
        </p:spPr>
        <p:txBody>
          <a:bodyPr wrap="square" lIns="0" tIns="0" rIns="0" bIns="0" rtlCol="0" anchor="ctr"/>
          <a:lstStyle/>
          <a:p>
            <a:pPr marL="0" indent="0">
              <a:buNone/>
            </a:pPr>
            <a:r>
              <a:rPr lang="en-US" sz="840" dirty="0">
                <a:solidFill>
                  <a:srgbClr val="78C1FF"/>
                </a:solidFill>
                <a:latin typeface="Consolas" pitchFamily="34" charset="0"/>
                <a:ea typeface="Consolas" pitchFamily="34" charset="-122"/>
                <a:cs typeface="Consolas" pitchFamily="34" charset="-120"/>
              </a:rPr>
              <a:t>const TILE_HOST_REGEX =</a:t>
            </a:r>
            <a:endParaRPr lang="en-US" sz="840" dirty="0"/>
          </a:p>
        </p:txBody>
      </p:sp>
      <p:sp>
        <p:nvSpPr>
          <p:cNvPr id="8" name="Text 6"/>
          <p:cNvSpPr/>
          <p:nvPr/>
        </p:nvSpPr>
        <p:spPr>
          <a:xfrm>
            <a:off x="384048" y="1421892"/>
            <a:ext cx="4754880" cy="160020"/>
          </a:xfrm>
          <a:prstGeom prst="rect">
            <a:avLst/>
          </a:prstGeom>
          <a:noFill/>
          <a:ln/>
        </p:spPr>
        <p:txBody>
          <a:bodyPr wrap="square" lIns="0" tIns="0" rIns="0" bIns="0" rtlCol="0" anchor="ctr"/>
          <a:lstStyle/>
          <a:p>
            <a:pPr marL="0" indent="0">
              <a:buNone/>
            </a:pPr>
            <a:r>
              <a:rPr lang="en-US" sz="840" dirty="0">
                <a:solidFill>
                  <a:srgbClr val="A8FF78"/>
                </a:solidFill>
                <a:latin typeface="Consolas" pitchFamily="34" charset="0"/>
                <a:ea typeface="Consolas" pitchFamily="34" charset="-122"/>
                <a:cs typeface="Consolas" pitchFamily="34" charset="-120"/>
              </a:rPr>
              <a:t>  /^(?:[abcd]\.)?basemaps\.cartocdn\.com$/i;</a:t>
            </a:r>
            <a:endParaRPr lang="en-US" sz="840" dirty="0"/>
          </a:p>
        </p:txBody>
      </p:sp>
      <p:sp>
        <p:nvSpPr>
          <p:cNvPr id="9" name="Text 7"/>
          <p:cNvSpPr/>
          <p:nvPr/>
        </p:nvSpPr>
        <p:spPr>
          <a:xfrm>
            <a:off x="384048" y="1581912"/>
            <a:ext cx="4754880" cy="160020"/>
          </a:xfrm>
          <a:prstGeom prst="rect">
            <a:avLst/>
          </a:prstGeom>
          <a:noFill/>
          <a:ln/>
        </p:spPr>
        <p:txBody>
          <a:bodyPr wrap="square" lIns="0" tIns="0" rIns="0" bIns="0" rtlCol="0" anchor="ctr"/>
          <a:lstStyle/>
          <a:p>
            <a:pPr marL="0" indent="0">
              <a:buNone/>
            </a:pPr>
            <a:endParaRPr lang="en-US" sz="840" dirty="0"/>
          </a:p>
        </p:txBody>
      </p:sp>
      <p:sp>
        <p:nvSpPr>
          <p:cNvPr id="10" name="Text 8"/>
          <p:cNvSpPr/>
          <p:nvPr/>
        </p:nvSpPr>
        <p:spPr>
          <a:xfrm>
            <a:off x="384048" y="1741932"/>
            <a:ext cx="4754880" cy="160020"/>
          </a:xfrm>
          <a:prstGeom prst="rect">
            <a:avLst/>
          </a:prstGeom>
          <a:noFill/>
          <a:ln/>
        </p:spPr>
        <p:txBody>
          <a:bodyPr wrap="square" lIns="0" tIns="0" rIns="0" bIns="0" rtlCol="0" anchor="ctr"/>
          <a:lstStyle/>
          <a:p>
            <a:pPr marL="0" indent="0">
              <a:buNone/>
            </a:pPr>
            <a:r>
              <a:rPr lang="en-US" sz="840" dirty="0">
                <a:solidFill>
                  <a:srgbClr val="FFFFFF"/>
                </a:solidFill>
                <a:latin typeface="Consolas" pitchFamily="34" charset="0"/>
                <a:ea typeface="Consolas" pitchFamily="34" charset="-122"/>
                <a:cs typeface="Consolas" pitchFamily="34" charset="-120"/>
              </a:rPr>
              <a:t>self.addEventListener('fetch', (event) =&gt; {</a:t>
            </a:r>
            <a:endParaRPr lang="en-US" sz="840" dirty="0"/>
          </a:p>
        </p:txBody>
      </p:sp>
      <p:sp>
        <p:nvSpPr>
          <p:cNvPr id="11" name="Text 9"/>
          <p:cNvSpPr/>
          <p:nvPr/>
        </p:nvSpPr>
        <p:spPr>
          <a:xfrm>
            <a:off x="384048" y="1901952"/>
            <a:ext cx="4754880" cy="160020"/>
          </a:xfrm>
          <a:prstGeom prst="rect">
            <a:avLst/>
          </a:prstGeom>
          <a:noFill/>
          <a:ln/>
        </p:spPr>
        <p:txBody>
          <a:bodyPr wrap="square" lIns="0" tIns="0" rIns="0" bIns="0" rtlCol="0" anchor="ctr"/>
          <a:lstStyle/>
          <a:p>
            <a:pPr marL="0" indent="0">
              <a:buNone/>
            </a:pPr>
            <a:r>
              <a:rPr lang="en-US" sz="840" dirty="0">
                <a:solidFill>
                  <a:srgbClr val="78C1FF"/>
                </a:solidFill>
                <a:latin typeface="Consolas" pitchFamily="34" charset="0"/>
                <a:ea typeface="Consolas" pitchFamily="34" charset="-122"/>
                <a:cs typeface="Consolas" pitchFamily="34" charset="-120"/>
              </a:rPr>
              <a:t>  const url = new URL(request.url);</a:t>
            </a:r>
            <a:endParaRPr lang="en-US" sz="840" dirty="0"/>
          </a:p>
        </p:txBody>
      </p:sp>
      <p:sp>
        <p:nvSpPr>
          <p:cNvPr id="12" name="Text 10"/>
          <p:cNvSpPr/>
          <p:nvPr/>
        </p:nvSpPr>
        <p:spPr>
          <a:xfrm>
            <a:off x="384048" y="2061972"/>
            <a:ext cx="4754880" cy="160020"/>
          </a:xfrm>
          <a:prstGeom prst="rect">
            <a:avLst/>
          </a:prstGeom>
          <a:noFill/>
          <a:ln/>
        </p:spPr>
        <p:txBody>
          <a:bodyPr wrap="square" lIns="0" tIns="0" rIns="0" bIns="0" rtlCol="0" anchor="ctr"/>
          <a:lstStyle/>
          <a:p>
            <a:pPr marL="0" indent="0">
              <a:buNone/>
            </a:pPr>
            <a:endParaRPr lang="en-US" sz="840" dirty="0"/>
          </a:p>
        </p:txBody>
      </p:sp>
      <p:sp>
        <p:nvSpPr>
          <p:cNvPr id="13" name="Text 11"/>
          <p:cNvSpPr/>
          <p:nvPr/>
        </p:nvSpPr>
        <p:spPr>
          <a:xfrm>
            <a:off x="384048" y="2221992"/>
            <a:ext cx="4754880" cy="160020"/>
          </a:xfrm>
          <a:prstGeom prst="rect">
            <a:avLst/>
          </a:prstGeom>
          <a:noFill/>
          <a:ln/>
        </p:spPr>
        <p:txBody>
          <a:bodyPr wrap="square" lIns="0" tIns="0" rIns="0" bIns="0" rtlCol="0" anchor="ctr"/>
          <a:lstStyle/>
          <a:p>
            <a:pPr marL="0" indent="0">
              <a:buNone/>
            </a:pPr>
            <a:r>
              <a:rPr lang="en-US" sz="840" dirty="0">
                <a:solidFill>
                  <a:srgbClr val="7BA5A0"/>
                </a:solidFill>
                <a:latin typeface="Consolas" pitchFamily="34" charset="0"/>
                <a:ea typeface="Consolas" pitchFamily="34" charset="-122"/>
                <a:cs typeface="Consolas" pitchFamily="34" charset="-120"/>
              </a:rPr>
              <a:t>  // Stale-while-revalidate for map tiles</a:t>
            </a:r>
            <a:endParaRPr lang="en-US" sz="840" dirty="0"/>
          </a:p>
        </p:txBody>
      </p:sp>
      <p:sp>
        <p:nvSpPr>
          <p:cNvPr id="14" name="Text 12"/>
          <p:cNvSpPr/>
          <p:nvPr/>
        </p:nvSpPr>
        <p:spPr>
          <a:xfrm>
            <a:off x="384048" y="2382012"/>
            <a:ext cx="4754880" cy="160020"/>
          </a:xfrm>
          <a:prstGeom prst="rect">
            <a:avLst/>
          </a:prstGeom>
          <a:noFill/>
          <a:ln/>
        </p:spPr>
        <p:txBody>
          <a:bodyPr wrap="square" lIns="0" tIns="0" rIns="0" bIns="0" rtlCol="0" anchor="ctr"/>
          <a:lstStyle/>
          <a:p>
            <a:pPr marL="0" indent="0">
              <a:buNone/>
            </a:pPr>
            <a:r>
              <a:rPr lang="en-US" sz="840" dirty="0">
                <a:solidFill>
                  <a:srgbClr val="FFFFFF"/>
                </a:solidFill>
                <a:latin typeface="Consolas" pitchFamily="34" charset="0"/>
                <a:ea typeface="Consolas" pitchFamily="34" charset="-122"/>
                <a:cs typeface="Consolas" pitchFamily="34" charset="-120"/>
              </a:rPr>
              <a:t>  if (TILE_HOST_REGEX.test(url.hostname)) {</a:t>
            </a:r>
            <a:endParaRPr lang="en-US" sz="840" dirty="0"/>
          </a:p>
        </p:txBody>
      </p:sp>
      <p:sp>
        <p:nvSpPr>
          <p:cNvPr id="15" name="Text 13"/>
          <p:cNvSpPr/>
          <p:nvPr/>
        </p:nvSpPr>
        <p:spPr>
          <a:xfrm>
            <a:off x="384048" y="2542032"/>
            <a:ext cx="4754880" cy="160020"/>
          </a:xfrm>
          <a:prstGeom prst="rect">
            <a:avLst/>
          </a:prstGeom>
          <a:noFill/>
          <a:ln/>
        </p:spPr>
        <p:txBody>
          <a:bodyPr wrap="square" lIns="0" tIns="0" rIns="0" bIns="0" rtlCol="0" anchor="ctr"/>
          <a:lstStyle/>
          <a:p>
            <a:pPr marL="0" indent="0">
              <a:buNone/>
            </a:pPr>
            <a:r>
              <a:rPr lang="en-US" sz="840" dirty="0">
                <a:solidFill>
                  <a:srgbClr val="FFFFFF"/>
                </a:solidFill>
                <a:latin typeface="Consolas" pitchFamily="34" charset="0"/>
                <a:ea typeface="Consolas" pitchFamily="34" charset="-122"/>
                <a:cs typeface="Consolas" pitchFamily="34" charset="-120"/>
              </a:rPr>
              <a:t>    event.respondWith(</a:t>
            </a:r>
            <a:endParaRPr lang="en-US" sz="840" dirty="0"/>
          </a:p>
        </p:txBody>
      </p:sp>
      <p:sp>
        <p:nvSpPr>
          <p:cNvPr id="16" name="Text 14"/>
          <p:cNvSpPr/>
          <p:nvPr/>
        </p:nvSpPr>
        <p:spPr>
          <a:xfrm>
            <a:off x="384048" y="2702052"/>
            <a:ext cx="4754880" cy="160020"/>
          </a:xfrm>
          <a:prstGeom prst="rect">
            <a:avLst/>
          </a:prstGeom>
          <a:noFill/>
          <a:ln/>
        </p:spPr>
        <p:txBody>
          <a:bodyPr wrap="square" lIns="0" tIns="0" rIns="0" bIns="0" rtlCol="0" anchor="ctr"/>
          <a:lstStyle/>
          <a:p>
            <a:pPr marL="0" indent="0">
              <a:buNone/>
            </a:pPr>
            <a:r>
              <a:rPr lang="en-US" sz="840" dirty="0">
                <a:solidFill>
                  <a:srgbClr val="FFD580"/>
                </a:solidFill>
                <a:latin typeface="Consolas" pitchFamily="34" charset="0"/>
                <a:ea typeface="Consolas" pitchFamily="34" charset="-122"/>
                <a:cs typeface="Consolas" pitchFamily="34" charset="-120"/>
              </a:rPr>
              <a:t>      caches.open(TILE_CACHE).then(tc =&gt;</a:t>
            </a:r>
            <a:endParaRPr lang="en-US" sz="840" dirty="0"/>
          </a:p>
        </p:txBody>
      </p:sp>
      <p:sp>
        <p:nvSpPr>
          <p:cNvPr id="17" name="Text 15"/>
          <p:cNvSpPr/>
          <p:nvPr/>
        </p:nvSpPr>
        <p:spPr>
          <a:xfrm>
            <a:off x="384048" y="2862072"/>
            <a:ext cx="4754880" cy="160020"/>
          </a:xfrm>
          <a:prstGeom prst="rect">
            <a:avLst/>
          </a:prstGeom>
          <a:noFill/>
          <a:ln/>
        </p:spPr>
        <p:txBody>
          <a:bodyPr wrap="square" lIns="0" tIns="0" rIns="0" bIns="0" rtlCol="0" anchor="ctr"/>
          <a:lstStyle/>
          <a:p>
            <a:pPr marL="0" indent="0">
              <a:buNone/>
            </a:pPr>
            <a:r>
              <a:rPr lang="en-US" sz="840" dirty="0">
                <a:solidFill>
                  <a:srgbClr val="FFD580"/>
                </a:solidFill>
                <a:latin typeface="Consolas" pitchFamily="34" charset="0"/>
                <a:ea typeface="Consolas" pitchFamily="34" charset="-122"/>
                <a:cs typeface="Consolas" pitchFamily="34" charset="-120"/>
              </a:rPr>
              <a:t>        tc.match(request).then(cached =&gt; {</a:t>
            </a:r>
            <a:endParaRPr lang="en-US" sz="840" dirty="0"/>
          </a:p>
        </p:txBody>
      </p:sp>
      <p:sp>
        <p:nvSpPr>
          <p:cNvPr id="18" name="Text 16"/>
          <p:cNvSpPr/>
          <p:nvPr/>
        </p:nvSpPr>
        <p:spPr>
          <a:xfrm>
            <a:off x="384048" y="3022092"/>
            <a:ext cx="4754880" cy="160020"/>
          </a:xfrm>
          <a:prstGeom prst="rect">
            <a:avLst/>
          </a:prstGeom>
          <a:noFill/>
          <a:ln/>
        </p:spPr>
        <p:txBody>
          <a:bodyPr wrap="square" lIns="0" tIns="0" rIns="0" bIns="0" rtlCol="0" anchor="ctr"/>
          <a:lstStyle/>
          <a:p>
            <a:pPr marL="0" indent="0">
              <a:buNone/>
            </a:pPr>
            <a:r>
              <a:rPr lang="en-US" sz="840" dirty="0">
                <a:solidFill>
                  <a:srgbClr val="FFFFFF"/>
                </a:solidFill>
                <a:latin typeface="Consolas" pitchFamily="34" charset="0"/>
                <a:ea typeface="Consolas" pitchFamily="34" charset="-122"/>
                <a:cs typeface="Consolas" pitchFamily="34" charset="-120"/>
              </a:rPr>
              <a:t>          const net = fetch(request)</a:t>
            </a:r>
            <a:endParaRPr lang="en-US" sz="840" dirty="0"/>
          </a:p>
        </p:txBody>
      </p:sp>
      <p:sp>
        <p:nvSpPr>
          <p:cNvPr id="19" name="Text 17"/>
          <p:cNvSpPr/>
          <p:nvPr/>
        </p:nvSpPr>
        <p:spPr>
          <a:xfrm>
            <a:off x="384048" y="3182112"/>
            <a:ext cx="4754880" cy="160020"/>
          </a:xfrm>
          <a:prstGeom prst="rect">
            <a:avLst/>
          </a:prstGeom>
          <a:noFill/>
          <a:ln/>
        </p:spPr>
        <p:txBody>
          <a:bodyPr wrap="square" lIns="0" tIns="0" rIns="0" bIns="0" rtlCol="0" anchor="ctr"/>
          <a:lstStyle/>
          <a:p>
            <a:pPr marL="0" indent="0">
              <a:buNone/>
            </a:pPr>
            <a:r>
              <a:rPr lang="en-US" sz="840" dirty="0">
                <a:solidFill>
                  <a:srgbClr val="FFFFFF"/>
                </a:solidFill>
                <a:latin typeface="Consolas" pitchFamily="34" charset="0"/>
                <a:ea typeface="Consolas" pitchFamily="34" charset="-122"/>
                <a:cs typeface="Consolas" pitchFamily="34" charset="-120"/>
              </a:rPr>
              <a:t>            .then(res =&gt; {</a:t>
            </a:r>
            <a:endParaRPr lang="en-US" sz="840" dirty="0"/>
          </a:p>
        </p:txBody>
      </p:sp>
      <p:sp>
        <p:nvSpPr>
          <p:cNvPr id="20" name="Text 18"/>
          <p:cNvSpPr/>
          <p:nvPr/>
        </p:nvSpPr>
        <p:spPr>
          <a:xfrm>
            <a:off x="384048" y="3342132"/>
            <a:ext cx="4754880" cy="160020"/>
          </a:xfrm>
          <a:prstGeom prst="rect">
            <a:avLst/>
          </a:prstGeom>
          <a:noFill/>
          <a:ln/>
        </p:spPr>
        <p:txBody>
          <a:bodyPr wrap="square" lIns="0" tIns="0" rIns="0" bIns="0" rtlCol="0" anchor="ctr"/>
          <a:lstStyle/>
          <a:p>
            <a:pPr marL="0" indent="0">
              <a:buNone/>
            </a:pPr>
            <a:r>
              <a:rPr lang="en-US" sz="840" dirty="0">
                <a:solidFill>
                  <a:srgbClr val="FFFFFF"/>
                </a:solidFill>
                <a:latin typeface="Consolas" pitchFamily="34" charset="0"/>
                <a:ea typeface="Consolas" pitchFamily="34" charset="-122"/>
                <a:cs typeface="Consolas" pitchFamily="34" charset="-120"/>
              </a:rPr>
              <a:t>              if (res?.status === 200)</a:t>
            </a:r>
            <a:endParaRPr lang="en-US" sz="840" dirty="0"/>
          </a:p>
        </p:txBody>
      </p:sp>
      <p:sp>
        <p:nvSpPr>
          <p:cNvPr id="21" name="Text 19"/>
          <p:cNvSpPr/>
          <p:nvPr/>
        </p:nvSpPr>
        <p:spPr>
          <a:xfrm>
            <a:off x="384048" y="3502152"/>
            <a:ext cx="4754880" cy="160020"/>
          </a:xfrm>
          <a:prstGeom prst="rect">
            <a:avLst/>
          </a:prstGeom>
          <a:noFill/>
          <a:ln/>
        </p:spPr>
        <p:txBody>
          <a:bodyPr wrap="square" lIns="0" tIns="0" rIns="0" bIns="0" rtlCol="0" anchor="ctr"/>
          <a:lstStyle/>
          <a:p>
            <a:pPr marL="0" indent="0">
              <a:buNone/>
            </a:pPr>
            <a:r>
              <a:rPr lang="en-US" sz="840" dirty="0">
                <a:solidFill>
                  <a:srgbClr val="A8FF78"/>
                </a:solidFill>
                <a:latin typeface="Consolas" pitchFamily="34" charset="0"/>
                <a:ea typeface="Consolas" pitchFamily="34" charset="-122"/>
                <a:cs typeface="Consolas" pitchFamily="34" charset="-120"/>
              </a:rPr>
              <a:t>                tc.put(request, res.clone());</a:t>
            </a:r>
            <a:endParaRPr lang="en-US" sz="840" dirty="0"/>
          </a:p>
        </p:txBody>
      </p:sp>
      <p:sp>
        <p:nvSpPr>
          <p:cNvPr id="22" name="Text 20"/>
          <p:cNvSpPr/>
          <p:nvPr/>
        </p:nvSpPr>
        <p:spPr>
          <a:xfrm>
            <a:off x="384048" y="3662172"/>
            <a:ext cx="4754880" cy="160020"/>
          </a:xfrm>
          <a:prstGeom prst="rect">
            <a:avLst/>
          </a:prstGeom>
          <a:noFill/>
          <a:ln/>
        </p:spPr>
        <p:txBody>
          <a:bodyPr wrap="square" lIns="0" tIns="0" rIns="0" bIns="0" rtlCol="0" anchor="ctr"/>
          <a:lstStyle/>
          <a:p>
            <a:pPr marL="0" indent="0">
              <a:buNone/>
            </a:pPr>
            <a:r>
              <a:rPr lang="en-US" sz="840" dirty="0">
                <a:solidFill>
                  <a:srgbClr val="A8FF78"/>
                </a:solidFill>
                <a:latin typeface="Consolas" pitchFamily="34" charset="0"/>
                <a:ea typeface="Consolas" pitchFamily="34" charset="-122"/>
                <a:cs typeface="Consolas" pitchFamily="34" charset="-120"/>
              </a:rPr>
              <a:t>              return res;</a:t>
            </a:r>
            <a:endParaRPr lang="en-US" sz="840" dirty="0"/>
          </a:p>
        </p:txBody>
      </p:sp>
      <p:sp>
        <p:nvSpPr>
          <p:cNvPr id="23" name="Text 21"/>
          <p:cNvSpPr/>
          <p:nvPr/>
        </p:nvSpPr>
        <p:spPr>
          <a:xfrm>
            <a:off x="384048" y="3822192"/>
            <a:ext cx="4754880" cy="160020"/>
          </a:xfrm>
          <a:prstGeom prst="rect">
            <a:avLst/>
          </a:prstGeom>
          <a:noFill/>
          <a:ln/>
        </p:spPr>
        <p:txBody>
          <a:bodyPr wrap="square" lIns="0" tIns="0" rIns="0" bIns="0" rtlCol="0" anchor="ctr"/>
          <a:lstStyle/>
          <a:p>
            <a:pPr marL="0" indent="0">
              <a:buNone/>
            </a:pPr>
            <a:r>
              <a:rPr lang="en-US" sz="840" dirty="0">
                <a:solidFill>
                  <a:srgbClr val="FFFFFF"/>
                </a:solidFill>
                <a:latin typeface="Consolas" pitchFamily="34" charset="0"/>
                <a:ea typeface="Consolas" pitchFamily="34" charset="-122"/>
                <a:cs typeface="Consolas" pitchFamily="34" charset="-120"/>
              </a:rPr>
              <a:t>            })</a:t>
            </a:r>
            <a:endParaRPr lang="en-US" sz="840" dirty="0"/>
          </a:p>
        </p:txBody>
      </p:sp>
      <p:sp>
        <p:nvSpPr>
          <p:cNvPr id="24" name="Text 22"/>
          <p:cNvSpPr/>
          <p:nvPr/>
        </p:nvSpPr>
        <p:spPr>
          <a:xfrm>
            <a:off x="384048" y="3982212"/>
            <a:ext cx="4754880" cy="160020"/>
          </a:xfrm>
          <a:prstGeom prst="rect">
            <a:avLst/>
          </a:prstGeom>
          <a:noFill/>
          <a:ln/>
        </p:spPr>
        <p:txBody>
          <a:bodyPr wrap="square" lIns="0" tIns="0" rIns="0" bIns="0" rtlCol="0" anchor="ctr"/>
          <a:lstStyle/>
          <a:p>
            <a:pPr marL="0" indent="0">
              <a:buNone/>
            </a:pPr>
            <a:r>
              <a:rPr lang="en-US" sz="840" dirty="0">
                <a:solidFill>
                  <a:srgbClr val="E63946"/>
                </a:solidFill>
                <a:latin typeface="Consolas" pitchFamily="34" charset="0"/>
                <a:ea typeface="Consolas" pitchFamily="34" charset="-122"/>
                <a:cs typeface="Consolas" pitchFamily="34" charset="-120"/>
              </a:rPr>
              <a:t>            .catch(() =&gt; cached);</a:t>
            </a:r>
            <a:endParaRPr lang="en-US" sz="840" dirty="0"/>
          </a:p>
        </p:txBody>
      </p:sp>
      <p:sp>
        <p:nvSpPr>
          <p:cNvPr id="25" name="Text 23"/>
          <p:cNvSpPr/>
          <p:nvPr/>
        </p:nvSpPr>
        <p:spPr>
          <a:xfrm>
            <a:off x="384048" y="4142232"/>
            <a:ext cx="4754880" cy="160020"/>
          </a:xfrm>
          <a:prstGeom prst="rect">
            <a:avLst/>
          </a:prstGeom>
          <a:noFill/>
          <a:ln/>
        </p:spPr>
        <p:txBody>
          <a:bodyPr wrap="square" lIns="0" tIns="0" rIns="0" bIns="0" rtlCol="0" anchor="ctr"/>
          <a:lstStyle/>
          <a:p>
            <a:pPr marL="0" indent="0">
              <a:buNone/>
            </a:pPr>
            <a:r>
              <a:rPr lang="en-US" sz="840" dirty="0">
                <a:solidFill>
                  <a:srgbClr val="A8FF78"/>
                </a:solidFill>
                <a:latin typeface="Consolas" pitchFamily="34" charset="0"/>
                <a:ea typeface="Consolas" pitchFamily="34" charset="-122"/>
                <a:cs typeface="Consolas" pitchFamily="34" charset="-120"/>
              </a:rPr>
              <a:t>          return cached || net;</a:t>
            </a:r>
            <a:endParaRPr lang="en-US" sz="840" dirty="0"/>
          </a:p>
        </p:txBody>
      </p:sp>
      <p:sp>
        <p:nvSpPr>
          <p:cNvPr id="26" name="Text 24"/>
          <p:cNvSpPr/>
          <p:nvPr/>
        </p:nvSpPr>
        <p:spPr>
          <a:xfrm>
            <a:off x="384048" y="4302252"/>
            <a:ext cx="4754880" cy="160020"/>
          </a:xfrm>
          <a:prstGeom prst="rect">
            <a:avLst/>
          </a:prstGeom>
          <a:noFill/>
          <a:ln/>
        </p:spPr>
        <p:txBody>
          <a:bodyPr wrap="square" lIns="0" tIns="0" rIns="0" bIns="0" rtlCol="0" anchor="ctr"/>
          <a:lstStyle/>
          <a:p>
            <a:pPr marL="0" indent="0">
              <a:buNone/>
            </a:pPr>
            <a:r>
              <a:rPr lang="en-US" sz="840" dirty="0">
                <a:solidFill>
                  <a:srgbClr val="FFFFFF"/>
                </a:solidFill>
                <a:latin typeface="Consolas" pitchFamily="34" charset="0"/>
                <a:ea typeface="Consolas" pitchFamily="34" charset="-122"/>
                <a:cs typeface="Consolas" pitchFamily="34" charset="-120"/>
              </a:rPr>
              <a:t>        })</a:t>
            </a:r>
            <a:endParaRPr lang="en-US" sz="840" dirty="0"/>
          </a:p>
        </p:txBody>
      </p:sp>
      <p:sp>
        <p:nvSpPr>
          <p:cNvPr id="27" name="Text 25"/>
          <p:cNvSpPr/>
          <p:nvPr/>
        </p:nvSpPr>
        <p:spPr>
          <a:xfrm>
            <a:off x="384048" y="4462272"/>
            <a:ext cx="4754880" cy="160020"/>
          </a:xfrm>
          <a:prstGeom prst="rect">
            <a:avLst/>
          </a:prstGeom>
          <a:noFill/>
          <a:ln/>
        </p:spPr>
        <p:txBody>
          <a:bodyPr wrap="square" lIns="0" tIns="0" rIns="0" bIns="0" rtlCol="0" anchor="ctr"/>
          <a:lstStyle/>
          <a:p>
            <a:pPr marL="0" indent="0">
              <a:buNone/>
            </a:pPr>
            <a:r>
              <a:rPr lang="en-US" sz="840" dirty="0">
                <a:solidFill>
                  <a:srgbClr val="FFFFFF"/>
                </a:solidFill>
                <a:latin typeface="Consolas" pitchFamily="34" charset="0"/>
                <a:ea typeface="Consolas" pitchFamily="34" charset="-122"/>
                <a:cs typeface="Consolas" pitchFamily="34" charset="-120"/>
              </a:rPr>
              <a:t>    ));</a:t>
            </a:r>
            <a:endParaRPr lang="en-US" sz="840" dirty="0"/>
          </a:p>
        </p:txBody>
      </p:sp>
      <p:sp>
        <p:nvSpPr>
          <p:cNvPr id="28" name="Text 26"/>
          <p:cNvSpPr/>
          <p:nvPr/>
        </p:nvSpPr>
        <p:spPr>
          <a:xfrm>
            <a:off x="384048" y="4622292"/>
            <a:ext cx="4754880" cy="160020"/>
          </a:xfrm>
          <a:prstGeom prst="rect">
            <a:avLst/>
          </a:prstGeom>
          <a:noFill/>
          <a:ln/>
        </p:spPr>
        <p:txBody>
          <a:bodyPr wrap="square" lIns="0" tIns="0" rIns="0" bIns="0" rtlCol="0" anchor="ctr"/>
          <a:lstStyle/>
          <a:p>
            <a:pPr marL="0" indent="0">
              <a:buNone/>
            </a:pPr>
            <a:r>
              <a:rPr lang="en-US" sz="840" dirty="0">
                <a:solidFill>
                  <a:srgbClr val="FFFFFF"/>
                </a:solidFill>
                <a:latin typeface="Consolas" pitchFamily="34" charset="0"/>
                <a:ea typeface="Consolas" pitchFamily="34" charset="-122"/>
                <a:cs typeface="Consolas" pitchFamily="34" charset="-120"/>
              </a:rPr>
              <a:t>  }</a:t>
            </a:r>
            <a:endParaRPr lang="en-US" sz="840" dirty="0"/>
          </a:p>
        </p:txBody>
      </p:sp>
      <p:sp>
        <p:nvSpPr>
          <p:cNvPr id="29" name="Text 27"/>
          <p:cNvSpPr/>
          <p:nvPr/>
        </p:nvSpPr>
        <p:spPr>
          <a:xfrm>
            <a:off x="384048" y="4782312"/>
            <a:ext cx="4754880" cy="160020"/>
          </a:xfrm>
          <a:prstGeom prst="rect">
            <a:avLst/>
          </a:prstGeom>
          <a:noFill/>
          <a:ln/>
        </p:spPr>
        <p:txBody>
          <a:bodyPr wrap="square" lIns="0" tIns="0" rIns="0" bIns="0" rtlCol="0" anchor="ctr"/>
          <a:lstStyle/>
          <a:p>
            <a:pPr marL="0" indent="0">
              <a:buNone/>
            </a:pPr>
            <a:r>
              <a:rPr lang="en-US" sz="840" dirty="0">
                <a:solidFill>
                  <a:srgbClr val="FFFFFF"/>
                </a:solidFill>
                <a:latin typeface="Consolas" pitchFamily="34" charset="0"/>
                <a:ea typeface="Consolas" pitchFamily="34" charset="-122"/>
                <a:cs typeface="Consolas" pitchFamily="34" charset="-120"/>
              </a:rPr>
              <a:t>});</a:t>
            </a:r>
            <a:endParaRPr lang="en-US" sz="840" dirty="0"/>
          </a:p>
        </p:txBody>
      </p:sp>
      <p:sp>
        <p:nvSpPr>
          <p:cNvPr id="30" name="Shape 28"/>
          <p:cNvSpPr/>
          <p:nvPr/>
        </p:nvSpPr>
        <p:spPr>
          <a:xfrm>
            <a:off x="5486400" y="804672"/>
            <a:ext cx="3383280" cy="411480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31" name="Shape 29"/>
          <p:cNvSpPr/>
          <p:nvPr/>
        </p:nvSpPr>
        <p:spPr>
          <a:xfrm>
            <a:off x="5486400" y="804672"/>
            <a:ext cx="64008" cy="4114800"/>
          </a:xfrm>
          <a:prstGeom prst="rect">
            <a:avLst/>
          </a:prstGeom>
          <a:solidFill>
            <a:srgbClr val="2196F3"/>
          </a:solidFill>
          <a:ln w="12700">
            <a:solidFill>
              <a:srgbClr val="2196F3"/>
            </a:solidFill>
            <a:prstDash val="solid"/>
          </a:ln>
        </p:spPr>
        <p:txBody>
          <a:bodyPr/>
          <a:lstStyle/>
          <a:p>
            <a:endParaRPr lang="en-US"/>
          </a:p>
        </p:txBody>
      </p:sp>
      <p:sp>
        <p:nvSpPr>
          <p:cNvPr id="32" name="Text 30"/>
          <p:cNvSpPr/>
          <p:nvPr/>
        </p:nvSpPr>
        <p:spPr>
          <a:xfrm>
            <a:off x="5669280" y="914400"/>
            <a:ext cx="3017520" cy="384048"/>
          </a:xfrm>
          <a:prstGeom prst="rect">
            <a:avLst/>
          </a:prstGeom>
          <a:noFill/>
          <a:ln/>
        </p:spPr>
        <p:txBody>
          <a:bodyPr wrap="square" lIns="0" tIns="0" rIns="0" bIns="0" rtlCol="0" anchor="ctr"/>
          <a:lstStyle/>
          <a:p>
            <a:pPr marL="0" indent="0">
              <a:buNone/>
            </a:pPr>
            <a:r>
              <a:rPr lang="en-US" sz="1400" b="1" dirty="0">
                <a:solidFill>
                  <a:srgbClr val="2196F3"/>
                </a:solidFill>
                <a:latin typeface="Calibri" pitchFamily="34" charset="0"/>
                <a:ea typeface="Calibri" pitchFamily="34" charset="-122"/>
                <a:cs typeface="Calibri" pitchFamily="34" charset="-120"/>
              </a:rPr>
              <a:t>Two-Cache Strategy</a:t>
            </a:r>
            <a:endParaRPr lang="en-US" sz="1400" dirty="0"/>
          </a:p>
        </p:txBody>
      </p:sp>
      <p:sp>
        <p:nvSpPr>
          <p:cNvPr id="33" name="Text 31"/>
          <p:cNvSpPr/>
          <p:nvPr/>
        </p:nvSpPr>
        <p:spPr>
          <a:xfrm>
            <a:off x="5669280" y="1417320"/>
            <a:ext cx="3017520" cy="274320"/>
          </a:xfrm>
          <a:prstGeom prst="rect">
            <a:avLst/>
          </a:prstGeom>
          <a:noFill/>
          <a:ln/>
        </p:spPr>
        <p:txBody>
          <a:bodyPr wrap="square" lIns="0" tIns="0" rIns="0" bIns="0"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metrom-static-v3</a:t>
            </a:r>
            <a:endParaRPr lang="en-US" sz="1100" dirty="0"/>
          </a:p>
        </p:txBody>
      </p:sp>
      <p:sp>
        <p:nvSpPr>
          <p:cNvPr id="34" name="Text 32"/>
          <p:cNvSpPr/>
          <p:nvPr/>
        </p:nvSpPr>
        <p:spPr>
          <a:xfrm>
            <a:off x="5669280" y="1719072"/>
            <a:ext cx="3017520" cy="45720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Caches HTML, CSS, JS, images and fonts on install. Serves cache-first, updates in the background.</a:t>
            </a:r>
            <a:endParaRPr lang="en-US" sz="950" dirty="0"/>
          </a:p>
        </p:txBody>
      </p:sp>
      <p:sp>
        <p:nvSpPr>
          <p:cNvPr id="35" name="Text 33"/>
          <p:cNvSpPr/>
          <p:nvPr/>
        </p:nvSpPr>
        <p:spPr>
          <a:xfrm>
            <a:off x="5669280" y="2221992"/>
            <a:ext cx="3017520" cy="274320"/>
          </a:xfrm>
          <a:prstGeom prst="rect">
            <a:avLst/>
          </a:prstGeom>
          <a:noFill/>
          <a:ln/>
        </p:spPr>
        <p:txBody>
          <a:bodyPr wrap="square" lIns="0" tIns="0" rIns="0" bIns="0"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metrom-tiles-v1</a:t>
            </a:r>
            <a:endParaRPr lang="en-US" sz="1100" dirty="0"/>
          </a:p>
        </p:txBody>
      </p:sp>
      <p:sp>
        <p:nvSpPr>
          <p:cNvPr id="36" name="Text 34"/>
          <p:cNvSpPr/>
          <p:nvPr/>
        </p:nvSpPr>
        <p:spPr>
          <a:xfrm>
            <a:off x="5669280" y="2523744"/>
            <a:ext cx="3017520" cy="45720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Stale-while-revalidate for CartoCDN map tiles. Cached tiles render immediately; fresh ones are fetched and stored silently.</a:t>
            </a:r>
            <a:endParaRPr lang="en-US" sz="950" dirty="0"/>
          </a:p>
        </p:txBody>
      </p:sp>
      <p:sp>
        <p:nvSpPr>
          <p:cNvPr id="37" name="Text 35"/>
          <p:cNvSpPr/>
          <p:nvPr/>
        </p:nvSpPr>
        <p:spPr>
          <a:xfrm>
            <a:off x="5669280" y="3026664"/>
            <a:ext cx="3017520" cy="274320"/>
          </a:xfrm>
          <a:prstGeom prst="rect">
            <a:avLst/>
          </a:prstGeom>
          <a:noFill/>
          <a:ln/>
        </p:spPr>
        <p:txBody>
          <a:bodyPr wrap="square" lIns="0" tIns="0" rIns="0" bIns="0"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Offline Resilience</a:t>
            </a:r>
            <a:endParaRPr lang="en-US" sz="1100" dirty="0"/>
          </a:p>
        </p:txBody>
      </p:sp>
      <p:sp>
        <p:nvSpPr>
          <p:cNvPr id="38" name="Text 36"/>
          <p:cNvSpPr/>
          <p:nvPr/>
        </p:nvSpPr>
        <p:spPr>
          <a:xfrm>
            <a:off x="5669280" y="3328416"/>
            <a:ext cx="3017520" cy="45720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Previously visited map areas and all app pages remain usable with no network connection — critical for underground metro use.</a:t>
            </a:r>
            <a:endParaRPr lang="en-US" sz="950" dirty="0"/>
          </a:p>
        </p:txBody>
      </p:sp>
      <p:sp>
        <p:nvSpPr>
          <p:cNvPr id="39" name="Text 37"/>
          <p:cNvSpPr/>
          <p:nvPr/>
        </p:nvSpPr>
        <p:spPr>
          <a:xfrm>
            <a:off x="5669280" y="3831336"/>
            <a:ext cx="3017520" cy="274320"/>
          </a:xfrm>
          <a:prstGeom prst="rect">
            <a:avLst/>
          </a:prstGeom>
          <a:noFill/>
          <a:ln/>
        </p:spPr>
        <p:txBody>
          <a:bodyPr wrap="square" lIns="0" tIns="0" rIns="0" bIns="0"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Cache Cleanup</a:t>
            </a:r>
            <a:endParaRPr lang="en-US" sz="1100" dirty="0"/>
          </a:p>
        </p:txBody>
      </p:sp>
      <p:sp>
        <p:nvSpPr>
          <p:cNvPr id="40" name="Text 38"/>
          <p:cNvSpPr/>
          <p:nvPr/>
        </p:nvSpPr>
        <p:spPr>
          <a:xfrm>
            <a:off x="5669280" y="4133088"/>
            <a:ext cx="3017520" cy="457200"/>
          </a:xfrm>
          <a:prstGeom prst="rect">
            <a:avLst/>
          </a:prstGeom>
          <a:noFill/>
          <a:ln/>
        </p:spPr>
        <p:txBody>
          <a:bodyPr wrap="square" lIns="0" tIns="0" rIns="0" bIns="0" rtlCol="0" anchor="ctr"/>
          <a:lstStyle/>
          <a:p>
            <a:pPr marL="0" indent="0">
              <a:lnSpc>
                <a:spcPct val="130000"/>
              </a:lnSpc>
              <a:buNone/>
            </a:pPr>
            <a:r>
              <a:rPr lang="en-US" sz="950" dirty="0">
                <a:solidFill>
                  <a:srgbClr val="D4E8E0"/>
                </a:solidFill>
                <a:latin typeface="Calibri" pitchFamily="34" charset="0"/>
                <a:ea typeface="Calibri" pitchFamily="34" charset="-122"/>
                <a:cs typeface="Calibri" pitchFamily="34" charset="-120"/>
              </a:rPr>
              <a:t>On activate, all old cache versions are deleted automatically — no stale assets linger across deployments.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9800"/>
          </a:solidFill>
          <a:ln w="12700">
            <a:solidFill>
              <a:srgbClr val="FF9800"/>
            </a:solidFill>
            <a:prstDash val="solid"/>
          </a:ln>
        </p:spPr>
        <p:txBody>
          <a:bodyPr/>
          <a:lstStyle/>
          <a:p>
            <a:endParaRPr lang="en-US"/>
          </a:p>
        </p:txBody>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400" b="1" kern="0" spc="200" dirty="0">
                <a:solidFill>
                  <a:srgbClr val="FFFFFF"/>
                </a:solidFill>
                <a:latin typeface="Calibri" pitchFamily="34" charset="0"/>
                <a:ea typeface="Calibri" pitchFamily="34" charset="-122"/>
                <a:cs typeface="Calibri" pitchFamily="34" charset="-120"/>
              </a:rPr>
              <a:t>07  REST API DESIGN</a:t>
            </a:r>
            <a:endParaRPr lang="en-US" sz="2400" dirty="0"/>
          </a:p>
        </p:txBody>
      </p:sp>
      <p:sp>
        <p:nvSpPr>
          <p:cNvPr id="4" name="Shape 2"/>
          <p:cNvSpPr/>
          <p:nvPr/>
        </p:nvSpPr>
        <p:spPr>
          <a:xfrm>
            <a:off x="228600" y="804672"/>
            <a:ext cx="4206240" cy="1993392"/>
          </a:xfrm>
          <a:prstGeom prst="rect">
            <a:avLst/>
          </a:prstGeom>
          <a:solidFill>
            <a:srgbClr val="1B2A3B"/>
          </a:solidFill>
          <a:ln w="12700">
            <a:solidFill>
              <a:srgbClr val="00C9A7"/>
            </a:solidFill>
            <a:prstDash val="solid"/>
          </a:ln>
          <a:effectLst>
            <a:outerShdw blurRad="101600" dist="38100" dir="8100000" algn="bl" rotWithShape="0">
              <a:srgbClr val="000000">
                <a:alpha val="25000"/>
              </a:srgbClr>
            </a:outerShdw>
          </a:effectLst>
        </p:spPr>
        <p:txBody>
          <a:bodyPr/>
          <a:lstStyle/>
          <a:p>
            <a:endParaRPr lang="en-US"/>
          </a:p>
        </p:txBody>
      </p:sp>
      <p:sp>
        <p:nvSpPr>
          <p:cNvPr id="5" name="Shape 3"/>
          <p:cNvSpPr/>
          <p:nvPr/>
        </p:nvSpPr>
        <p:spPr>
          <a:xfrm>
            <a:off x="228600" y="804672"/>
            <a:ext cx="4206240" cy="347472"/>
          </a:xfrm>
          <a:prstGeom prst="rect">
            <a:avLst/>
          </a:prstGeom>
          <a:solidFill>
            <a:srgbClr val="00C9A7"/>
          </a:solidFill>
          <a:ln w="12700">
            <a:solidFill>
              <a:srgbClr val="00C9A7"/>
            </a:solidFill>
            <a:prstDash val="solid"/>
          </a:ln>
        </p:spPr>
        <p:txBody>
          <a:bodyPr/>
          <a:lstStyle/>
          <a:p>
            <a:endParaRPr lang="en-US"/>
          </a:p>
        </p:txBody>
      </p:sp>
      <p:sp>
        <p:nvSpPr>
          <p:cNvPr id="6" name="Text 4"/>
          <p:cNvSpPr/>
          <p:nvPr/>
        </p:nvSpPr>
        <p:spPr>
          <a:xfrm>
            <a:off x="320040" y="804672"/>
            <a:ext cx="402336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Authentication</a:t>
            </a:r>
            <a:endParaRPr lang="en-US" sz="1200" dirty="0"/>
          </a:p>
        </p:txBody>
      </p:sp>
      <p:sp>
        <p:nvSpPr>
          <p:cNvPr id="7" name="Shape 5"/>
          <p:cNvSpPr/>
          <p:nvPr/>
        </p:nvSpPr>
        <p:spPr>
          <a:xfrm>
            <a:off x="320040" y="1216152"/>
            <a:ext cx="658368" cy="246888"/>
          </a:xfrm>
          <a:prstGeom prst="rect">
            <a:avLst/>
          </a:prstGeom>
          <a:solidFill>
            <a:srgbClr val="00C9A7">
              <a:alpha val="80000"/>
            </a:srgbClr>
          </a:solidFill>
          <a:ln w="12700">
            <a:solidFill>
              <a:srgbClr val="00C9A7"/>
            </a:solidFill>
            <a:prstDash val="solid"/>
          </a:ln>
        </p:spPr>
        <p:txBody>
          <a:bodyPr/>
          <a:lstStyle/>
          <a:p>
            <a:endParaRPr lang="en-US"/>
          </a:p>
        </p:txBody>
      </p:sp>
      <p:sp>
        <p:nvSpPr>
          <p:cNvPr id="8" name="Text 6"/>
          <p:cNvSpPr/>
          <p:nvPr/>
        </p:nvSpPr>
        <p:spPr>
          <a:xfrm>
            <a:off x="320040" y="1216152"/>
            <a:ext cx="65836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POST</a:t>
            </a:r>
            <a:endParaRPr lang="en-US" sz="800" dirty="0"/>
          </a:p>
        </p:txBody>
      </p:sp>
      <p:sp>
        <p:nvSpPr>
          <p:cNvPr id="9" name="Text 7"/>
          <p:cNvSpPr/>
          <p:nvPr/>
        </p:nvSpPr>
        <p:spPr>
          <a:xfrm>
            <a:off x="1033272" y="1216152"/>
            <a:ext cx="1188720" cy="246888"/>
          </a:xfrm>
          <a:prstGeom prst="rect">
            <a:avLst/>
          </a:prstGeom>
          <a:noFill/>
          <a:ln/>
        </p:spPr>
        <p:txBody>
          <a:bodyPr wrap="square" lIns="0" tIns="0" rIns="0" bIns="0" rtlCol="0" anchor="ctr"/>
          <a:lstStyle/>
          <a:p>
            <a:pPr marL="0" indent="0">
              <a:buNone/>
            </a:pPr>
            <a:r>
              <a:rPr lang="en-US" sz="850" dirty="0">
                <a:solidFill>
                  <a:srgbClr val="A8FF78"/>
                </a:solidFill>
                <a:latin typeface="Consolas" pitchFamily="34" charset="0"/>
                <a:ea typeface="Consolas" pitchFamily="34" charset="-122"/>
                <a:cs typeface="Consolas" pitchFamily="34" charset="-120"/>
              </a:rPr>
              <a:t>/auth/signup</a:t>
            </a:r>
            <a:endParaRPr lang="en-US" sz="850" dirty="0"/>
          </a:p>
        </p:txBody>
      </p:sp>
      <p:sp>
        <p:nvSpPr>
          <p:cNvPr id="10" name="Text 8"/>
          <p:cNvSpPr/>
          <p:nvPr/>
        </p:nvSpPr>
        <p:spPr>
          <a:xfrm>
            <a:off x="2258568" y="1216152"/>
            <a:ext cx="2084832" cy="246888"/>
          </a:xfrm>
          <a:prstGeom prst="rect">
            <a:avLst/>
          </a:prstGeom>
          <a:noFill/>
          <a:ln/>
        </p:spPr>
        <p:txBody>
          <a:bodyPr wrap="square" lIns="0" tIns="0" rIns="0" bIns="0" rtlCol="0" anchor="ctr"/>
          <a:lstStyle/>
          <a:p>
            <a:pPr marL="0" indent="0">
              <a:buNone/>
            </a:pPr>
            <a:r>
              <a:rPr lang="en-US" sz="850" dirty="0">
                <a:solidFill>
                  <a:srgbClr val="7BA5A0"/>
                </a:solidFill>
                <a:latin typeface="Calibri" pitchFamily="34" charset="0"/>
                <a:ea typeface="Calibri" pitchFamily="34" charset="-122"/>
                <a:cs typeface="Calibri" pitchFamily="34" charset="-120"/>
              </a:rPr>
              <a:t>Register new user, return tokens</a:t>
            </a:r>
            <a:endParaRPr lang="en-US" sz="850" dirty="0"/>
          </a:p>
        </p:txBody>
      </p:sp>
      <p:sp>
        <p:nvSpPr>
          <p:cNvPr id="11" name="Shape 9"/>
          <p:cNvSpPr/>
          <p:nvPr/>
        </p:nvSpPr>
        <p:spPr>
          <a:xfrm>
            <a:off x="320040" y="1536192"/>
            <a:ext cx="658368" cy="246888"/>
          </a:xfrm>
          <a:prstGeom prst="rect">
            <a:avLst/>
          </a:prstGeom>
          <a:solidFill>
            <a:srgbClr val="00C9A7">
              <a:alpha val="80000"/>
            </a:srgbClr>
          </a:solidFill>
          <a:ln w="12700">
            <a:solidFill>
              <a:srgbClr val="00C9A7"/>
            </a:solidFill>
            <a:prstDash val="solid"/>
          </a:ln>
        </p:spPr>
        <p:txBody>
          <a:bodyPr/>
          <a:lstStyle/>
          <a:p>
            <a:endParaRPr lang="en-US"/>
          </a:p>
        </p:txBody>
      </p:sp>
      <p:sp>
        <p:nvSpPr>
          <p:cNvPr id="12" name="Text 10"/>
          <p:cNvSpPr/>
          <p:nvPr/>
        </p:nvSpPr>
        <p:spPr>
          <a:xfrm>
            <a:off x="320040" y="1536192"/>
            <a:ext cx="65836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POST</a:t>
            </a:r>
            <a:endParaRPr lang="en-US" sz="800" dirty="0"/>
          </a:p>
        </p:txBody>
      </p:sp>
      <p:sp>
        <p:nvSpPr>
          <p:cNvPr id="13" name="Text 11"/>
          <p:cNvSpPr/>
          <p:nvPr/>
        </p:nvSpPr>
        <p:spPr>
          <a:xfrm>
            <a:off x="1033272" y="1536192"/>
            <a:ext cx="1188720" cy="246888"/>
          </a:xfrm>
          <a:prstGeom prst="rect">
            <a:avLst/>
          </a:prstGeom>
          <a:noFill/>
          <a:ln/>
        </p:spPr>
        <p:txBody>
          <a:bodyPr wrap="square" lIns="0" tIns="0" rIns="0" bIns="0" rtlCol="0" anchor="ctr"/>
          <a:lstStyle/>
          <a:p>
            <a:pPr marL="0" indent="0">
              <a:buNone/>
            </a:pPr>
            <a:r>
              <a:rPr lang="en-US" sz="850" dirty="0">
                <a:solidFill>
                  <a:srgbClr val="A8FF78"/>
                </a:solidFill>
                <a:latin typeface="Consolas" pitchFamily="34" charset="0"/>
                <a:ea typeface="Consolas" pitchFamily="34" charset="-122"/>
                <a:cs typeface="Consolas" pitchFamily="34" charset="-120"/>
              </a:rPr>
              <a:t>/auth/signin</a:t>
            </a:r>
            <a:endParaRPr lang="en-US" sz="850" dirty="0"/>
          </a:p>
        </p:txBody>
      </p:sp>
      <p:sp>
        <p:nvSpPr>
          <p:cNvPr id="14" name="Text 12"/>
          <p:cNvSpPr/>
          <p:nvPr/>
        </p:nvSpPr>
        <p:spPr>
          <a:xfrm>
            <a:off x="2258568" y="1536192"/>
            <a:ext cx="2084832" cy="246888"/>
          </a:xfrm>
          <a:prstGeom prst="rect">
            <a:avLst/>
          </a:prstGeom>
          <a:noFill/>
          <a:ln/>
        </p:spPr>
        <p:txBody>
          <a:bodyPr wrap="square" lIns="0" tIns="0" rIns="0" bIns="0" rtlCol="0" anchor="ctr"/>
          <a:lstStyle/>
          <a:p>
            <a:pPr marL="0" indent="0">
              <a:buNone/>
            </a:pPr>
            <a:r>
              <a:rPr lang="en-US" sz="850" dirty="0">
                <a:solidFill>
                  <a:srgbClr val="7BA5A0"/>
                </a:solidFill>
                <a:latin typeface="Calibri" pitchFamily="34" charset="0"/>
                <a:ea typeface="Calibri" pitchFamily="34" charset="-122"/>
                <a:cs typeface="Calibri" pitchFamily="34" charset="-120"/>
              </a:rPr>
              <a:t>Authenticate, return access + refresh</a:t>
            </a:r>
            <a:endParaRPr lang="en-US" sz="850" dirty="0"/>
          </a:p>
        </p:txBody>
      </p:sp>
      <p:sp>
        <p:nvSpPr>
          <p:cNvPr id="15" name="Shape 13"/>
          <p:cNvSpPr/>
          <p:nvPr/>
        </p:nvSpPr>
        <p:spPr>
          <a:xfrm>
            <a:off x="320040" y="1856232"/>
            <a:ext cx="658368" cy="246888"/>
          </a:xfrm>
          <a:prstGeom prst="rect">
            <a:avLst/>
          </a:prstGeom>
          <a:solidFill>
            <a:srgbClr val="00C9A7">
              <a:alpha val="80000"/>
            </a:srgbClr>
          </a:solidFill>
          <a:ln w="12700">
            <a:solidFill>
              <a:srgbClr val="00C9A7"/>
            </a:solidFill>
            <a:prstDash val="solid"/>
          </a:ln>
        </p:spPr>
        <p:txBody>
          <a:bodyPr/>
          <a:lstStyle/>
          <a:p>
            <a:endParaRPr lang="en-US"/>
          </a:p>
        </p:txBody>
      </p:sp>
      <p:sp>
        <p:nvSpPr>
          <p:cNvPr id="16" name="Text 14"/>
          <p:cNvSpPr/>
          <p:nvPr/>
        </p:nvSpPr>
        <p:spPr>
          <a:xfrm>
            <a:off x="320040" y="1856232"/>
            <a:ext cx="65836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POST</a:t>
            </a:r>
            <a:endParaRPr lang="en-US" sz="800" dirty="0"/>
          </a:p>
        </p:txBody>
      </p:sp>
      <p:sp>
        <p:nvSpPr>
          <p:cNvPr id="17" name="Text 15"/>
          <p:cNvSpPr/>
          <p:nvPr/>
        </p:nvSpPr>
        <p:spPr>
          <a:xfrm>
            <a:off x="1033272" y="1856232"/>
            <a:ext cx="1188720" cy="246888"/>
          </a:xfrm>
          <a:prstGeom prst="rect">
            <a:avLst/>
          </a:prstGeom>
          <a:noFill/>
          <a:ln/>
        </p:spPr>
        <p:txBody>
          <a:bodyPr wrap="square" lIns="0" tIns="0" rIns="0" bIns="0" rtlCol="0" anchor="ctr"/>
          <a:lstStyle/>
          <a:p>
            <a:pPr marL="0" indent="0">
              <a:buNone/>
            </a:pPr>
            <a:r>
              <a:rPr lang="en-US" sz="850" dirty="0">
                <a:solidFill>
                  <a:srgbClr val="A8FF78"/>
                </a:solidFill>
                <a:latin typeface="Consolas" pitchFamily="34" charset="0"/>
                <a:ea typeface="Consolas" pitchFamily="34" charset="-122"/>
                <a:cs typeface="Consolas" pitchFamily="34" charset="-120"/>
              </a:rPr>
              <a:t>/auth/refresh</a:t>
            </a:r>
            <a:endParaRPr lang="en-US" sz="850" dirty="0"/>
          </a:p>
        </p:txBody>
      </p:sp>
      <p:sp>
        <p:nvSpPr>
          <p:cNvPr id="18" name="Text 16"/>
          <p:cNvSpPr/>
          <p:nvPr/>
        </p:nvSpPr>
        <p:spPr>
          <a:xfrm>
            <a:off x="2258568" y="1856232"/>
            <a:ext cx="2084832" cy="246888"/>
          </a:xfrm>
          <a:prstGeom prst="rect">
            <a:avLst/>
          </a:prstGeom>
          <a:noFill/>
          <a:ln/>
        </p:spPr>
        <p:txBody>
          <a:bodyPr wrap="square" lIns="0" tIns="0" rIns="0" bIns="0" rtlCol="0" anchor="ctr"/>
          <a:lstStyle/>
          <a:p>
            <a:pPr marL="0" indent="0">
              <a:buNone/>
            </a:pPr>
            <a:r>
              <a:rPr lang="en-US" sz="850" dirty="0">
                <a:solidFill>
                  <a:srgbClr val="7BA5A0"/>
                </a:solidFill>
                <a:latin typeface="Calibri" pitchFamily="34" charset="0"/>
                <a:ea typeface="Calibri" pitchFamily="34" charset="-122"/>
                <a:cs typeface="Calibri" pitchFamily="34" charset="-120"/>
              </a:rPr>
              <a:t>Rotate access token via refresh token</a:t>
            </a:r>
            <a:endParaRPr lang="en-US" sz="850" dirty="0"/>
          </a:p>
        </p:txBody>
      </p:sp>
      <p:sp>
        <p:nvSpPr>
          <p:cNvPr id="19" name="Shape 17"/>
          <p:cNvSpPr/>
          <p:nvPr/>
        </p:nvSpPr>
        <p:spPr>
          <a:xfrm>
            <a:off x="320040" y="2176272"/>
            <a:ext cx="658368" cy="246888"/>
          </a:xfrm>
          <a:prstGeom prst="rect">
            <a:avLst/>
          </a:prstGeom>
          <a:solidFill>
            <a:srgbClr val="00C9A7">
              <a:alpha val="80000"/>
            </a:srgbClr>
          </a:solidFill>
          <a:ln w="12700">
            <a:solidFill>
              <a:srgbClr val="00C9A7"/>
            </a:solidFill>
            <a:prstDash val="solid"/>
          </a:ln>
        </p:spPr>
        <p:txBody>
          <a:bodyPr/>
          <a:lstStyle/>
          <a:p>
            <a:endParaRPr lang="en-US"/>
          </a:p>
        </p:txBody>
      </p:sp>
      <p:sp>
        <p:nvSpPr>
          <p:cNvPr id="20" name="Text 18"/>
          <p:cNvSpPr/>
          <p:nvPr/>
        </p:nvSpPr>
        <p:spPr>
          <a:xfrm>
            <a:off x="320040" y="2176272"/>
            <a:ext cx="65836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POST</a:t>
            </a:r>
            <a:endParaRPr lang="en-US" sz="800" dirty="0"/>
          </a:p>
        </p:txBody>
      </p:sp>
      <p:sp>
        <p:nvSpPr>
          <p:cNvPr id="21" name="Text 19"/>
          <p:cNvSpPr/>
          <p:nvPr/>
        </p:nvSpPr>
        <p:spPr>
          <a:xfrm>
            <a:off x="1033272" y="2176272"/>
            <a:ext cx="1188720" cy="246888"/>
          </a:xfrm>
          <a:prstGeom prst="rect">
            <a:avLst/>
          </a:prstGeom>
          <a:noFill/>
          <a:ln/>
        </p:spPr>
        <p:txBody>
          <a:bodyPr wrap="square" lIns="0" tIns="0" rIns="0" bIns="0" rtlCol="0" anchor="ctr"/>
          <a:lstStyle/>
          <a:p>
            <a:pPr marL="0" indent="0">
              <a:buNone/>
            </a:pPr>
            <a:r>
              <a:rPr lang="en-US" sz="850" dirty="0">
                <a:solidFill>
                  <a:srgbClr val="A8FF78"/>
                </a:solidFill>
                <a:latin typeface="Consolas" pitchFamily="34" charset="0"/>
                <a:ea typeface="Consolas" pitchFamily="34" charset="-122"/>
                <a:cs typeface="Consolas" pitchFamily="34" charset="-120"/>
              </a:rPr>
              <a:t>/auth/signout</a:t>
            </a:r>
            <a:endParaRPr lang="en-US" sz="850" dirty="0"/>
          </a:p>
        </p:txBody>
      </p:sp>
      <p:sp>
        <p:nvSpPr>
          <p:cNvPr id="22" name="Text 20"/>
          <p:cNvSpPr/>
          <p:nvPr/>
        </p:nvSpPr>
        <p:spPr>
          <a:xfrm>
            <a:off x="2258568" y="2176272"/>
            <a:ext cx="2084832" cy="246888"/>
          </a:xfrm>
          <a:prstGeom prst="rect">
            <a:avLst/>
          </a:prstGeom>
          <a:noFill/>
          <a:ln/>
        </p:spPr>
        <p:txBody>
          <a:bodyPr wrap="square" lIns="0" tIns="0" rIns="0" bIns="0" rtlCol="0" anchor="ctr"/>
          <a:lstStyle/>
          <a:p>
            <a:pPr marL="0" indent="0">
              <a:buNone/>
            </a:pPr>
            <a:r>
              <a:rPr lang="en-US" sz="850" dirty="0">
                <a:solidFill>
                  <a:srgbClr val="7BA5A0"/>
                </a:solidFill>
                <a:latin typeface="Calibri" pitchFamily="34" charset="0"/>
                <a:ea typeface="Calibri" pitchFamily="34" charset="-122"/>
                <a:cs typeface="Calibri" pitchFamily="34" charset="-120"/>
              </a:rPr>
              <a:t>Revoke refresh token on server</a:t>
            </a:r>
            <a:endParaRPr lang="en-US" sz="850" dirty="0"/>
          </a:p>
        </p:txBody>
      </p:sp>
      <p:sp>
        <p:nvSpPr>
          <p:cNvPr id="23" name="Shape 21"/>
          <p:cNvSpPr/>
          <p:nvPr/>
        </p:nvSpPr>
        <p:spPr>
          <a:xfrm>
            <a:off x="4690872" y="804672"/>
            <a:ext cx="4206240" cy="1993392"/>
          </a:xfrm>
          <a:prstGeom prst="rect">
            <a:avLst/>
          </a:prstGeom>
          <a:solidFill>
            <a:srgbClr val="1B2A3B"/>
          </a:solidFill>
          <a:ln w="12700">
            <a:solidFill>
              <a:srgbClr val="F5A623"/>
            </a:solidFill>
            <a:prstDash val="solid"/>
          </a:ln>
          <a:effectLst>
            <a:outerShdw blurRad="101600" dist="38100" dir="8100000" algn="bl" rotWithShape="0">
              <a:srgbClr val="000000">
                <a:alpha val="25000"/>
              </a:srgbClr>
            </a:outerShdw>
          </a:effectLst>
        </p:spPr>
        <p:txBody>
          <a:bodyPr/>
          <a:lstStyle/>
          <a:p>
            <a:endParaRPr lang="en-US"/>
          </a:p>
        </p:txBody>
      </p:sp>
      <p:sp>
        <p:nvSpPr>
          <p:cNvPr id="24" name="Shape 22"/>
          <p:cNvSpPr/>
          <p:nvPr/>
        </p:nvSpPr>
        <p:spPr>
          <a:xfrm>
            <a:off x="4690872" y="804672"/>
            <a:ext cx="4206240" cy="347472"/>
          </a:xfrm>
          <a:prstGeom prst="rect">
            <a:avLst/>
          </a:prstGeom>
          <a:solidFill>
            <a:srgbClr val="F5A623"/>
          </a:solidFill>
          <a:ln w="12700">
            <a:solidFill>
              <a:srgbClr val="F5A623"/>
            </a:solidFill>
            <a:prstDash val="solid"/>
          </a:ln>
        </p:spPr>
        <p:txBody>
          <a:bodyPr/>
          <a:lstStyle/>
          <a:p>
            <a:endParaRPr lang="en-US"/>
          </a:p>
        </p:txBody>
      </p:sp>
      <p:sp>
        <p:nvSpPr>
          <p:cNvPr id="25" name="Text 23"/>
          <p:cNvSpPr/>
          <p:nvPr/>
        </p:nvSpPr>
        <p:spPr>
          <a:xfrm>
            <a:off x="4782312" y="804672"/>
            <a:ext cx="402336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User Account</a:t>
            </a:r>
            <a:endParaRPr lang="en-US" sz="1200" dirty="0"/>
          </a:p>
        </p:txBody>
      </p:sp>
      <p:sp>
        <p:nvSpPr>
          <p:cNvPr id="26" name="Shape 24"/>
          <p:cNvSpPr/>
          <p:nvPr/>
        </p:nvSpPr>
        <p:spPr>
          <a:xfrm>
            <a:off x="4782312" y="1216152"/>
            <a:ext cx="658368" cy="246888"/>
          </a:xfrm>
          <a:prstGeom prst="rect">
            <a:avLst/>
          </a:prstGeom>
          <a:solidFill>
            <a:srgbClr val="2196F3">
              <a:alpha val="80000"/>
            </a:srgbClr>
          </a:solidFill>
          <a:ln w="12700">
            <a:solidFill>
              <a:srgbClr val="2196F3"/>
            </a:solidFill>
            <a:prstDash val="solid"/>
          </a:ln>
        </p:spPr>
        <p:txBody>
          <a:bodyPr/>
          <a:lstStyle/>
          <a:p>
            <a:endParaRPr lang="en-US"/>
          </a:p>
        </p:txBody>
      </p:sp>
      <p:sp>
        <p:nvSpPr>
          <p:cNvPr id="27" name="Text 25"/>
          <p:cNvSpPr/>
          <p:nvPr/>
        </p:nvSpPr>
        <p:spPr>
          <a:xfrm>
            <a:off x="4782312" y="1216152"/>
            <a:ext cx="65836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GET</a:t>
            </a:r>
            <a:endParaRPr lang="en-US" sz="800" dirty="0"/>
          </a:p>
        </p:txBody>
      </p:sp>
      <p:sp>
        <p:nvSpPr>
          <p:cNvPr id="28" name="Text 26"/>
          <p:cNvSpPr/>
          <p:nvPr/>
        </p:nvSpPr>
        <p:spPr>
          <a:xfrm>
            <a:off x="5495544" y="1216152"/>
            <a:ext cx="1188720" cy="246888"/>
          </a:xfrm>
          <a:prstGeom prst="rect">
            <a:avLst/>
          </a:prstGeom>
          <a:noFill/>
          <a:ln/>
        </p:spPr>
        <p:txBody>
          <a:bodyPr wrap="square" lIns="0" tIns="0" rIns="0" bIns="0" rtlCol="0" anchor="ctr"/>
          <a:lstStyle/>
          <a:p>
            <a:pPr marL="0" indent="0">
              <a:buNone/>
            </a:pPr>
            <a:r>
              <a:rPr lang="en-US" sz="850" dirty="0">
                <a:solidFill>
                  <a:srgbClr val="A8FF78"/>
                </a:solidFill>
                <a:latin typeface="Consolas" pitchFamily="34" charset="0"/>
                <a:ea typeface="Consolas" pitchFamily="34" charset="-122"/>
                <a:cs typeface="Consolas" pitchFamily="34" charset="-120"/>
              </a:rPr>
              <a:t>/users/me</a:t>
            </a:r>
            <a:endParaRPr lang="en-US" sz="850" dirty="0"/>
          </a:p>
        </p:txBody>
      </p:sp>
      <p:sp>
        <p:nvSpPr>
          <p:cNvPr id="29" name="Text 27"/>
          <p:cNvSpPr/>
          <p:nvPr/>
        </p:nvSpPr>
        <p:spPr>
          <a:xfrm>
            <a:off x="6720840" y="1216152"/>
            <a:ext cx="2084832" cy="246888"/>
          </a:xfrm>
          <a:prstGeom prst="rect">
            <a:avLst/>
          </a:prstGeom>
          <a:noFill/>
          <a:ln/>
        </p:spPr>
        <p:txBody>
          <a:bodyPr wrap="square" lIns="0" tIns="0" rIns="0" bIns="0" rtlCol="0" anchor="ctr"/>
          <a:lstStyle/>
          <a:p>
            <a:pPr marL="0" indent="0">
              <a:buNone/>
            </a:pPr>
            <a:r>
              <a:rPr lang="en-US" sz="850" dirty="0">
                <a:solidFill>
                  <a:srgbClr val="7BA5A0"/>
                </a:solidFill>
                <a:latin typeface="Calibri" pitchFamily="34" charset="0"/>
                <a:ea typeface="Calibri" pitchFamily="34" charset="-122"/>
                <a:cs typeface="Calibri" pitchFamily="34" charset="-120"/>
              </a:rPr>
              <a:t>Fetch current user profile</a:t>
            </a:r>
            <a:endParaRPr lang="en-US" sz="850" dirty="0"/>
          </a:p>
        </p:txBody>
      </p:sp>
      <p:sp>
        <p:nvSpPr>
          <p:cNvPr id="30" name="Shape 28"/>
          <p:cNvSpPr/>
          <p:nvPr/>
        </p:nvSpPr>
        <p:spPr>
          <a:xfrm>
            <a:off x="4782312" y="1536192"/>
            <a:ext cx="658368" cy="246888"/>
          </a:xfrm>
          <a:prstGeom prst="rect">
            <a:avLst/>
          </a:prstGeom>
          <a:solidFill>
            <a:srgbClr val="F5A623">
              <a:alpha val="80000"/>
            </a:srgbClr>
          </a:solidFill>
          <a:ln w="12700">
            <a:solidFill>
              <a:srgbClr val="F5A623"/>
            </a:solidFill>
            <a:prstDash val="solid"/>
          </a:ln>
        </p:spPr>
        <p:txBody>
          <a:bodyPr/>
          <a:lstStyle/>
          <a:p>
            <a:endParaRPr lang="en-US"/>
          </a:p>
        </p:txBody>
      </p:sp>
      <p:sp>
        <p:nvSpPr>
          <p:cNvPr id="31" name="Text 29"/>
          <p:cNvSpPr/>
          <p:nvPr/>
        </p:nvSpPr>
        <p:spPr>
          <a:xfrm>
            <a:off x="4782312" y="1536192"/>
            <a:ext cx="65836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PATCH</a:t>
            </a:r>
            <a:endParaRPr lang="en-US" sz="800" dirty="0"/>
          </a:p>
        </p:txBody>
      </p:sp>
      <p:sp>
        <p:nvSpPr>
          <p:cNvPr id="32" name="Text 30"/>
          <p:cNvSpPr/>
          <p:nvPr/>
        </p:nvSpPr>
        <p:spPr>
          <a:xfrm>
            <a:off x="5495544" y="1536192"/>
            <a:ext cx="1188720" cy="246888"/>
          </a:xfrm>
          <a:prstGeom prst="rect">
            <a:avLst/>
          </a:prstGeom>
          <a:noFill/>
          <a:ln/>
        </p:spPr>
        <p:txBody>
          <a:bodyPr wrap="square" lIns="0" tIns="0" rIns="0" bIns="0" rtlCol="0" anchor="ctr"/>
          <a:lstStyle/>
          <a:p>
            <a:pPr marL="0" indent="0">
              <a:buNone/>
            </a:pPr>
            <a:r>
              <a:rPr lang="en-US" sz="850" dirty="0">
                <a:solidFill>
                  <a:srgbClr val="A8FF78"/>
                </a:solidFill>
                <a:latin typeface="Consolas" pitchFamily="34" charset="0"/>
                <a:ea typeface="Consolas" pitchFamily="34" charset="-122"/>
                <a:cs typeface="Consolas" pitchFamily="34" charset="-120"/>
              </a:rPr>
              <a:t>/users/me</a:t>
            </a:r>
            <a:endParaRPr lang="en-US" sz="850" dirty="0"/>
          </a:p>
        </p:txBody>
      </p:sp>
      <p:sp>
        <p:nvSpPr>
          <p:cNvPr id="33" name="Text 31"/>
          <p:cNvSpPr/>
          <p:nvPr/>
        </p:nvSpPr>
        <p:spPr>
          <a:xfrm>
            <a:off x="6720840" y="1536192"/>
            <a:ext cx="2084832" cy="246888"/>
          </a:xfrm>
          <a:prstGeom prst="rect">
            <a:avLst/>
          </a:prstGeom>
          <a:noFill/>
          <a:ln/>
        </p:spPr>
        <p:txBody>
          <a:bodyPr wrap="square" lIns="0" tIns="0" rIns="0" bIns="0" rtlCol="0" anchor="ctr"/>
          <a:lstStyle/>
          <a:p>
            <a:pPr marL="0" indent="0">
              <a:buNone/>
            </a:pPr>
            <a:r>
              <a:rPr lang="en-US" sz="850" dirty="0">
                <a:solidFill>
                  <a:srgbClr val="7BA5A0"/>
                </a:solidFill>
                <a:latin typeface="Calibri" pitchFamily="34" charset="0"/>
                <a:ea typeface="Calibri" pitchFamily="34" charset="-122"/>
                <a:cs typeface="Calibri" pitchFamily="34" charset="-120"/>
              </a:rPr>
              <a:t>Update name, email, or password</a:t>
            </a:r>
            <a:endParaRPr lang="en-US" sz="850" dirty="0"/>
          </a:p>
        </p:txBody>
      </p:sp>
      <p:sp>
        <p:nvSpPr>
          <p:cNvPr id="34" name="Shape 32"/>
          <p:cNvSpPr/>
          <p:nvPr/>
        </p:nvSpPr>
        <p:spPr>
          <a:xfrm>
            <a:off x="4782312" y="1856232"/>
            <a:ext cx="658368" cy="246888"/>
          </a:xfrm>
          <a:prstGeom prst="rect">
            <a:avLst/>
          </a:prstGeom>
          <a:solidFill>
            <a:srgbClr val="E63946">
              <a:alpha val="80000"/>
            </a:srgbClr>
          </a:solidFill>
          <a:ln w="12700">
            <a:solidFill>
              <a:srgbClr val="E63946"/>
            </a:solidFill>
            <a:prstDash val="solid"/>
          </a:ln>
        </p:spPr>
        <p:txBody>
          <a:bodyPr/>
          <a:lstStyle/>
          <a:p>
            <a:endParaRPr lang="en-US"/>
          </a:p>
        </p:txBody>
      </p:sp>
      <p:sp>
        <p:nvSpPr>
          <p:cNvPr id="35" name="Text 33"/>
          <p:cNvSpPr/>
          <p:nvPr/>
        </p:nvSpPr>
        <p:spPr>
          <a:xfrm>
            <a:off x="4782312" y="1856232"/>
            <a:ext cx="65836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DELETE</a:t>
            </a:r>
            <a:endParaRPr lang="en-US" sz="800" dirty="0"/>
          </a:p>
        </p:txBody>
      </p:sp>
      <p:sp>
        <p:nvSpPr>
          <p:cNvPr id="36" name="Text 34"/>
          <p:cNvSpPr/>
          <p:nvPr/>
        </p:nvSpPr>
        <p:spPr>
          <a:xfrm>
            <a:off x="5495544" y="1856232"/>
            <a:ext cx="1188720" cy="246888"/>
          </a:xfrm>
          <a:prstGeom prst="rect">
            <a:avLst/>
          </a:prstGeom>
          <a:noFill/>
          <a:ln/>
        </p:spPr>
        <p:txBody>
          <a:bodyPr wrap="square" lIns="0" tIns="0" rIns="0" bIns="0" rtlCol="0" anchor="ctr"/>
          <a:lstStyle/>
          <a:p>
            <a:pPr marL="0" indent="0">
              <a:buNone/>
            </a:pPr>
            <a:r>
              <a:rPr lang="en-US" sz="850" dirty="0">
                <a:solidFill>
                  <a:srgbClr val="A8FF78"/>
                </a:solidFill>
                <a:latin typeface="Consolas" pitchFamily="34" charset="0"/>
                <a:ea typeface="Consolas" pitchFamily="34" charset="-122"/>
                <a:cs typeface="Consolas" pitchFamily="34" charset="-120"/>
              </a:rPr>
              <a:t>/users/me</a:t>
            </a:r>
            <a:endParaRPr lang="en-US" sz="850" dirty="0"/>
          </a:p>
        </p:txBody>
      </p:sp>
      <p:sp>
        <p:nvSpPr>
          <p:cNvPr id="37" name="Text 35"/>
          <p:cNvSpPr/>
          <p:nvPr/>
        </p:nvSpPr>
        <p:spPr>
          <a:xfrm>
            <a:off x="6720840" y="1856232"/>
            <a:ext cx="2084832" cy="246888"/>
          </a:xfrm>
          <a:prstGeom prst="rect">
            <a:avLst/>
          </a:prstGeom>
          <a:noFill/>
          <a:ln/>
        </p:spPr>
        <p:txBody>
          <a:bodyPr wrap="square" lIns="0" tIns="0" rIns="0" bIns="0" rtlCol="0" anchor="ctr"/>
          <a:lstStyle/>
          <a:p>
            <a:pPr marL="0" indent="0">
              <a:buNone/>
            </a:pPr>
            <a:r>
              <a:rPr lang="en-US" sz="850" dirty="0">
                <a:solidFill>
                  <a:srgbClr val="7BA5A0"/>
                </a:solidFill>
                <a:latin typeface="Calibri" pitchFamily="34" charset="0"/>
                <a:ea typeface="Calibri" pitchFamily="34" charset="-122"/>
                <a:cs typeface="Calibri" pitchFamily="34" charset="-120"/>
              </a:rPr>
              <a:t>Delete account and all sessions</a:t>
            </a:r>
            <a:endParaRPr lang="en-US" sz="850" dirty="0"/>
          </a:p>
        </p:txBody>
      </p:sp>
      <p:sp>
        <p:nvSpPr>
          <p:cNvPr id="38" name="Shape 36"/>
          <p:cNvSpPr/>
          <p:nvPr/>
        </p:nvSpPr>
        <p:spPr>
          <a:xfrm>
            <a:off x="4782312" y="2176272"/>
            <a:ext cx="658368" cy="246888"/>
          </a:xfrm>
          <a:prstGeom prst="rect">
            <a:avLst/>
          </a:prstGeom>
          <a:solidFill>
            <a:srgbClr val="00C9A7">
              <a:alpha val="80000"/>
            </a:srgbClr>
          </a:solidFill>
          <a:ln w="12700">
            <a:solidFill>
              <a:srgbClr val="00C9A7"/>
            </a:solidFill>
            <a:prstDash val="solid"/>
          </a:ln>
        </p:spPr>
        <p:txBody>
          <a:bodyPr/>
          <a:lstStyle/>
          <a:p>
            <a:endParaRPr lang="en-US"/>
          </a:p>
        </p:txBody>
      </p:sp>
      <p:sp>
        <p:nvSpPr>
          <p:cNvPr id="39" name="Text 37"/>
          <p:cNvSpPr/>
          <p:nvPr/>
        </p:nvSpPr>
        <p:spPr>
          <a:xfrm>
            <a:off x="4782312" y="2176272"/>
            <a:ext cx="65836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POST</a:t>
            </a:r>
            <a:endParaRPr lang="en-US" sz="800" dirty="0"/>
          </a:p>
        </p:txBody>
      </p:sp>
      <p:sp>
        <p:nvSpPr>
          <p:cNvPr id="40" name="Text 38"/>
          <p:cNvSpPr/>
          <p:nvPr/>
        </p:nvSpPr>
        <p:spPr>
          <a:xfrm>
            <a:off x="5495544" y="2176272"/>
            <a:ext cx="1188720" cy="246888"/>
          </a:xfrm>
          <a:prstGeom prst="rect">
            <a:avLst/>
          </a:prstGeom>
          <a:noFill/>
          <a:ln/>
        </p:spPr>
        <p:txBody>
          <a:bodyPr wrap="square" lIns="0" tIns="0" rIns="0" bIns="0" rtlCol="0" anchor="ctr"/>
          <a:lstStyle/>
          <a:p>
            <a:pPr marL="0" indent="0">
              <a:buNone/>
            </a:pPr>
            <a:r>
              <a:rPr lang="en-US" sz="850" dirty="0">
                <a:solidFill>
                  <a:srgbClr val="A8FF78"/>
                </a:solidFill>
                <a:latin typeface="Consolas" pitchFamily="34" charset="0"/>
                <a:ea typeface="Consolas" pitchFamily="34" charset="-122"/>
                <a:cs typeface="Consolas" pitchFamily="34" charset="-120"/>
              </a:rPr>
              <a:t>/users/bootstrap-admin</a:t>
            </a:r>
            <a:endParaRPr lang="en-US" sz="850" dirty="0"/>
          </a:p>
        </p:txBody>
      </p:sp>
      <p:sp>
        <p:nvSpPr>
          <p:cNvPr id="41" name="Text 39"/>
          <p:cNvSpPr/>
          <p:nvPr/>
        </p:nvSpPr>
        <p:spPr>
          <a:xfrm>
            <a:off x="6720840" y="2176272"/>
            <a:ext cx="2084832" cy="246888"/>
          </a:xfrm>
          <a:prstGeom prst="rect">
            <a:avLst/>
          </a:prstGeom>
          <a:noFill/>
          <a:ln/>
        </p:spPr>
        <p:txBody>
          <a:bodyPr wrap="square" lIns="0" tIns="0" rIns="0" bIns="0" rtlCol="0" anchor="ctr"/>
          <a:lstStyle/>
          <a:p>
            <a:pPr marL="0" indent="0">
              <a:buNone/>
            </a:pPr>
            <a:r>
              <a:rPr lang="en-US" sz="850" dirty="0">
                <a:solidFill>
                  <a:srgbClr val="7BA5A0"/>
                </a:solidFill>
                <a:latin typeface="Calibri" pitchFamily="34" charset="0"/>
                <a:ea typeface="Calibri" pitchFamily="34" charset="-122"/>
                <a:cs typeface="Calibri" pitchFamily="34" charset="-120"/>
              </a:rPr>
              <a:t>Promote to ADMIN (first-time only)</a:t>
            </a:r>
            <a:endParaRPr lang="en-US" sz="850" dirty="0"/>
          </a:p>
        </p:txBody>
      </p:sp>
      <p:sp>
        <p:nvSpPr>
          <p:cNvPr id="42" name="Shape 40"/>
          <p:cNvSpPr/>
          <p:nvPr/>
        </p:nvSpPr>
        <p:spPr>
          <a:xfrm>
            <a:off x="228600" y="2980944"/>
            <a:ext cx="4206240" cy="1993392"/>
          </a:xfrm>
          <a:prstGeom prst="rect">
            <a:avLst/>
          </a:prstGeom>
          <a:solidFill>
            <a:srgbClr val="1B2A3B"/>
          </a:solidFill>
          <a:ln w="12700">
            <a:solidFill>
              <a:srgbClr val="2196F3"/>
            </a:solidFill>
            <a:prstDash val="solid"/>
          </a:ln>
          <a:effectLst>
            <a:outerShdw blurRad="101600" dist="38100" dir="8100000" algn="bl" rotWithShape="0">
              <a:srgbClr val="000000">
                <a:alpha val="25000"/>
              </a:srgbClr>
            </a:outerShdw>
          </a:effectLst>
        </p:spPr>
        <p:txBody>
          <a:bodyPr/>
          <a:lstStyle/>
          <a:p>
            <a:endParaRPr lang="en-US"/>
          </a:p>
        </p:txBody>
      </p:sp>
      <p:sp>
        <p:nvSpPr>
          <p:cNvPr id="43" name="Shape 41"/>
          <p:cNvSpPr/>
          <p:nvPr/>
        </p:nvSpPr>
        <p:spPr>
          <a:xfrm>
            <a:off x="228600" y="2980944"/>
            <a:ext cx="4206240" cy="347472"/>
          </a:xfrm>
          <a:prstGeom prst="rect">
            <a:avLst/>
          </a:prstGeom>
          <a:solidFill>
            <a:srgbClr val="2196F3"/>
          </a:solidFill>
          <a:ln w="12700">
            <a:solidFill>
              <a:srgbClr val="2196F3"/>
            </a:solidFill>
            <a:prstDash val="solid"/>
          </a:ln>
        </p:spPr>
        <p:txBody>
          <a:bodyPr/>
          <a:lstStyle/>
          <a:p>
            <a:endParaRPr lang="en-US"/>
          </a:p>
        </p:txBody>
      </p:sp>
      <p:sp>
        <p:nvSpPr>
          <p:cNvPr id="44" name="Text 42"/>
          <p:cNvSpPr/>
          <p:nvPr/>
        </p:nvSpPr>
        <p:spPr>
          <a:xfrm>
            <a:off x="320040" y="2980944"/>
            <a:ext cx="402336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Trips</a:t>
            </a:r>
            <a:endParaRPr lang="en-US" sz="1200" dirty="0"/>
          </a:p>
        </p:txBody>
      </p:sp>
      <p:sp>
        <p:nvSpPr>
          <p:cNvPr id="45" name="Shape 43"/>
          <p:cNvSpPr/>
          <p:nvPr/>
        </p:nvSpPr>
        <p:spPr>
          <a:xfrm>
            <a:off x="320040" y="3392424"/>
            <a:ext cx="658368" cy="246888"/>
          </a:xfrm>
          <a:prstGeom prst="rect">
            <a:avLst/>
          </a:prstGeom>
          <a:solidFill>
            <a:srgbClr val="2196F3">
              <a:alpha val="80000"/>
            </a:srgbClr>
          </a:solidFill>
          <a:ln w="12700">
            <a:solidFill>
              <a:srgbClr val="2196F3"/>
            </a:solidFill>
            <a:prstDash val="solid"/>
          </a:ln>
        </p:spPr>
        <p:txBody>
          <a:bodyPr/>
          <a:lstStyle/>
          <a:p>
            <a:endParaRPr lang="en-US"/>
          </a:p>
        </p:txBody>
      </p:sp>
      <p:sp>
        <p:nvSpPr>
          <p:cNvPr id="46" name="Text 44"/>
          <p:cNvSpPr/>
          <p:nvPr/>
        </p:nvSpPr>
        <p:spPr>
          <a:xfrm>
            <a:off x="320040" y="3392424"/>
            <a:ext cx="65836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GET</a:t>
            </a:r>
            <a:endParaRPr lang="en-US" sz="800" dirty="0"/>
          </a:p>
        </p:txBody>
      </p:sp>
      <p:sp>
        <p:nvSpPr>
          <p:cNvPr id="47" name="Text 45"/>
          <p:cNvSpPr/>
          <p:nvPr/>
        </p:nvSpPr>
        <p:spPr>
          <a:xfrm>
            <a:off x="1033272" y="3392424"/>
            <a:ext cx="1188720" cy="246888"/>
          </a:xfrm>
          <a:prstGeom prst="rect">
            <a:avLst/>
          </a:prstGeom>
          <a:noFill/>
          <a:ln/>
        </p:spPr>
        <p:txBody>
          <a:bodyPr wrap="square" lIns="0" tIns="0" rIns="0" bIns="0" rtlCol="0" anchor="ctr"/>
          <a:lstStyle/>
          <a:p>
            <a:pPr marL="0" indent="0">
              <a:buNone/>
            </a:pPr>
            <a:r>
              <a:rPr lang="en-US" sz="850" dirty="0">
                <a:solidFill>
                  <a:srgbClr val="A8FF78"/>
                </a:solidFill>
                <a:latin typeface="Consolas" pitchFamily="34" charset="0"/>
                <a:ea typeface="Consolas" pitchFamily="34" charset="-122"/>
                <a:cs typeface="Consolas" pitchFamily="34" charset="-120"/>
              </a:rPr>
              <a:t>/trips</a:t>
            </a:r>
            <a:endParaRPr lang="en-US" sz="850" dirty="0"/>
          </a:p>
        </p:txBody>
      </p:sp>
      <p:sp>
        <p:nvSpPr>
          <p:cNvPr id="48" name="Text 46"/>
          <p:cNvSpPr/>
          <p:nvPr/>
        </p:nvSpPr>
        <p:spPr>
          <a:xfrm>
            <a:off x="2258568" y="3392424"/>
            <a:ext cx="2084832" cy="246888"/>
          </a:xfrm>
          <a:prstGeom prst="rect">
            <a:avLst/>
          </a:prstGeom>
          <a:noFill/>
          <a:ln/>
        </p:spPr>
        <p:txBody>
          <a:bodyPr wrap="square" lIns="0" tIns="0" rIns="0" bIns="0" rtlCol="0" anchor="ctr"/>
          <a:lstStyle/>
          <a:p>
            <a:pPr marL="0" indent="0">
              <a:buNone/>
            </a:pPr>
            <a:r>
              <a:rPr lang="en-US" sz="850" dirty="0">
                <a:solidFill>
                  <a:srgbClr val="7BA5A0"/>
                </a:solidFill>
                <a:latin typeface="Calibri" pitchFamily="34" charset="0"/>
                <a:ea typeface="Calibri" pitchFamily="34" charset="-122"/>
                <a:cs typeface="Calibri" pitchFamily="34" charset="-120"/>
              </a:rPr>
              <a:t>List all saved trips for user</a:t>
            </a:r>
            <a:endParaRPr lang="en-US" sz="850" dirty="0"/>
          </a:p>
        </p:txBody>
      </p:sp>
      <p:sp>
        <p:nvSpPr>
          <p:cNvPr id="49" name="Shape 47"/>
          <p:cNvSpPr/>
          <p:nvPr/>
        </p:nvSpPr>
        <p:spPr>
          <a:xfrm>
            <a:off x="320040" y="3712464"/>
            <a:ext cx="658368" cy="246888"/>
          </a:xfrm>
          <a:prstGeom prst="rect">
            <a:avLst/>
          </a:prstGeom>
          <a:solidFill>
            <a:srgbClr val="00C9A7">
              <a:alpha val="80000"/>
            </a:srgbClr>
          </a:solidFill>
          <a:ln w="12700">
            <a:solidFill>
              <a:srgbClr val="00C9A7"/>
            </a:solidFill>
            <a:prstDash val="solid"/>
          </a:ln>
        </p:spPr>
        <p:txBody>
          <a:bodyPr/>
          <a:lstStyle/>
          <a:p>
            <a:endParaRPr lang="en-US"/>
          </a:p>
        </p:txBody>
      </p:sp>
      <p:sp>
        <p:nvSpPr>
          <p:cNvPr id="50" name="Text 48"/>
          <p:cNvSpPr/>
          <p:nvPr/>
        </p:nvSpPr>
        <p:spPr>
          <a:xfrm>
            <a:off x="320040" y="3712464"/>
            <a:ext cx="65836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POST</a:t>
            </a:r>
            <a:endParaRPr lang="en-US" sz="800" dirty="0"/>
          </a:p>
        </p:txBody>
      </p:sp>
      <p:sp>
        <p:nvSpPr>
          <p:cNvPr id="51" name="Text 49"/>
          <p:cNvSpPr/>
          <p:nvPr/>
        </p:nvSpPr>
        <p:spPr>
          <a:xfrm>
            <a:off x="1033272" y="3712464"/>
            <a:ext cx="1188720" cy="246888"/>
          </a:xfrm>
          <a:prstGeom prst="rect">
            <a:avLst/>
          </a:prstGeom>
          <a:noFill/>
          <a:ln/>
        </p:spPr>
        <p:txBody>
          <a:bodyPr wrap="square" lIns="0" tIns="0" rIns="0" bIns="0" rtlCol="0" anchor="ctr"/>
          <a:lstStyle/>
          <a:p>
            <a:pPr marL="0" indent="0">
              <a:buNone/>
            </a:pPr>
            <a:r>
              <a:rPr lang="en-US" sz="850" dirty="0">
                <a:solidFill>
                  <a:srgbClr val="A8FF78"/>
                </a:solidFill>
                <a:latin typeface="Consolas" pitchFamily="34" charset="0"/>
                <a:ea typeface="Consolas" pitchFamily="34" charset="-122"/>
                <a:cs typeface="Consolas" pitchFamily="34" charset="-120"/>
              </a:rPr>
              <a:t>/trips</a:t>
            </a:r>
            <a:endParaRPr lang="en-US" sz="850" dirty="0"/>
          </a:p>
        </p:txBody>
      </p:sp>
      <p:sp>
        <p:nvSpPr>
          <p:cNvPr id="52" name="Text 50"/>
          <p:cNvSpPr/>
          <p:nvPr/>
        </p:nvSpPr>
        <p:spPr>
          <a:xfrm>
            <a:off x="2258568" y="3712464"/>
            <a:ext cx="2084832" cy="246888"/>
          </a:xfrm>
          <a:prstGeom prst="rect">
            <a:avLst/>
          </a:prstGeom>
          <a:noFill/>
          <a:ln/>
        </p:spPr>
        <p:txBody>
          <a:bodyPr wrap="square" lIns="0" tIns="0" rIns="0" bIns="0" rtlCol="0" anchor="ctr"/>
          <a:lstStyle/>
          <a:p>
            <a:pPr marL="0" indent="0">
              <a:buNone/>
            </a:pPr>
            <a:r>
              <a:rPr lang="en-US" sz="850" dirty="0">
                <a:solidFill>
                  <a:srgbClr val="7BA5A0"/>
                </a:solidFill>
                <a:latin typeface="Calibri" pitchFamily="34" charset="0"/>
                <a:ea typeface="Calibri" pitchFamily="34" charset="-122"/>
                <a:cs typeface="Calibri" pitchFamily="34" charset="-120"/>
              </a:rPr>
              <a:t>Save a new trip (JSON payload)</a:t>
            </a:r>
            <a:endParaRPr lang="en-US" sz="850" dirty="0"/>
          </a:p>
        </p:txBody>
      </p:sp>
      <p:sp>
        <p:nvSpPr>
          <p:cNvPr id="53" name="Shape 51"/>
          <p:cNvSpPr/>
          <p:nvPr/>
        </p:nvSpPr>
        <p:spPr>
          <a:xfrm>
            <a:off x="320040" y="4032504"/>
            <a:ext cx="658368" cy="246888"/>
          </a:xfrm>
          <a:prstGeom prst="rect">
            <a:avLst/>
          </a:prstGeom>
          <a:solidFill>
            <a:srgbClr val="2196F3">
              <a:alpha val="80000"/>
            </a:srgbClr>
          </a:solidFill>
          <a:ln w="12700">
            <a:solidFill>
              <a:srgbClr val="2196F3"/>
            </a:solidFill>
            <a:prstDash val="solid"/>
          </a:ln>
        </p:spPr>
        <p:txBody>
          <a:bodyPr/>
          <a:lstStyle/>
          <a:p>
            <a:endParaRPr lang="en-US"/>
          </a:p>
        </p:txBody>
      </p:sp>
      <p:sp>
        <p:nvSpPr>
          <p:cNvPr id="54" name="Text 52"/>
          <p:cNvSpPr/>
          <p:nvPr/>
        </p:nvSpPr>
        <p:spPr>
          <a:xfrm>
            <a:off x="320040" y="4032504"/>
            <a:ext cx="65836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GET</a:t>
            </a:r>
            <a:endParaRPr lang="en-US" sz="800" dirty="0"/>
          </a:p>
        </p:txBody>
      </p:sp>
      <p:sp>
        <p:nvSpPr>
          <p:cNvPr id="55" name="Text 53"/>
          <p:cNvSpPr/>
          <p:nvPr/>
        </p:nvSpPr>
        <p:spPr>
          <a:xfrm>
            <a:off x="1033272" y="4032504"/>
            <a:ext cx="1188720" cy="246888"/>
          </a:xfrm>
          <a:prstGeom prst="rect">
            <a:avLst/>
          </a:prstGeom>
          <a:noFill/>
          <a:ln/>
        </p:spPr>
        <p:txBody>
          <a:bodyPr wrap="square" lIns="0" tIns="0" rIns="0" bIns="0" rtlCol="0" anchor="ctr"/>
          <a:lstStyle/>
          <a:p>
            <a:pPr marL="0" indent="0">
              <a:buNone/>
            </a:pPr>
            <a:r>
              <a:rPr lang="en-US" sz="850" dirty="0">
                <a:solidFill>
                  <a:srgbClr val="A8FF78"/>
                </a:solidFill>
                <a:latin typeface="Consolas" pitchFamily="34" charset="0"/>
                <a:ea typeface="Consolas" pitchFamily="34" charset="-122"/>
                <a:cs typeface="Consolas" pitchFamily="34" charset="-120"/>
              </a:rPr>
              <a:t>/trips/:id</a:t>
            </a:r>
            <a:endParaRPr lang="en-US" sz="850" dirty="0"/>
          </a:p>
        </p:txBody>
      </p:sp>
      <p:sp>
        <p:nvSpPr>
          <p:cNvPr id="56" name="Text 54"/>
          <p:cNvSpPr/>
          <p:nvPr/>
        </p:nvSpPr>
        <p:spPr>
          <a:xfrm>
            <a:off x="2258568" y="4032504"/>
            <a:ext cx="2084832" cy="246888"/>
          </a:xfrm>
          <a:prstGeom prst="rect">
            <a:avLst/>
          </a:prstGeom>
          <a:noFill/>
          <a:ln/>
        </p:spPr>
        <p:txBody>
          <a:bodyPr wrap="square" lIns="0" tIns="0" rIns="0" bIns="0" rtlCol="0" anchor="ctr"/>
          <a:lstStyle/>
          <a:p>
            <a:pPr marL="0" indent="0">
              <a:buNone/>
            </a:pPr>
            <a:r>
              <a:rPr lang="en-US" sz="850" dirty="0">
                <a:solidFill>
                  <a:srgbClr val="7BA5A0"/>
                </a:solidFill>
                <a:latin typeface="Calibri" pitchFamily="34" charset="0"/>
                <a:ea typeface="Calibri" pitchFamily="34" charset="-122"/>
                <a:cs typeface="Calibri" pitchFamily="34" charset="-120"/>
              </a:rPr>
              <a:t>Fetch one trip by ID</a:t>
            </a:r>
            <a:endParaRPr lang="en-US" sz="850" dirty="0"/>
          </a:p>
        </p:txBody>
      </p:sp>
      <p:sp>
        <p:nvSpPr>
          <p:cNvPr id="57" name="Shape 55"/>
          <p:cNvSpPr/>
          <p:nvPr/>
        </p:nvSpPr>
        <p:spPr>
          <a:xfrm>
            <a:off x="320040" y="4352544"/>
            <a:ext cx="658368" cy="246888"/>
          </a:xfrm>
          <a:prstGeom prst="rect">
            <a:avLst/>
          </a:prstGeom>
          <a:solidFill>
            <a:srgbClr val="F5A623">
              <a:alpha val="80000"/>
            </a:srgbClr>
          </a:solidFill>
          <a:ln w="12700">
            <a:solidFill>
              <a:srgbClr val="F5A623"/>
            </a:solidFill>
            <a:prstDash val="solid"/>
          </a:ln>
        </p:spPr>
        <p:txBody>
          <a:bodyPr/>
          <a:lstStyle/>
          <a:p>
            <a:endParaRPr lang="en-US"/>
          </a:p>
        </p:txBody>
      </p:sp>
      <p:sp>
        <p:nvSpPr>
          <p:cNvPr id="58" name="Text 56"/>
          <p:cNvSpPr/>
          <p:nvPr/>
        </p:nvSpPr>
        <p:spPr>
          <a:xfrm>
            <a:off x="320040" y="4352544"/>
            <a:ext cx="65836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PATCH</a:t>
            </a:r>
            <a:endParaRPr lang="en-US" sz="800" dirty="0"/>
          </a:p>
        </p:txBody>
      </p:sp>
      <p:sp>
        <p:nvSpPr>
          <p:cNvPr id="59" name="Text 57"/>
          <p:cNvSpPr/>
          <p:nvPr/>
        </p:nvSpPr>
        <p:spPr>
          <a:xfrm>
            <a:off x="1033272" y="4352544"/>
            <a:ext cx="1188720" cy="246888"/>
          </a:xfrm>
          <a:prstGeom prst="rect">
            <a:avLst/>
          </a:prstGeom>
          <a:noFill/>
          <a:ln/>
        </p:spPr>
        <p:txBody>
          <a:bodyPr wrap="square" lIns="0" tIns="0" rIns="0" bIns="0" rtlCol="0" anchor="ctr"/>
          <a:lstStyle/>
          <a:p>
            <a:pPr marL="0" indent="0">
              <a:buNone/>
            </a:pPr>
            <a:r>
              <a:rPr lang="en-US" sz="850" dirty="0">
                <a:solidFill>
                  <a:srgbClr val="A8FF78"/>
                </a:solidFill>
                <a:latin typeface="Consolas" pitchFamily="34" charset="0"/>
                <a:ea typeface="Consolas" pitchFamily="34" charset="-122"/>
                <a:cs typeface="Consolas" pitchFamily="34" charset="-120"/>
              </a:rPr>
              <a:t>/trips/:id</a:t>
            </a:r>
            <a:endParaRPr lang="en-US" sz="850" dirty="0"/>
          </a:p>
        </p:txBody>
      </p:sp>
      <p:sp>
        <p:nvSpPr>
          <p:cNvPr id="60" name="Text 58"/>
          <p:cNvSpPr/>
          <p:nvPr/>
        </p:nvSpPr>
        <p:spPr>
          <a:xfrm>
            <a:off x="2258568" y="4352544"/>
            <a:ext cx="2084832" cy="246888"/>
          </a:xfrm>
          <a:prstGeom prst="rect">
            <a:avLst/>
          </a:prstGeom>
          <a:noFill/>
          <a:ln/>
        </p:spPr>
        <p:txBody>
          <a:bodyPr wrap="square" lIns="0" tIns="0" rIns="0" bIns="0" rtlCol="0" anchor="ctr"/>
          <a:lstStyle/>
          <a:p>
            <a:pPr marL="0" indent="0">
              <a:buNone/>
            </a:pPr>
            <a:r>
              <a:rPr lang="en-US" sz="850" dirty="0">
                <a:solidFill>
                  <a:srgbClr val="7BA5A0"/>
                </a:solidFill>
                <a:latin typeface="Calibri" pitchFamily="34" charset="0"/>
                <a:ea typeface="Calibri" pitchFamily="34" charset="-122"/>
                <a:cs typeface="Calibri" pitchFamily="34" charset="-120"/>
              </a:rPr>
              <a:t>Update trip metadata</a:t>
            </a:r>
            <a:endParaRPr lang="en-US" sz="850" dirty="0"/>
          </a:p>
        </p:txBody>
      </p:sp>
      <p:sp>
        <p:nvSpPr>
          <p:cNvPr id="61" name="Shape 59"/>
          <p:cNvSpPr/>
          <p:nvPr/>
        </p:nvSpPr>
        <p:spPr>
          <a:xfrm>
            <a:off x="320040" y="4672584"/>
            <a:ext cx="658368" cy="246888"/>
          </a:xfrm>
          <a:prstGeom prst="rect">
            <a:avLst/>
          </a:prstGeom>
          <a:solidFill>
            <a:srgbClr val="E63946">
              <a:alpha val="80000"/>
            </a:srgbClr>
          </a:solidFill>
          <a:ln w="12700">
            <a:solidFill>
              <a:srgbClr val="E63946"/>
            </a:solidFill>
            <a:prstDash val="solid"/>
          </a:ln>
        </p:spPr>
        <p:txBody>
          <a:bodyPr/>
          <a:lstStyle/>
          <a:p>
            <a:endParaRPr lang="en-US"/>
          </a:p>
        </p:txBody>
      </p:sp>
      <p:sp>
        <p:nvSpPr>
          <p:cNvPr id="62" name="Text 60"/>
          <p:cNvSpPr/>
          <p:nvPr/>
        </p:nvSpPr>
        <p:spPr>
          <a:xfrm>
            <a:off x="320040" y="4672584"/>
            <a:ext cx="65836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DELETE</a:t>
            </a:r>
            <a:endParaRPr lang="en-US" sz="800" dirty="0"/>
          </a:p>
        </p:txBody>
      </p:sp>
      <p:sp>
        <p:nvSpPr>
          <p:cNvPr id="63" name="Text 61"/>
          <p:cNvSpPr/>
          <p:nvPr/>
        </p:nvSpPr>
        <p:spPr>
          <a:xfrm>
            <a:off x="1033272" y="4672584"/>
            <a:ext cx="1188720" cy="246888"/>
          </a:xfrm>
          <a:prstGeom prst="rect">
            <a:avLst/>
          </a:prstGeom>
          <a:noFill/>
          <a:ln/>
        </p:spPr>
        <p:txBody>
          <a:bodyPr wrap="square" lIns="0" tIns="0" rIns="0" bIns="0" rtlCol="0" anchor="ctr"/>
          <a:lstStyle/>
          <a:p>
            <a:pPr marL="0" indent="0">
              <a:buNone/>
            </a:pPr>
            <a:r>
              <a:rPr lang="en-US" sz="850" dirty="0">
                <a:solidFill>
                  <a:srgbClr val="A8FF78"/>
                </a:solidFill>
                <a:latin typeface="Consolas" pitchFamily="34" charset="0"/>
                <a:ea typeface="Consolas" pitchFamily="34" charset="-122"/>
                <a:cs typeface="Consolas" pitchFamily="34" charset="-120"/>
              </a:rPr>
              <a:t>/trips/:id</a:t>
            </a:r>
            <a:endParaRPr lang="en-US" sz="850" dirty="0"/>
          </a:p>
        </p:txBody>
      </p:sp>
      <p:sp>
        <p:nvSpPr>
          <p:cNvPr id="64" name="Text 62"/>
          <p:cNvSpPr/>
          <p:nvPr/>
        </p:nvSpPr>
        <p:spPr>
          <a:xfrm>
            <a:off x="2258568" y="4672584"/>
            <a:ext cx="2084832" cy="246888"/>
          </a:xfrm>
          <a:prstGeom prst="rect">
            <a:avLst/>
          </a:prstGeom>
          <a:noFill/>
          <a:ln/>
        </p:spPr>
        <p:txBody>
          <a:bodyPr wrap="square" lIns="0" tIns="0" rIns="0" bIns="0" rtlCol="0" anchor="ctr"/>
          <a:lstStyle/>
          <a:p>
            <a:pPr marL="0" indent="0">
              <a:buNone/>
            </a:pPr>
            <a:r>
              <a:rPr lang="en-US" sz="850" dirty="0">
                <a:solidFill>
                  <a:srgbClr val="7BA5A0"/>
                </a:solidFill>
                <a:latin typeface="Calibri" pitchFamily="34" charset="0"/>
                <a:ea typeface="Calibri" pitchFamily="34" charset="-122"/>
                <a:cs typeface="Calibri" pitchFamily="34" charset="-120"/>
              </a:rPr>
              <a:t>Remove a saved trip</a:t>
            </a:r>
            <a:endParaRPr lang="en-US" sz="850" dirty="0"/>
          </a:p>
        </p:txBody>
      </p:sp>
      <p:sp>
        <p:nvSpPr>
          <p:cNvPr id="65" name="Shape 63"/>
          <p:cNvSpPr/>
          <p:nvPr/>
        </p:nvSpPr>
        <p:spPr>
          <a:xfrm>
            <a:off x="4690872" y="2980944"/>
            <a:ext cx="4206240" cy="1993392"/>
          </a:xfrm>
          <a:prstGeom prst="rect">
            <a:avLst/>
          </a:prstGeom>
          <a:solidFill>
            <a:srgbClr val="1B2A3B"/>
          </a:solidFill>
          <a:ln w="12700">
            <a:solidFill>
              <a:srgbClr val="E63946"/>
            </a:solidFill>
            <a:prstDash val="solid"/>
          </a:ln>
          <a:effectLst>
            <a:outerShdw blurRad="101600" dist="38100" dir="8100000" algn="bl" rotWithShape="0">
              <a:srgbClr val="000000">
                <a:alpha val="25000"/>
              </a:srgbClr>
            </a:outerShdw>
          </a:effectLst>
        </p:spPr>
        <p:txBody>
          <a:bodyPr/>
          <a:lstStyle/>
          <a:p>
            <a:endParaRPr lang="en-US"/>
          </a:p>
        </p:txBody>
      </p:sp>
      <p:sp>
        <p:nvSpPr>
          <p:cNvPr id="66" name="Shape 64"/>
          <p:cNvSpPr/>
          <p:nvPr/>
        </p:nvSpPr>
        <p:spPr>
          <a:xfrm>
            <a:off x="4690872" y="2980944"/>
            <a:ext cx="4206240" cy="347472"/>
          </a:xfrm>
          <a:prstGeom prst="rect">
            <a:avLst/>
          </a:prstGeom>
          <a:solidFill>
            <a:srgbClr val="E63946"/>
          </a:solidFill>
          <a:ln w="12700">
            <a:solidFill>
              <a:srgbClr val="E63946"/>
            </a:solidFill>
            <a:prstDash val="solid"/>
          </a:ln>
        </p:spPr>
        <p:txBody>
          <a:bodyPr/>
          <a:lstStyle/>
          <a:p>
            <a:endParaRPr lang="en-US"/>
          </a:p>
        </p:txBody>
      </p:sp>
      <p:sp>
        <p:nvSpPr>
          <p:cNvPr id="67" name="Text 65"/>
          <p:cNvSpPr/>
          <p:nvPr/>
        </p:nvSpPr>
        <p:spPr>
          <a:xfrm>
            <a:off x="4782312" y="2980944"/>
            <a:ext cx="402336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Metro Config (Admin)</a:t>
            </a:r>
            <a:endParaRPr lang="en-US" sz="1200" dirty="0"/>
          </a:p>
        </p:txBody>
      </p:sp>
      <p:sp>
        <p:nvSpPr>
          <p:cNvPr id="68" name="Shape 66"/>
          <p:cNvSpPr/>
          <p:nvPr/>
        </p:nvSpPr>
        <p:spPr>
          <a:xfrm>
            <a:off x="4782312" y="3392424"/>
            <a:ext cx="658368" cy="246888"/>
          </a:xfrm>
          <a:prstGeom prst="rect">
            <a:avLst/>
          </a:prstGeom>
          <a:solidFill>
            <a:srgbClr val="2196F3">
              <a:alpha val="80000"/>
            </a:srgbClr>
          </a:solidFill>
          <a:ln w="12700">
            <a:solidFill>
              <a:srgbClr val="2196F3"/>
            </a:solidFill>
            <a:prstDash val="solid"/>
          </a:ln>
        </p:spPr>
        <p:txBody>
          <a:bodyPr/>
          <a:lstStyle/>
          <a:p>
            <a:endParaRPr lang="en-US"/>
          </a:p>
        </p:txBody>
      </p:sp>
      <p:sp>
        <p:nvSpPr>
          <p:cNvPr id="69" name="Text 67"/>
          <p:cNvSpPr/>
          <p:nvPr/>
        </p:nvSpPr>
        <p:spPr>
          <a:xfrm>
            <a:off x="4782312" y="3392424"/>
            <a:ext cx="65836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GET</a:t>
            </a:r>
            <a:endParaRPr lang="en-US" sz="800" dirty="0"/>
          </a:p>
        </p:txBody>
      </p:sp>
      <p:sp>
        <p:nvSpPr>
          <p:cNvPr id="70" name="Text 68"/>
          <p:cNvSpPr/>
          <p:nvPr/>
        </p:nvSpPr>
        <p:spPr>
          <a:xfrm>
            <a:off x="5495544" y="3392424"/>
            <a:ext cx="1188720" cy="246888"/>
          </a:xfrm>
          <a:prstGeom prst="rect">
            <a:avLst/>
          </a:prstGeom>
          <a:noFill/>
          <a:ln/>
        </p:spPr>
        <p:txBody>
          <a:bodyPr wrap="square" lIns="0" tIns="0" rIns="0" bIns="0" rtlCol="0" anchor="ctr"/>
          <a:lstStyle/>
          <a:p>
            <a:pPr marL="0" indent="0">
              <a:buNone/>
            </a:pPr>
            <a:r>
              <a:rPr lang="en-US" sz="850" dirty="0">
                <a:solidFill>
                  <a:srgbClr val="A8FF78"/>
                </a:solidFill>
                <a:latin typeface="Consolas" pitchFamily="34" charset="0"/>
                <a:ea typeface="Consolas" pitchFamily="34" charset="-122"/>
                <a:cs typeface="Consolas" pitchFamily="34" charset="-120"/>
              </a:rPr>
              <a:t>/metro/config</a:t>
            </a:r>
            <a:endParaRPr lang="en-US" sz="850" dirty="0"/>
          </a:p>
        </p:txBody>
      </p:sp>
      <p:sp>
        <p:nvSpPr>
          <p:cNvPr id="71" name="Text 69"/>
          <p:cNvSpPr/>
          <p:nvPr/>
        </p:nvSpPr>
        <p:spPr>
          <a:xfrm>
            <a:off x="6720840" y="3392424"/>
            <a:ext cx="2084832" cy="246888"/>
          </a:xfrm>
          <a:prstGeom prst="rect">
            <a:avLst/>
          </a:prstGeom>
          <a:noFill/>
          <a:ln/>
        </p:spPr>
        <p:txBody>
          <a:bodyPr wrap="square" lIns="0" tIns="0" rIns="0" bIns="0" rtlCol="0" anchor="ctr"/>
          <a:lstStyle/>
          <a:p>
            <a:pPr marL="0" indent="0">
              <a:buNone/>
            </a:pPr>
            <a:r>
              <a:rPr lang="en-US" sz="850" dirty="0">
                <a:solidFill>
                  <a:srgbClr val="7BA5A0"/>
                </a:solidFill>
                <a:latin typeface="Calibri" pitchFamily="34" charset="0"/>
                <a:ea typeface="Calibri" pitchFamily="34" charset="-122"/>
                <a:cs typeface="Calibri" pitchFamily="34" charset="-120"/>
              </a:rPr>
              <a:t>Public: all lines, stations, fares</a:t>
            </a:r>
            <a:endParaRPr lang="en-US" sz="850" dirty="0"/>
          </a:p>
        </p:txBody>
      </p:sp>
      <p:sp>
        <p:nvSpPr>
          <p:cNvPr id="72" name="Shape 70"/>
          <p:cNvSpPr/>
          <p:nvPr/>
        </p:nvSpPr>
        <p:spPr>
          <a:xfrm>
            <a:off x="4782312" y="3712464"/>
            <a:ext cx="658368" cy="246888"/>
          </a:xfrm>
          <a:prstGeom prst="rect">
            <a:avLst/>
          </a:prstGeom>
          <a:solidFill>
            <a:srgbClr val="00C9A7">
              <a:alpha val="80000"/>
            </a:srgbClr>
          </a:solidFill>
          <a:ln w="12700">
            <a:solidFill>
              <a:srgbClr val="00C9A7"/>
            </a:solidFill>
            <a:prstDash val="solid"/>
          </a:ln>
        </p:spPr>
        <p:txBody>
          <a:bodyPr/>
          <a:lstStyle/>
          <a:p>
            <a:endParaRPr lang="en-US"/>
          </a:p>
        </p:txBody>
      </p:sp>
      <p:sp>
        <p:nvSpPr>
          <p:cNvPr id="73" name="Text 71"/>
          <p:cNvSpPr/>
          <p:nvPr/>
        </p:nvSpPr>
        <p:spPr>
          <a:xfrm>
            <a:off x="4782312" y="3712464"/>
            <a:ext cx="65836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POST</a:t>
            </a:r>
            <a:endParaRPr lang="en-US" sz="800" dirty="0"/>
          </a:p>
        </p:txBody>
      </p:sp>
      <p:sp>
        <p:nvSpPr>
          <p:cNvPr id="74" name="Text 72"/>
          <p:cNvSpPr/>
          <p:nvPr/>
        </p:nvSpPr>
        <p:spPr>
          <a:xfrm>
            <a:off x="5495544" y="3712464"/>
            <a:ext cx="1188720" cy="246888"/>
          </a:xfrm>
          <a:prstGeom prst="rect">
            <a:avLst/>
          </a:prstGeom>
          <a:noFill/>
          <a:ln/>
        </p:spPr>
        <p:txBody>
          <a:bodyPr wrap="square" lIns="0" tIns="0" rIns="0" bIns="0" rtlCol="0" anchor="ctr"/>
          <a:lstStyle/>
          <a:p>
            <a:pPr marL="0" indent="0">
              <a:buNone/>
            </a:pPr>
            <a:r>
              <a:rPr lang="en-US" sz="850" dirty="0">
                <a:solidFill>
                  <a:srgbClr val="A8FF78"/>
                </a:solidFill>
                <a:latin typeface="Consolas" pitchFamily="34" charset="0"/>
                <a:ea typeface="Consolas" pitchFamily="34" charset="-122"/>
                <a:cs typeface="Consolas" pitchFamily="34" charset="-120"/>
              </a:rPr>
              <a:t>/metro/admin/lines</a:t>
            </a:r>
            <a:endParaRPr lang="en-US" sz="850" dirty="0"/>
          </a:p>
        </p:txBody>
      </p:sp>
      <p:sp>
        <p:nvSpPr>
          <p:cNvPr id="75" name="Text 73"/>
          <p:cNvSpPr/>
          <p:nvPr/>
        </p:nvSpPr>
        <p:spPr>
          <a:xfrm>
            <a:off x="6720840" y="3712464"/>
            <a:ext cx="2084832" cy="246888"/>
          </a:xfrm>
          <a:prstGeom prst="rect">
            <a:avLst/>
          </a:prstGeom>
          <a:noFill/>
          <a:ln/>
        </p:spPr>
        <p:txBody>
          <a:bodyPr wrap="square" lIns="0" tIns="0" rIns="0" bIns="0" rtlCol="0" anchor="ctr"/>
          <a:lstStyle/>
          <a:p>
            <a:pPr marL="0" indent="0">
              <a:buNone/>
            </a:pPr>
            <a:r>
              <a:rPr lang="en-US" sz="850" dirty="0">
                <a:solidFill>
                  <a:srgbClr val="7BA5A0"/>
                </a:solidFill>
                <a:latin typeface="Calibri" pitchFamily="34" charset="0"/>
                <a:ea typeface="Calibri" pitchFamily="34" charset="-122"/>
                <a:cs typeface="Calibri" pitchFamily="34" charset="-120"/>
              </a:rPr>
              <a:t>Create a new metro line</a:t>
            </a:r>
            <a:endParaRPr lang="en-US" sz="850" dirty="0"/>
          </a:p>
        </p:txBody>
      </p:sp>
      <p:sp>
        <p:nvSpPr>
          <p:cNvPr id="76" name="Shape 74"/>
          <p:cNvSpPr/>
          <p:nvPr/>
        </p:nvSpPr>
        <p:spPr>
          <a:xfrm>
            <a:off x="4782312" y="4032504"/>
            <a:ext cx="658368" cy="246888"/>
          </a:xfrm>
          <a:prstGeom prst="rect">
            <a:avLst/>
          </a:prstGeom>
          <a:solidFill>
            <a:srgbClr val="F5A623">
              <a:alpha val="80000"/>
            </a:srgbClr>
          </a:solidFill>
          <a:ln w="12700">
            <a:solidFill>
              <a:srgbClr val="F5A623"/>
            </a:solidFill>
            <a:prstDash val="solid"/>
          </a:ln>
        </p:spPr>
        <p:txBody>
          <a:bodyPr/>
          <a:lstStyle/>
          <a:p>
            <a:endParaRPr lang="en-US"/>
          </a:p>
        </p:txBody>
      </p:sp>
      <p:sp>
        <p:nvSpPr>
          <p:cNvPr id="77" name="Text 75"/>
          <p:cNvSpPr/>
          <p:nvPr/>
        </p:nvSpPr>
        <p:spPr>
          <a:xfrm>
            <a:off x="4782312" y="4032504"/>
            <a:ext cx="65836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PATCH</a:t>
            </a:r>
            <a:endParaRPr lang="en-US" sz="800" dirty="0"/>
          </a:p>
        </p:txBody>
      </p:sp>
      <p:sp>
        <p:nvSpPr>
          <p:cNvPr id="78" name="Text 76"/>
          <p:cNvSpPr/>
          <p:nvPr/>
        </p:nvSpPr>
        <p:spPr>
          <a:xfrm>
            <a:off x="5495544" y="4032504"/>
            <a:ext cx="1188720" cy="246888"/>
          </a:xfrm>
          <a:prstGeom prst="rect">
            <a:avLst/>
          </a:prstGeom>
          <a:noFill/>
          <a:ln/>
        </p:spPr>
        <p:txBody>
          <a:bodyPr wrap="square" lIns="0" tIns="0" rIns="0" bIns="0" rtlCol="0" anchor="ctr"/>
          <a:lstStyle/>
          <a:p>
            <a:pPr marL="0" indent="0">
              <a:buNone/>
            </a:pPr>
            <a:r>
              <a:rPr lang="en-US" sz="850" dirty="0">
                <a:solidFill>
                  <a:srgbClr val="A8FF78"/>
                </a:solidFill>
                <a:latin typeface="Consolas" pitchFamily="34" charset="0"/>
                <a:ea typeface="Consolas" pitchFamily="34" charset="-122"/>
                <a:cs typeface="Consolas" pitchFamily="34" charset="-120"/>
              </a:rPr>
              <a:t>/metro/admin/lines/:id</a:t>
            </a:r>
            <a:endParaRPr lang="en-US" sz="850" dirty="0"/>
          </a:p>
        </p:txBody>
      </p:sp>
      <p:sp>
        <p:nvSpPr>
          <p:cNvPr id="79" name="Text 77"/>
          <p:cNvSpPr/>
          <p:nvPr/>
        </p:nvSpPr>
        <p:spPr>
          <a:xfrm>
            <a:off x="6720840" y="4032504"/>
            <a:ext cx="2084832" cy="246888"/>
          </a:xfrm>
          <a:prstGeom prst="rect">
            <a:avLst/>
          </a:prstGeom>
          <a:noFill/>
          <a:ln/>
        </p:spPr>
        <p:txBody>
          <a:bodyPr wrap="square" lIns="0" tIns="0" rIns="0" bIns="0" rtlCol="0" anchor="ctr"/>
          <a:lstStyle/>
          <a:p>
            <a:pPr marL="0" indent="0">
              <a:buNone/>
            </a:pPr>
            <a:r>
              <a:rPr lang="en-US" sz="850" dirty="0">
                <a:solidFill>
                  <a:srgbClr val="7BA5A0"/>
                </a:solidFill>
                <a:latin typeface="Calibri" pitchFamily="34" charset="0"/>
                <a:ea typeface="Calibri" pitchFamily="34" charset="-122"/>
                <a:cs typeface="Calibri" pitchFamily="34" charset="-120"/>
              </a:rPr>
              <a:t>Edit line name or color</a:t>
            </a:r>
            <a:endParaRPr lang="en-US" sz="850" dirty="0"/>
          </a:p>
        </p:txBody>
      </p:sp>
      <p:sp>
        <p:nvSpPr>
          <p:cNvPr id="80" name="Shape 78"/>
          <p:cNvSpPr/>
          <p:nvPr/>
        </p:nvSpPr>
        <p:spPr>
          <a:xfrm>
            <a:off x="4782312" y="4352544"/>
            <a:ext cx="658368" cy="246888"/>
          </a:xfrm>
          <a:prstGeom prst="rect">
            <a:avLst/>
          </a:prstGeom>
          <a:solidFill>
            <a:srgbClr val="00C9A7">
              <a:alpha val="80000"/>
            </a:srgbClr>
          </a:solidFill>
          <a:ln w="12700">
            <a:solidFill>
              <a:srgbClr val="00C9A7"/>
            </a:solidFill>
            <a:prstDash val="solid"/>
          </a:ln>
        </p:spPr>
        <p:txBody>
          <a:bodyPr/>
          <a:lstStyle/>
          <a:p>
            <a:endParaRPr lang="en-US"/>
          </a:p>
        </p:txBody>
      </p:sp>
      <p:sp>
        <p:nvSpPr>
          <p:cNvPr id="81" name="Text 79"/>
          <p:cNvSpPr/>
          <p:nvPr/>
        </p:nvSpPr>
        <p:spPr>
          <a:xfrm>
            <a:off x="4782312" y="4352544"/>
            <a:ext cx="65836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POST</a:t>
            </a:r>
            <a:endParaRPr lang="en-US" sz="800" dirty="0"/>
          </a:p>
        </p:txBody>
      </p:sp>
      <p:sp>
        <p:nvSpPr>
          <p:cNvPr id="82" name="Text 80"/>
          <p:cNvSpPr/>
          <p:nvPr/>
        </p:nvSpPr>
        <p:spPr>
          <a:xfrm>
            <a:off x="5495544" y="4352544"/>
            <a:ext cx="1188720" cy="246888"/>
          </a:xfrm>
          <a:prstGeom prst="rect">
            <a:avLst/>
          </a:prstGeom>
          <a:noFill/>
          <a:ln/>
        </p:spPr>
        <p:txBody>
          <a:bodyPr wrap="square" lIns="0" tIns="0" rIns="0" bIns="0" rtlCol="0" anchor="ctr"/>
          <a:lstStyle/>
          <a:p>
            <a:pPr marL="0" indent="0">
              <a:buNone/>
            </a:pPr>
            <a:r>
              <a:rPr lang="en-US" sz="850" dirty="0">
                <a:solidFill>
                  <a:srgbClr val="A8FF78"/>
                </a:solidFill>
                <a:latin typeface="Consolas" pitchFamily="34" charset="0"/>
                <a:ea typeface="Consolas" pitchFamily="34" charset="-122"/>
                <a:cs typeface="Consolas" pitchFamily="34" charset="-120"/>
              </a:rPr>
              <a:t>/metro/admin/stations</a:t>
            </a:r>
            <a:endParaRPr lang="en-US" sz="850" dirty="0"/>
          </a:p>
        </p:txBody>
      </p:sp>
      <p:sp>
        <p:nvSpPr>
          <p:cNvPr id="83" name="Text 81"/>
          <p:cNvSpPr/>
          <p:nvPr/>
        </p:nvSpPr>
        <p:spPr>
          <a:xfrm>
            <a:off x="6720840" y="4352544"/>
            <a:ext cx="2084832" cy="246888"/>
          </a:xfrm>
          <a:prstGeom prst="rect">
            <a:avLst/>
          </a:prstGeom>
          <a:noFill/>
          <a:ln/>
        </p:spPr>
        <p:txBody>
          <a:bodyPr wrap="square" lIns="0" tIns="0" rIns="0" bIns="0" rtlCol="0" anchor="ctr"/>
          <a:lstStyle/>
          <a:p>
            <a:pPr marL="0" indent="0">
              <a:buNone/>
            </a:pPr>
            <a:r>
              <a:rPr lang="en-US" sz="850" dirty="0">
                <a:solidFill>
                  <a:srgbClr val="7BA5A0"/>
                </a:solidFill>
                <a:latin typeface="Calibri" pitchFamily="34" charset="0"/>
                <a:ea typeface="Calibri" pitchFamily="34" charset="-122"/>
                <a:cs typeface="Calibri" pitchFamily="34" charset="-120"/>
              </a:rPr>
              <a:t>Add station to a line</a:t>
            </a:r>
            <a:endParaRPr lang="en-US" sz="850" dirty="0"/>
          </a:p>
        </p:txBody>
      </p:sp>
      <p:sp>
        <p:nvSpPr>
          <p:cNvPr id="84" name="Shape 82"/>
          <p:cNvSpPr/>
          <p:nvPr/>
        </p:nvSpPr>
        <p:spPr>
          <a:xfrm>
            <a:off x="4782312" y="4672584"/>
            <a:ext cx="658368" cy="246888"/>
          </a:xfrm>
          <a:prstGeom prst="rect">
            <a:avLst/>
          </a:prstGeom>
          <a:solidFill>
            <a:srgbClr val="00C9A7">
              <a:alpha val="80000"/>
            </a:srgbClr>
          </a:solidFill>
          <a:ln w="12700">
            <a:solidFill>
              <a:srgbClr val="00C9A7"/>
            </a:solidFill>
            <a:prstDash val="solid"/>
          </a:ln>
        </p:spPr>
        <p:txBody>
          <a:bodyPr/>
          <a:lstStyle/>
          <a:p>
            <a:endParaRPr lang="en-US"/>
          </a:p>
        </p:txBody>
      </p:sp>
      <p:sp>
        <p:nvSpPr>
          <p:cNvPr id="85" name="Text 83"/>
          <p:cNvSpPr/>
          <p:nvPr/>
        </p:nvSpPr>
        <p:spPr>
          <a:xfrm>
            <a:off x="4782312" y="4672584"/>
            <a:ext cx="65836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Consolas" pitchFamily="34" charset="0"/>
                <a:ea typeface="Consolas" pitchFamily="34" charset="-122"/>
                <a:cs typeface="Consolas" pitchFamily="34" charset="-120"/>
              </a:rPr>
              <a:t>POST</a:t>
            </a:r>
            <a:endParaRPr lang="en-US" sz="800" dirty="0"/>
          </a:p>
        </p:txBody>
      </p:sp>
      <p:sp>
        <p:nvSpPr>
          <p:cNvPr id="86" name="Text 84"/>
          <p:cNvSpPr/>
          <p:nvPr/>
        </p:nvSpPr>
        <p:spPr>
          <a:xfrm>
            <a:off x="5495544" y="4672584"/>
            <a:ext cx="1188720" cy="246888"/>
          </a:xfrm>
          <a:prstGeom prst="rect">
            <a:avLst/>
          </a:prstGeom>
          <a:noFill/>
          <a:ln/>
        </p:spPr>
        <p:txBody>
          <a:bodyPr wrap="square" lIns="0" tIns="0" rIns="0" bIns="0" rtlCol="0" anchor="ctr"/>
          <a:lstStyle/>
          <a:p>
            <a:pPr marL="0" indent="0">
              <a:buNone/>
            </a:pPr>
            <a:r>
              <a:rPr lang="en-US" sz="850" dirty="0">
                <a:solidFill>
                  <a:srgbClr val="A8FF78"/>
                </a:solidFill>
                <a:latin typeface="Consolas" pitchFamily="34" charset="0"/>
                <a:ea typeface="Consolas" pitchFamily="34" charset="-122"/>
                <a:cs typeface="Consolas" pitchFamily="34" charset="-120"/>
              </a:rPr>
              <a:t>/metro/admin/fares</a:t>
            </a:r>
            <a:endParaRPr lang="en-US" sz="850" dirty="0"/>
          </a:p>
        </p:txBody>
      </p:sp>
      <p:sp>
        <p:nvSpPr>
          <p:cNvPr id="87" name="Text 85"/>
          <p:cNvSpPr/>
          <p:nvPr/>
        </p:nvSpPr>
        <p:spPr>
          <a:xfrm>
            <a:off x="6720840" y="4672584"/>
            <a:ext cx="2084832" cy="246888"/>
          </a:xfrm>
          <a:prstGeom prst="rect">
            <a:avLst/>
          </a:prstGeom>
          <a:noFill/>
          <a:ln/>
        </p:spPr>
        <p:txBody>
          <a:bodyPr wrap="square" lIns="0" tIns="0" rIns="0" bIns="0" rtlCol="0" anchor="ctr"/>
          <a:lstStyle/>
          <a:p>
            <a:pPr marL="0" indent="0">
              <a:buNone/>
            </a:pPr>
            <a:r>
              <a:rPr lang="en-US" sz="850" dirty="0">
                <a:solidFill>
                  <a:srgbClr val="7BA5A0"/>
                </a:solidFill>
                <a:latin typeface="Calibri" pitchFamily="34" charset="0"/>
                <a:ea typeface="Calibri" pitchFamily="34" charset="-122"/>
                <a:cs typeface="Calibri" pitchFamily="34" charset="-120"/>
              </a:rPr>
              <a:t>Add/update a fare band</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9A7"/>
          </a:solidFill>
          <a:ln w="12700">
            <a:solidFill>
              <a:srgbClr val="00C9A7"/>
            </a:solidFill>
            <a:prstDash val="solid"/>
          </a:ln>
        </p:spPr>
        <p:txBody>
          <a:bodyPr/>
          <a:lstStyle/>
          <a:p>
            <a:endParaRPr lang="en-US"/>
          </a:p>
        </p:txBody>
      </p:sp>
      <p:sp>
        <p:nvSpPr>
          <p:cNvPr id="3" name="Text 1"/>
          <p:cNvSpPr/>
          <p:nvPr/>
        </p:nvSpPr>
        <p:spPr>
          <a:xfrm>
            <a:off x="457200" y="182880"/>
            <a:ext cx="8229600" cy="457200"/>
          </a:xfrm>
          <a:prstGeom prst="rect">
            <a:avLst/>
          </a:prstGeom>
          <a:noFill/>
          <a:ln/>
        </p:spPr>
        <p:txBody>
          <a:bodyPr wrap="square" lIns="0" tIns="0" rIns="0" bIns="0" rtlCol="0" anchor="ctr"/>
          <a:lstStyle/>
          <a:p>
            <a:pPr marL="0" indent="0">
              <a:buNone/>
            </a:pPr>
            <a:r>
              <a:rPr lang="en-US" sz="2400" b="1" kern="0" spc="200" dirty="0">
                <a:solidFill>
                  <a:srgbClr val="FFFFFF"/>
                </a:solidFill>
                <a:latin typeface="Calibri" pitchFamily="34" charset="0"/>
                <a:ea typeface="Calibri" pitchFamily="34" charset="-122"/>
                <a:cs typeface="Calibri" pitchFamily="34" charset="-120"/>
              </a:rPr>
              <a:t>08  TECHNOLOGY STACK &amp; RATIONALE</a:t>
            </a:r>
            <a:endParaRPr lang="en-US" sz="2400" dirty="0"/>
          </a:p>
        </p:txBody>
      </p:sp>
      <p:sp>
        <p:nvSpPr>
          <p:cNvPr id="4" name="Shape 2"/>
          <p:cNvSpPr/>
          <p:nvPr/>
        </p:nvSpPr>
        <p:spPr>
          <a:xfrm>
            <a:off x="228600" y="804672"/>
            <a:ext cx="4206240" cy="91440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5" name="Shape 3"/>
          <p:cNvSpPr/>
          <p:nvPr/>
        </p:nvSpPr>
        <p:spPr>
          <a:xfrm>
            <a:off x="228600" y="804672"/>
            <a:ext cx="64008" cy="914400"/>
          </a:xfrm>
          <a:prstGeom prst="rect">
            <a:avLst/>
          </a:prstGeom>
          <a:solidFill>
            <a:srgbClr val="2196F3"/>
          </a:solidFill>
          <a:ln w="12700">
            <a:solidFill>
              <a:srgbClr val="2196F3"/>
            </a:solidFill>
            <a:prstDash val="solid"/>
          </a:ln>
        </p:spPr>
        <p:txBody>
          <a:bodyPr/>
          <a:lstStyle/>
          <a:p>
            <a:endParaRPr lang="en-US"/>
          </a:p>
        </p:txBody>
      </p:sp>
      <p:sp>
        <p:nvSpPr>
          <p:cNvPr id="6" name="Shape 4"/>
          <p:cNvSpPr/>
          <p:nvPr/>
        </p:nvSpPr>
        <p:spPr>
          <a:xfrm>
            <a:off x="411480" y="896112"/>
            <a:ext cx="1005840" cy="256032"/>
          </a:xfrm>
          <a:prstGeom prst="rect">
            <a:avLst/>
          </a:prstGeom>
          <a:solidFill>
            <a:srgbClr val="2196F3">
              <a:alpha val="25000"/>
            </a:srgbClr>
          </a:solidFill>
          <a:ln w="12700">
            <a:solidFill>
              <a:srgbClr val="2196F3">
                <a:alpha val="50000"/>
              </a:srgbClr>
            </a:solidFill>
            <a:prstDash val="solid"/>
          </a:ln>
        </p:spPr>
        <p:txBody>
          <a:bodyPr/>
          <a:lstStyle/>
          <a:p>
            <a:endParaRPr lang="en-US"/>
          </a:p>
        </p:txBody>
      </p:sp>
      <p:sp>
        <p:nvSpPr>
          <p:cNvPr id="7" name="Text 5"/>
          <p:cNvSpPr/>
          <p:nvPr/>
        </p:nvSpPr>
        <p:spPr>
          <a:xfrm>
            <a:off x="411480" y="896112"/>
            <a:ext cx="1005840" cy="256032"/>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Frontend UI</a:t>
            </a:r>
            <a:endParaRPr lang="en-US" sz="800" dirty="0"/>
          </a:p>
        </p:txBody>
      </p:sp>
      <p:sp>
        <p:nvSpPr>
          <p:cNvPr id="8" name="Text 6"/>
          <p:cNvSpPr/>
          <p:nvPr/>
        </p:nvSpPr>
        <p:spPr>
          <a:xfrm>
            <a:off x="1527048" y="877824"/>
            <a:ext cx="274320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React 18 + Vite</a:t>
            </a:r>
            <a:endParaRPr lang="en-US" sz="1200" dirty="0"/>
          </a:p>
        </p:txBody>
      </p:sp>
      <p:sp>
        <p:nvSpPr>
          <p:cNvPr id="9" name="Text 7"/>
          <p:cNvSpPr/>
          <p:nvPr/>
        </p:nvSpPr>
        <p:spPr>
          <a:xfrm>
            <a:off x="411480" y="1261872"/>
            <a:ext cx="3886200" cy="384048"/>
          </a:xfrm>
          <a:prstGeom prst="rect">
            <a:avLst/>
          </a:prstGeom>
          <a:noFill/>
          <a:ln/>
        </p:spPr>
        <p:txBody>
          <a:bodyPr wrap="square" lIns="0" tIns="0" rIns="0" bIns="0" rtlCol="0" anchor="ctr"/>
          <a:lstStyle/>
          <a:p>
            <a:pPr marL="0" indent="0">
              <a:lnSpc>
                <a:spcPct val="125000"/>
              </a:lnSpc>
              <a:buNone/>
            </a:pPr>
            <a:r>
              <a:rPr lang="en-US" sz="950" dirty="0">
                <a:solidFill>
                  <a:srgbClr val="D4E8E0"/>
                </a:solidFill>
                <a:latin typeface="Calibri" pitchFamily="34" charset="0"/>
                <a:ea typeface="Calibri" pitchFamily="34" charset="-122"/>
                <a:cs typeface="Calibri" pitchFamily="34" charset="-120"/>
              </a:rPr>
              <a:t>Fast HMR in dev, tiny production bundles. Component model maps cleanly to distinct app sections (planner, auth, admin).</a:t>
            </a:r>
            <a:endParaRPr lang="en-US" sz="950" dirty="0"/>
          </a:p>
        </p:txBody>
      </p:sp>
      <p:sp>
        <p:nvSpPr>
          <p:cNvPr id="10" name="Shape 8"/>
          <p:cNvSpPr/>
          <p:nvPr/>
        </p:nvSpPr>
        <p:spPr>
          <a:xfrm>
            <a:off x="4690872" y="804672"/>
            <a:ext cx="4206240" cy="91440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11" name="Shape 9"/>
          <p:cNvSpPr/>
          <p:nvPr/>
        </p:nvSpPr>
        <p:spPr>
          <a:xfrm>
            <a:off x="4690872" y="804672"/>
            <a:ext cx="64008" cy="914400"/>
          </a:xfrm>
          <a:prstGeom prst="rect">
            <a:avLst/>
          </a:prstGeom>
          <a:solidFill>
            <a:srgbClr val="00C9A7"/>
          </a:solidFill>
          <a:ln w="12700">
            <a:solidFill>
              <a:srgbClr val="00C9A7"/>
            </a:solidFill>
            <a:prstDash val="solid"/>
          </a:ln>
        </p:spPr>
        <p:txBody>
          <a:bodyPr/>
          <a:lstStyle/>
          <a:p>
            <a:endParaRPr lang="en-US"/>
          </a:p>
        </p:txBody>
      </p:sp>
      <p:sp>
        <p:nvSpPr>
          <p:cNvPr id="12" name="Shape 10"/>
          <p:cNvSpPr/>
          <p:nvPr/>
        </p:nvSpPr>
        <p:spPr>
          <a:xfrm>
            <a:off x="4873752" y="896112"/>
            <a:ext cx="1005840" cy="256032"/>
          </a:xfrm>
          <a:prstGeom prst="rect">
            <a:avLst/>
          </a:prstGeom>
          <a:solidFill>
            <a:srgbClr val="00C9A7">
              <a:alpha val="25000"/>
            </a:srgbClr>
          </a:solidFill>
          <a:ln w="12700">
            <a:solidFill>
              <a:srgbClr val="00C9A7">
                <a:alpha val="50000"/>
              </a:srgbClr>
            </a:solidFill>
            <a:prstDash val="solid"/>
          </a:ln>
        </p:spPr>
        <p:txBody>
          <a:bodyPr/>
          <a:lstStyle/>
          <a:p>
            <a:endParaRPr lang="en-US"/>
          </a:p>
        </p:txBody>
      </p:sp>
      <p:sp>
        <p:nvSpPr>
          <p:cNvPr id="13" name="Text 11"/>
          <p:cNvSpPr/>
          <p:nvPr/>
        </p:nvSpPr>
        <p:spPr>
          <a:xfrm>
            <a:off x="4873752" y="896112"/>
            <a:ext cx="1005840" cy="256032"/>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Interactive Map</a:t>
            </a:r>
            <a:endParaRPr lang="en-US" sz="800" dirty="0"/>
          </a:p>
        </p:txBody>
      </p:sp>
      <p:sp>
        <p:nvSpPr>
          <p:cNvPr id="14" name="Text 12"/>
          <p:cNvSpPr/>
          <p:nvPr/>
        </p:nvSpPr>
        <p:spPr>
          <a:xfrm>
            <a:off x="5989320" y="877824"/>
            <a:ext cx="274320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Leaflet.js</a:t>
            </a:r>
            <a:endParaRPr lang="en-US" sz="1200" dirty="0"/>
          </a:p>
        </p:txBody>
      </p:sp>
      <p:sp>
        <p:nvSpPr>
          <p:cNvPr id="15" name="Text 13"/>
          <p:cNvSpPr/>
          <p:nvPr/>
        </p:nvSpPr>
        <p:spPr>
          <a:xfrm>
            <a:off x="4873752" y="1261872"/>
            <a:ext cx="3886200" cy="384048"/>
          </a:xfrm>
          <a:prstGeom prst="rect">
            <a:avLst/>
          </a:prstGeom>
          <a:noFill/>
          <a:ln/>
        </p:spPr>
        <p:txBody>
          <a:bodyPr wrap="square" lIns="0" tIns="0" rIns="0" bIns="0" rtlCol="0" anchor="ctr"/>
          <a:lstStyle/>
          <a:p>
            <a:pPr marL="0" indent="0">
              <a:lnSpc>
                <a:spcPct val="125000"/>
              </a:lnSpc>
              <a:buNone/>
            </a:pPr>
            <a:r>
              <a:rPr lang="en-US" sz="950" dirty="0">
                <a:solidFill>
                  <a:srgbClr val="D4E8E0"/>
                </a:solidFill>
                <a:latin typeface="Calibri" pitchFamily="34" charset="0"/>
                <a:ea typeface="Calibri" pitchFamily="34" charset="-122"/>
                <a:cs typeface="Calibri" pitchFamily="34" charset="-120"/>
              </a:rPr>
              <a:t>Lightweight, no API key required, excellent React integration via imperative API. Handles GeoJSON overlays and travel animation.</a:t>
            </a:r>
            <a:endParaRPr lang="en-US" sz="950" dirty="0"/>
          </a:p>
        </p:txBody>
      </p:sp>
      <p:sp>
        <p:nvSpPr>
          <p:cNvPr id="16" name="Shape 14"/>
          <p:cNvSpPr/>
          <p:nvPr/>
        </p:nvSpPr>
        <p:spPr>
          <a:xfrm>
            <a:off x="228600" y="1874520"/>
            <a:ext cx="4206240" cy="91440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17" name="Shape 15"/>
          <p:cNvSpPr/>
          <p:nvPr/>
        </p:nvSpPr>
        <p:spPr>
          <a:xfrm>
            <a:off x="228600" y="1874520"/>
            <a:ext cx="64008" cy="914400"/>
          </a:xfrm>
          <a:prstGeom prst="rect">
            <a:avLst/>
          </a:prstGeom>
          <a:solidFill>
            <a:srgbClr val="F5A623"/>
          </a:solidFill>
          <a:ln w="12700">
            <a:solidFill>
              <a:srgbClr val="F5A623"/>
            </a:solidFill>
            <a:prstDash val="solid"/>
          </a:ln>
        </p:spPr>
        <p:txBody>
          <a:bodyPr/>
          <a:lstStyle/>
          <a:p>
            <a:endParaRPr lang="en-US"/>
          </a:p>
        </p:txBody>
      </p:sp>
      <p:sp>
        <p:nvSpPr>
          <p:cNvPr id="18" name="Shape 16"/>
          <p:cNvSpPr/>
          <p:nvPr/>
        </p:nvSpPr>
        <p:spPr>
          <a:xfrm>
            <a:off x="411480" y="1965960"/>
            <a:ext cx="1005840" cy="256032"/>
          </a:xfrm>
          <a:prstGeom prst="rect">
            <a:avLst/>
          </a:prstGeom>
          <a:solidFill>
            <a:srgbClr val="F5A623">
              <a:alpha val="25000"/>
            </a:srgbClr>
          </a:solidFill>
          <a:ln w="12700">
            <a:solidFill>
              <a:srgbClr val="F5A623">
                <a:alpha val="50000"/>
              </a:srgbClr>
            </a:solidFill>
            <a:prstDash val="solid"/>
          </a:ln>
        </p:spPr>
        <p:txBody>
          <a:bodyPr/>
          <a:lstStyle/>
          <a:p>
            <a:endParaRPr lang="en-US"/>
          </a:p>
        </p:txBody>
      </p:sp>
      <p:sp>
        <p:nvSpPr>
          <p:cNvPr id="19" name="Text 17"/>
          <p:cNvSpPr/>
          <p:nvPr/>
        </p:nvSpPr>
        <p:spPr>
          <a:xfrm>
            <a:off x="411480" y="1965960"/>
            <a:ext cx="1005840" cy="256032"/>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REST API Server</a:t>
            </a:r>
            <a:endParaRPr lang="en-US" sz="800" dirty="0"/>
          </a:p>
        </p:txBody>
      </p:sp>
      <p:sp>
        <p:nvSpPr>
          <p:cNvPr id="20" name="Text 18"/>
          <p:cNvSpPr/>
          <p:nvPr/>
        </p:nvSpPr>
        <p:spPr>
          <a:xfrm>
            <a:off x="1527048" y="1947672"/>
            <a:ext cx="274320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Express + TypeScript</a:t>
            </a:r>
            <a:endParaRPr lang="en-US" sz="1200" dirty="0"/>
          </a:p>
        </p:txBody>
      </p:sp>
      <p:sp>
        <p:nvSpPr>
          <p:cNvPr id="21" name="Text 19"/>
          <p:cNvSpPr/>
          <p:nvPr/>
        </p:nvSpPr>
        <p:spPr>
          <a:xfrm>
            <a:off x="411480" y="2331720"/>
            <a:ext cx="3886200" cy="384048"/>
          </a:xfrm>
          <a:prstGeom prst="rect">
            <a:avLst/>
          </a:prstGeom>
          <a:noFill/>
          <a:ln/>
        </p:spPr>
        <p:txBody>
          <a:bodyPr wrap="square" lIns="0" tIns="0" rIns="0" bIns="0" rtlCol="0" anchor="ctr"/>
          <a:lstStyle/>
          <a:p>
            <a:pPr marL="0" indent="0">
              <a:lnSpc>
                <a:spcPct val="125000"/>
              </a:lnSpc>
              <a:buNone/>
            </a:pPr>
            <a:r>
              <a:rPr lang="en-US" sz="950" dirty="0">
                <a:solidFill>
                  <a:srgbClr val="D4E8E0"/>
                </a:solidFill>
                <a:latin typeface="Calibri" pitchFamily="34" charset="0"/>
                <a:ea typeface="Calibri" pitchFamily="34" charset="-122"/>
                <a:cs typeface="Calibri" pitchFamily="34" charset="-120"/>
              </a:rPr>
              <a:t>Minimal, fast, and well-understood. TypeScript catches data-shape bugs at compile time — critical for auth and DB operations.</a:t>
            </a:r>
            <a:endParaRPr lang="en-US" sz="950" dirty="0"/>
          </a:p>
        </p:txBody>
      </p:sp>
      <p:sp>
        <p:nvSpPr>
          <p:cNvPr id="22" name="Shape 20"/>
          <p:cNvSpPr/>
          <p:nvPr/>
        </p:nvSpPr>
        <p:spPr>
          <a:xfrm>
            <a:off x="4690872" y="1874520"/>
            <a:ext cx="4206240" cy="91440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23" name="Shape 21"/>
          <p:cNvSpPr/>
          <p:nvPr/>
        </p:nvSpPr>
        <p:spPr>
          <a:xfrm>
            <a:off x="4690872" y="1874520"/>
            <a:ext cx="64008" cy="914400"/>
          </a:xfrm>
          <a:prstGeom prst="rect">
            <a:avLst/>
          </a:prstGeom>
          <a:solidFill>
            <a:srgbClr val="FF9800"/>
          </a:solidFill>
          <a:ln w="12700">
            <a:solidFill>
              <a:srgbClr val="FF9800"/>
            </a:solidFill>
            <a:prstDash val="solid"/>
          </a:ln>
        </p:spPr>
        <p:txBody>
          <a:bodyPr/>
          <a:lstStyle/>
          <a:p>
            <a:endParaRPr lang="en-US"/>
          </a:p>
        </p:txBody>
      </p:sp>
      <p:sp>
        <p:nvSpPr>
          <p:cNvPr id="24" name="Shape 22"/>
          <p:cNvSpPr/>
          <p:nvPr/>
        </p:nvSpPr>
        <p:spPr>
          <a:xfrm>
            <a:off x="4873752" y="1965960"/>
            <a:ext cx="1005840" cy="256032"/>
          </a:xfrm>
          <a:prstGeom prst="rect">
            <a:avLst/>
          </a:prstGeom>
          <a:solidFill>
            <a:srgbClr val="FF9800">
              <a:alpha val="25000"/>
            </a:srgbClr>
          </a:solidFill>
          <a:ln w="12700">
            <a:solidFill>
              <a:srgbClr val="FF9800">
                <a:alpha val="50000"/>
              </a:srgbClr>
            </a:solidFill>
            <a:prstDash val="solid"/>
          </a:ln>
        </p:spPr>
        <p:txBody>
          <a:bodyPr/>
          <a:lstStyle/>
          <a:p>
            <a:endParaRPr lang="en-US"/>
          </a:p>
        </p:txBody>
      </p:sp>
      <p:sp>
        <p:nvSpPr>
          <p:cNvPr id="25" name="Text 23"/>
          <p:cNvSpPr/>
          <p:nvPr/>
        </p:nvSpPr>
        <p:spPr>
          <a:xfrm>
            <a:off x="4873752" y="1965960"/>
            <a:ext cx="1005840" cy="256032"/>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Database Layer</a:t>
            </a:r>
            <a:endParaRPr lang="en-US" sz="800" dirty="0"/>
          </a:p>
        </p:txBody>
      </p:sp>
      <p:sp>
        <p:nvSpPr>
          <p:cNvPr id="26" name="Text 24"/>
          <p:cNvSpPr/>
          <p:nvPr/>
        </p:nvSpPr>
        <p:spPr>
          <a:xfrm>
            <a:off x="5989320" y="1947672"/>
            <a:ext cx="274320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Prisma ORM</a:t>
            </a:r>
            <a:endParaRPr lang="en-US" sz="1200" dirty="0"/>
          </a:p>
        </p:txBody>
      </p:sp>
      <p:sp>
        <p:nvSpPr>
          <p:cNvPr id="27" name="Text 25"/>
          <p:cNvSpPr/>
          <p:nvPr/>
        </p:nvSpPr>
        <p:spPr>
          <a:xfrm>
            <a:off x="4873752" y="2331720"/>
            <a:ext cx="3886200" cy="384048"/>
          </a:xfrm>
          <a:prstGeom prst="rect">
            <a:avLst/>
          </a:prstGeom>
          <a:noFill/>
          <a:ln/>
        </p:spPr>
        <p:txBody>
          <a:bodyPr wrap="square" lIns="0" tIns="0" rIns="0" bIns="0" rtlCol="0" anchor="ctr"/>
          <a:lstStyle/>
          <a:p>
            <a:pPr marL="0" indent="0">
              <a:lnSpc>
                <a:spcPct val="125000"/>
              </a:lnSpc>
              <a:buNone/>
            </a:pPr>
            <a:r>
              <a:rPr lang="en-US" sz="950" dirty="0">
                <a:solidFill>
                  <a:srgbClr val="D4E8E0"/>
                </a:solidFill>
                <a:latin typeface="Calibri" pitchFamily="34" charset="0"/>
                <a:ea typeface="Calibri" pitchFamily="34" charset="-122"/>
                <a:cs typeface="Calibri" pitchFamily="34" charset="-120"/>
              </a:rPr>
              <a:t>Type-safe queries, automatic migrations, readable schema. Seed scripts make local onboarding a single command.</a:t>
            </a:r>
            <a:endParaRPr lang="en-US" sz="950" dirty="0"/>
          </a:p>
        </p:txBody>
      </p:sp>
      <p:sp>
        <p:nvSpPr>
          <p:cNvPr id="28" name="Shape 26"/>
          <p:cNvSpPr/>
          <p:nvPr/>
        </p:nvSpPr>
        <p:spPr>
          <a:xfrm>
            <a:off x="228600" y="2944368"/>
            <a:ext cx="4206240" cy="91440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29" name="Shape 27"/>
          <p:cNvSpPr/>
          <p:nvPr/>
        </p:nvSpPr>
        <p:spPr>
          <a:xfrm>
            <a:off x="228600" y="2944368"/>
            <a:ext cx="64008" cy="914400"/>
          </a:xfrm>
          <a:prstGeom prst="rect">
            <a:avLst/>
          </a:prstGeom>
          <a:solidFill>
            <a:srgbClr val="A78BFA"/>
          </a:solidFill>
          <a:ln w="12700">
            <a:solidFill>
              <a:srgbClr val="A78BFA"/>
            </a:solidFill>
            <a:prstDash val="solid"/>
          </a:ln>
        </p:spPr>
        <p:txBody>
          <a:bodyPr/>
          <a:lstStyle/>
          <a:p>
            <a:endParaRPr lang="en-US"/>
          </a:p>
        </p:txBody>
      </p:sp>
      <p:sp>
        <p:nvSpPr>
          <p:cNvPr id="30" name="Shape 28"/>
          <p:cNvSpPr/>
          <p:nvPr/>
        </p:nvSpPr>
        <p:spPr>
          <a:xfrm>
            <a:off x="411480" y="3035808"/>
            <a:ext cx="1005840" cy="256032"/>
          </a:xfrm>
          <a:prstGeom prst="rect">
            <a:avLst/>
          </a:prstGeom>
          <a:solidFill>
            <a:srgbClr val="A78BFA">
              <a:alpha val="25000"/>
            </a:srgbClr>
          </a:solidFill>
          <a:ln w="12700">
            <a:solidFill>
              <a:srgbClr val="A78BFA">
                <a:alpha val="50000"/>
              </a:srgbClr>
            </a:solidFill>
            <a:prstDash val="solid"/>
          </a:ln>
        </p:spPr>
        <p:txBody>
          <a:bodyPr/>
          <a:lstStyle/>
          <a:p>
            <a:endParaRPr lang="en-US"/>
          </a:p>
        </p:txBody>
      </p:sp>
      <p:sp>
        <p:nvSpPr>
          <p:cNvPr id="31" name="Text 29"/>
          <p:cNvSpPr/>
          <p:nvPr/>
        </p:nvSpPr>
        <p:spPr>
          <a:xfrm>
            <a:off x="411480" y="3035808"/>
            <a:ext cx="1005840" cy="256032"/>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Database</a:t>
            </a:r>
            <a:endParaRPr lang="en-US" sz="800" dirty="0"/>
          </a:p>
        </p:txBody>
      </p:sp>
      <p:sp>
        <p:nvSpPr>
          <p:cNvPr id="32" name="Text 30"/>
          <p:cNvSpPr/>
          <p:nvPr/>
        </p:nvSpPr>
        <p:spPr>
          <a:xfrm>
            <a:off x="1527048" y="3017520"/>
            <a:ext cx="274320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SQLite</a:t>
            </a:r>
            <a:endParaRPr lang="en-US" sz="1200" dirty="0"/>
          </a:p>
        </p:txBody>
      </p:sp>
      <p:sp>
        <p:nvSpPr>
          <p:cNvPr id="33" name="Text 31"/>
          <p:cNvSpPr/>
          <p:nvPr/>
        </p:nvSpPr>
        <p:spPr>
          <a:xfrm>
            <a:off x="411480" y="3401568"/>
            <a:ext cx="3886200" cy="384048"/>
          </a:xfrm>
          <a:prstGeom prst="rect">
            <a:avLst/>
          </a:prstGeom>
          <a:noFill/>
          <a:ln/>
        </p:spPr>
        <p:txBody>
          <a:bodyPr wrap="square" lIns="0" tIns="0" rIns="0" bIns="0" rtlCol="0" anchor="ctr"/>
          <a:lstStyle/>
          <a:p>
            <a:pPr marL="0" indent="0">
              <a:lnSpc>
                <a:spcPct val="125000"/>
              </a:lnSpc>
              <a:buNone/>
            </a:pPr>
            <a:r>
              <a:rPr lang="en-US" sz="950" dirty="0">
                <a:solidFill>
                  <a:srgbClr val="D4E8E0"/>
                </a:solidFill>
                <a:latin typeface="Calibri" pitchFamily="34" charset="0"/>
                <a:ea typeface="Calibri" pitchFamily="34" charset="-122"/>
                <a:cs typeface="Calibri" pitchFamily="34" charset="-120"/>
              </a:rPr>
              <a:t>Zero-config for local development. Trivially replaced with PostgreSQL for production via a single Prisma provider swap.</a:t>
            </a:r>
            <a:endParaRPr lang="en-US" sz="950" dirty="0"/>
          </a:p>
        </p:txBody>
      </p:sp>
      <p:sp>
        <p:nvSpPr>
          <p:cNvPr id="34" name="Shape 32"/>
          <p:cNvSpPr/>
          <p:nvPr/>
        </p:nvSpPr>
        <p:spPr>
          <a:xfrm>
            <a:off x="4690872" y="2944368"/>
            <a:ext cx="4206240" cy="91440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35" name="Shape 33"/>
          <p:cNvSpPr/>
          <p:nvPr/>
        </p:nvSpPr>
        <p:spPr>
          <a:xfrm>
            <a:off x="4690872" y="2944368"/>
            <a:ext cx="64008" cy="914400"/>
          </a:xfrm>
          <a:prstGeom prst="rect">
            <a:avLst/>
          </a:prstGeom>
          <a:solidFill>
            <a:srgbClr val="E63946"/>
          </a:solidFill>
          <a:ln w="12700">
            <a:solidFill>
              <a:srgbClr val="E63946"/>
            </a:solidFill>
            <a:prstDash val="solid"/>
          </a:ln>
        </p:spPr>
        <p:txBody>
          <a:bodyPr/>
          <a:lstStyle/>
          <a:p>
            <a:endParaRPr lang="en-US"/>
          </a:p>
        </p:txBody>
      </p:sp>
      <p:sp>
        <p:nvSpPr>
          <p:cNvPr id="36" name="Shape 34"/>
          <p:cNvSpPr/>
          <p:nvPr/>
        </p:nvSpPr>
        <p:spPr>
          <a:xfrm>
            <a:off x="4873752" y="3035808"/>
            <a:ext cx="1005840" cy="256032"/>
          </a:xfrm>
          <a:prstGeom prst="rect">
            <a:avLst/>
          </a:prstGeom>
          <a:solidFill>
            <a:srgbClr val="E63946">
              <a:alpha val="25000"/>
            </a:srgbClr>
          </a:solidFill>
          <a:ln w="12700">
            <a:solidFill>
              <a:srgbClr val="E63946">
                <a:alpha val="50000"/>
              </a:srgbClr>
            </a:solidFill>
            <a:prstDash val="solid"/>
          </a:ln>
        </p:spPr>
        <p:txBody>
          <a:bodyPr/>
          <a:lstStyle/>
          <a:p>
            <a:endParaRPr lang="en-US"/>
          </a:p>
        </p:txBody>
      </p:sp>
      <p:sp>
        <p:nvSpPr>
          <p:cNvPr id="37" name="Text 35"/>
          <p:cNvSpPr/>
          <p:nvPr/>
        </p:nvSpPr>
        <p:spPr>
          <a:xfrm>
            <a:off x="4873752" y="3035808"/>
            <a:ext cx="1005840" cy="256032"/>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Auth Tokens</a:t>
            </a:r>
            <a:endParaRPr lang="en-US" sz="800" dirty="0"/>
          </a:p>
        </p:txBody>
      </p:sp>
      <p:sp>
        <p:nvSpPr>
          <p:cNvPr id="38" name="Text 36"/>
          <p:cNvSpPr/>
          <p:nvPr/>
        </p:nvSpPr>
        <p:spPr>
          <a:xfrm>
            <a:off x="5989320" y="3017520"/>
            <a:ext cx="274320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JWT (access + refresh)</a:t>
            </a:r>
            <a:endParaRPr lang="en-US" sz="1200" dirty="0"/>
          </a:p>
        </p:txBody>
      </p:sp>
      <p:sp>
        <p:nvSpPr>
          <p:cNvPr id="39" name="Text 37"/>
          <p:cNvSpPr/>
          <p:nvPr/>
        </p:nvSpPr>
        <p:spPr>
          <a:xfrm>
            <a:off x="4873752" y="3401568"/>
            <a:ext cx="3886200" cy="384048"/>
          </a:xfrm>
          <a:prstGeom prst="rect">
            <a:avLst/>
          </a:prstGeom>
          <a:noFill/>
          <a:ln/>
        </p:spPr>
        <p:txBody>
          <a:bodyPr wrap="square" lIns="0" tIns="0" rIns="0" bIns="0" rtlCol="0" anchor="ctr"/>
          <a:lstStyle/>
          <a:p>
            <a:pPr marL="0" indent="0">
              <a:lnSpc>
                <a:spcPct val="125000"/>
              </a:lnSpc>
              <a:buNone/>
            </a:pPr>
            <a:r>
              <a:rPr lang="en-US" sz="950" dirty="0">
                <a:solidFill>
                  <a:srgbClr val="D4E8E0"/>
                </a:solidFill>
                <a:latin typeface="Calibri" pitchFamily="34" charset="0"/>
                <a:ea typeface="Calibri" pitchFamily="34" charset="-122"/>
                <a:cs typeface="Calibri" pitchFamily="34" charset="-120"/>
              </a:rPr>
              <a:t>Stateless access tokens + server-stored refresh tokens give the right balance of performance and revocability.</a:t>
            </a:r>
            <a:endParaRPr lang="en-US" sz="950" dirty="0"/>
          </a:p>
        </p:txBody>
      </p:sp>
      <p:sp>
        <p:nvSpPr>
          <p:cNvPr id="40" name="Shape 38"/>
          <p:cNvSpPr/>
          <p:nvPr/>
        </p:nvSpPr>
        <p:spPr>
          <a:xfrm>
            <a:off x="228600" y="4014216"/>
            <a:ext cx="4206240" cy="91440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41" name="Shape 39"/>
          <p:cNvSpPr/>
          <p:nvPr/>
        </p:nvSpPr>
        <p:spPr>
          <a:xfrm>
            <a:off x="228600" y="4014216"/>
            <a:ext cx="64008" cy="914400"/>
          </a:xfrm>
          <a:prstGeom prst="rect">
            <a:avLst/>
          </a:prstGeom>
          <a:solidFill>
            <a:srgbClr val="7BA5A0"/>
          </a:solidFill>
          <a:ln w="12700">
            <a:solidFill>
              <a:srgbClr val="7BA5A0"/>
            </a:solidFill>
            <a:prstDash val="solid"/>
          </a:ln>
        </p:spPr>
        <p:txBody>
          <a:bodyPr/>
          <a:lstStyle/>
          <a:p>
            <a:endParaRPr lang="en-US"/>
          </a:p>
        </p:txBody>
      </p:sp>
      <p:sp>
        <p:nvSpPr>
          <p:cNvPr id="42" name="Shape 40"/>
          <p:cNvSpPr/>
          <p:nvPr/>
        </p:nvSpPr>
        <p:spPr>
          <a:xfrm>
            <a:off x="411480" y="4105656"/>
            <a:ext cx="1005840" cy="256032"/>
          </a:xfrm>
          <a:prstGeom prst="rect">
            <a:avLst/>
          </a:prstGeom>
          <a:solidFill>
            <a:srgbClr val="7BA5A0">
              <a:alpha val="25000"/>
            </a:srgbClr>
          </a:solidFill>
          <a:ln w="12700">
            <a:solidFill>
              <a:srgbClr val="7BA5A0">
                <a:alpha val="50000"/>
              </a:srgbClr>
            </a:solidFill>
            <a:prstDash val="solid"/>
          </a:ln>
        </p:spPr>
        <p:txBody>
          <a:bodyPr/>
          <a:lstStyle/>
          <a:p>
            <a:endParaRPr lang="en-US"/>
          </a:p>
        </p:txBody>
      </p:sp>
      <p:sp>
        <p:nvSpPr>
          <p:cNvPr id="43" name="Text 41"/>
          <p:cNvSpPr/>
          <p:nvPr/>
        </p:nvSpPr>
        <p:spPr>
          <a:xfrm>
            <a:off x="411480" y="4105656"/>
            <a:ext cx="1005840" cy="256032"/>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PWA / Offline</a:t>
            </a:r>
            <a:endParaRPr lang="en-US" sz="800" dirty="0"/>
          </a:p>
        </p:txBody>
      </p:sp>
      <p:sp>
        <p:nvSpPr>
          <p:cNvPr id="44" name="Text 42"/>
          <p:cNvSpPr/>
          <p:nvPr/>
        </p:nvSpPr>
        <p:spPr>
          <a:xfrm>
            <a:off x="1527048" y="4087368"/>
            <a:ext cx="274320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Service Worker (sw.js)</a:t>
            </a:r>
            <a:endParaRPr lang="en-US" sz="1200" dirty="0"/>
          </a:p>
        </p:txBody>
      </p:sp>
      <p:sp>
        <p:nvSpPr>
          <p:cNvPr id="45" name="Text 43"/>
          <p:cNvSpPr/>
          <p:nvPr/>
        </p:nvSpPr>
        <p:spPr>
          <a:xfrm>
            <a:off x="411480" y="4471416"/>
            <a:ext cx="3886200" cy="384048"/>
          </a:xfrm>
          <a:prstGeom prst="rect">
            <a:avLst/>
          </a:prstGeom>
          <a:noFill/>
          <a:ln/>
        </p:spPr>
        <p:txBody>
          <a:bodyPr wrap="square" lIns="0" tIns="0" rIns="0" bIns="0" rtlCol="0" anchor="ctr"/>
          <a:lstStyle/>
          <a:p>
            <a:pPr marL="0" indent="0">
              <a:lnSpc>
                <a:spcPct val="125000"/>
              </a:lnSpc>
              <a:buNone/>
            </a:pPr>
            <a:r>
              <a:rPr lang="en-US" sz="950" dirty="0">
                <a:solidFill>
                  <a:srgbClr val="D4E8E0"/>
                </a:solidFill>
                <a:latin typeface="Calibri" pitchFamily="34" charset="0"/>
                <a:ea typeface="Calibri" pitchFamily="34" charset="-122"/>
                <a:cs typeface="Calibri" pitchFamily="34" charset="-120"/>
              </a:rPr>
              <a:t>Two-cache strategy: static assets (cache-first) + map tiles (stale-while-revalidate). Works underground with no signal.</a:t>
            </a:r>
            <a:endParaRPr lang="en-US" sz="950" dirty="0"/>
          </a:p>
        </p:txBody>
      </p:sp>
      <p:sp>
        <p:nvSpPr>
          <p:cNvPr id="46" name="Shape 44"/>
          <p:cNvSpPr/>
          <p:nvPr/>
        </p:nvSpPr>
        <p:spPr>
          <a:xfrm>
            <a:off x="4690872" y="4014216"/>
            <a:ext cx="4206240" cy="914400"/>
          </a:xfrm>
          <a:prstGeom prst="rect">
            <a:avLst/>
          </a:prstGeom>
          <a:solidFill>
            <a:srgbClr val="1B2A3B"/>
          </a:solidFill>
          <a:ln w="12700">
            <a:solidFill>
              <a:srgbClr val="1E3A4A"/>
            </a:solidFill>
            <a:prstDash val="solid"/>
          </a:ln>
          <a:effectLst>
            <a:outerShdw blurRad="101600" dist="38100" dir="8100000" algn="bl" rotWithShape="0">
              <a:srgbClr val="000000">
                <a:alpha val="25000"/>
              </a:srgbClr>
            </a:outerShdw>
          </a:effectLst>
        </p:spPr>
        <p:txBody>
          <a:bodyPr/>
          <a:lstStyle/>
          <a:p>
            <a:endParaRPr lang="en-US"/>
          </a:p>
        </p:txBody>
      </p:sp>
      <p:sp>
        <p:nvSpPr>
          <p:cNvPr id="47" name="Shape 45"/>
          <p:cNvSpPr/>
          <p:nvPr/>
        </p:nvSpPr>
        <p:spPr>
          <a:xfrm>
            <a:off x="4690872" y="4014216"/>
            <a:ext cx="64008" cy="914400"/>
          </a:xfrm>
          <a:prstGeom prst="rect">
            <a:avLst/>
          </a:prstGeom>
          <a:solidFill>
            <a:srgbClr val="1E8A6E"/>
          </a:solidFill>
          <a:ln w="12700">
            <a:solidFill>
              <a:srgbClr val="1E8A6E"/>
            </a:solidFill>
            <a:prstDash val="solid"/>
          </a:ln>
        </p:spPr>
        <p:txBody>
          <a:bodyPr/>
          <a:lstStyle/>
          <a:p>
            <a:endParaRPr lang="en-US"/>
          </a:p>
        </p:txBody>
      </p:sp>
      <p:sp>
        <p:nvSpPr>
          <p:cNvPr id="48" name="Shape 46"/>
          <p:cNvSpPr/>
          <p:nvPr/>
        </p:nvSpPr>
        <p:spPr>
          <a:xfrm>
            <a:off x="4873752" y="4105656"/>
            <a:ext cx="1005840" cy="256032"/>
          </a:xfrm>
          <a:prstGeom prst="rect">
            <a:avLst/>
          </a:prstGeom>
          <a:solidFill>
            <a:srgbClr val="1E8A6E">
              <a:alpha val="25000"/>
            </a:srgbClr>
          </a:solidFill>
          <a:ln w="12700">
            <a:solidFill>
              <a:srgbClr val="1E8A6E">
                <a:alpha val="50000"/>
              </a:srgbClr>
            </a:solidFill>
            <a:prstDash val="solid"/>
          </a:ln>
        </p:spPr>
        <p:txBody>
          <a:bodyPr/>
          <a:lstStyle/>
          <a:p>
            <a:endParaRPr lang="en-US"/>
          </a:p>
        </p:txBody>
      </p:sp>
      <p:sp>
        <p:nvSpPr>
          <p:cNvPr id="49" name="Text 47"/>
          <p:cNvSpPr/>
          <p:nvPr/>
        </p:nvSpPr>
        <p:spPr>
          <a:xfrm>
            <a:off x="4873752" y="4105656"/>
            <a:ext cx="1005840" cy="256032"/>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Dev DX</a:t>
            </a:r>
            <a:endParaRPr lang="en-US" sz="800" dirty="0"/>
          </a:p>
        </p:txBody>
      </p:sp>
      <p:sp>
        <p:nvSpPr>
          <p:cNvPr id="50" name="Text 48"/>
          <p:cNvSpPr/>
          <p:nvPr/>
        </p:nvSpPr>
        <p:spPr>
          <a:xfrm>
            <a:off x="5989320" y="4087368"/>
            <a:ext cx="274320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Vite Proxy (/api)</a:t>
            </a:r>
            <a:endParaRPr lang="en-US" sz="1200" dirty="0"/>
          </a:p>
        </p:txBody>
      </p:sp>
      <p:sp>
        <p:nvSpPr>
          <p:cNvPr id="51" name="Text 49"/>
          <p:cNvSpPr/>
          <p:nvPr/>
        </p:nvSpPr>
        <p:spPr>
          <a:xfrm>
            <a:off x="4873752" y="4471416"/>
            <a:ext cx="3886200" cy="384048"/>
          </a:xfrm>
          <a:prstGeom prst="rect">
            <a:avLst/>
          </a:prstGeom>
          <a:noFill/>
          <a:ln/>
        </p:spPr>
        <p:txBody>
          <a:bodyPr wrap="square" lIns="0" tIns="0" rIns="0" bIns="0" rtlCol="0" anchor="ctr"/>
          <a:lstStyle/>
          <a:p>
            <a:pPr marL="0" indent="0">
              <a:lnSpc>
                <a:spcPct val="125000"/>
              </a:lnSpc>
              <a:buNone/>
            </a:pPr>
            <a:r>
              <a:rPr lang="en-US" sz="950" dirty="0">
                <a:solidFill>
                  <a:srgbClr val="D4E8E0"/>
                </a:solidFill>
                <a:latin typeface="Calibri" pitchFamily="34" charset="0"/>
                <a:ea typeface="Calibri" pitchFamily="34" charset="-122"/>
                <a:cs typeface="Calibri" pitchFamily="34" charset="-120"/>
              </a:rPr>
              <a:t>One-line proxy config routes all /api calls to Express during development — no CORS issues, no manual port wrangling.</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4754880" cy="5143500"/>
          </a:xfrm>
          <a:prstGeom prst="rect">
            <a:avLst/>
          </a:prstGeom>
          <a:solidFill>
            <a:srgbClr val="1B2A3B"/>
          </a:solidFill>
          <a:ln w="12700">
            <a:solidFill>
              <a:srgbClr val="1B2A3B"/>
            </a:solidFill>
            <a:prstDash val="solid"/>
          </a:ln>
        </p:spPr>
        <p:txBody>
          <a:bodyPr/>
          <a:lstStyle/>
          <a:p>
            <a:endParaRPr lang="en-US"/>
          </a:p>
        </p:txBody>
      </p:sp>
      <p:sp>
        <p:nvSpPr>
          <p:cNvPr id="3" name="Shape 1"/>
          <p:cNvSpPr/>
          <p:nvPr/>
        </p:nvSpPr>
        <p:spPr>
          <a:xfrm>
            <a:off x="0" y="0"/>
            <a:ext cx="109728" cy="5143500"/>
          </a:xfrm>
          <a:prstGeom prst="rect">
            <a:avLst/>
          </a:prstGeom>
          <a:solidFill>
            <a:srgbClr val="00C9A7"/>
          </a:solidFill>
          <a:ln w="12700">
            <a:solidFill>
              <a:srgbClr val="00C9A7"/>
            </a:solidFill>
            <a:prstDash val="solid"/>
          </a:ln>
        </p:spPr>
        <p:txBody>
          <a:bodyPr/>
          <a:lstStyle/>
          <a:p>
            <a:endParaRPr lang="en-US"/>
          </a:p>
        </p:txBody>
      </p:sp>
      <p:pic>
        <p:nvPicPr>
          <p:cNvPr id="4" name="Image 0"/>
          <p:cNvPicPr>
            <a:picLocks noChangeAspect="1"/>
          </p:cNvPicPr>
          <p:nvPr/>
        </p:nvPicPr>
        <p:blipFill>
          <a:blip r:embed="rId3"/>
          <a:srcRect/>
          <a:stretch/>
        </p:blipFill>
        <p:spPr>
          <a:xfrm>
            <a:off x="457200" y="822960"/>
            <a:ext cx="3200400" cy="3200400"/>
          </a:xfrm>
          <a:prstGeom prst="rect">
            <a:avLst/>
          </a:prstGeom>
        </p:spPr>
      </p:pic>
      <p:sp>
        <p:nvSpPr>
          <p:cNvPr id="5" name="Shape 2"/>
          <p:cNvSpPr/>
          <p:nvPr/>
        </p:nvSpPr>
        <p:spPr>
          <a:xfrm>
            <a:off x="457200" y="4297680"/>
            <a:ext cx="164592" cy="164592"/>
          </a:xfrm>
          <a:prstGeom prst="ellipse">
            <a:avLst/>
          </a:prstGeom>
          <a:solidFill>
            <a:srgbClr val="E63946"/>
          </a:solidFill>
          <a:ln w="12700">
            <a:solidFill>
              <a:srgbClr val="E63946"/>
            </a:solidFill>
            <a:prstDash val="solid"/>
          </a:ln>
        </p:spPr>
        <p:txBody>
          <a:bodyPr/>
          <a:lstStyle/>
          <a:p>
            <a:endParaRPr lang="en-US"/>
          </a:p>
        </p:txBody>
      </p:sp>
      <p:sp>
        <p:nvSpPr>
          <p:cNvPr id="6" name="Text 3"/>
          <p:cNvSpPr/>
          <p:nvPr/>
        </p:nvSpPr>
        <p:spPr>
          <a:xfrm>
            <a:off x="731520" y="4279392"/>
            <a:ext cx="3657600" cy="201168"/>
          </a:xfrm>
          <a:prstGeom prst="rect">
            <a:avLst/>
          </a:prstGeom>
          <a:noFill/>
          <a:ln/>
        </p:spPr>
        <p:txBody>
          <a:bodyPr wrap="square" lIns="0" tIns="0" rIns="0" bIns="0" rtlCol="0" anchor="ctr"/>
          <a:lstStyle/>
          <a:p>
            <a:pPr marL="0" indent="0">
              <a:buNone/>
            </a:pPr>
            <a:r>
              <a:rPr lang="en-US" sz="900" dirty="0">
                <a:solidFill>
                  <a:srgbClr val="7BA5A0"/>
                </a:solidFill>
                <a:latin typeface="Calibri" pitchFamily="34" charset="0"/>
                <a:ea typeface="Calibri" pitchFamily="34" charset="-122"/>
                <a:cs typeface="Calibri" pitchFamily="34" charset="-120"/>
              </a:rPr>
              <a:t>Line 1 (Helwan–New El-Marg)</a:t>
            </a:r>
            <a:endParaRPr lang="en-US" sz="900" dirty="0"/>
          </a:p>
        </p:txBody>
      </p:sp>
      <p:sp>
        <p:nvSpPr>
          <p:cNvPr id="7" name="Shape 4"/>
          <p:cNvSpPr/>
          <p:nvPr/>
        </p:nvSpPr>
        <p:spPr>
          <a:xfrm>
            <a:off x="457200" y="4572000"/>
            <a:ext cx="164592" cy="164592"/>
          </a:xfrm>
          <a:prstGeom prst="ellipse">
            <a:avLst/>
          </a:prstGeom>
          <a:solidFill>
            <a:srgbClr val="2196F3"/>
          </a:solidFill>
          <a:ln w="12700">
            <a:solidFill>
              <a:srgbClr val="2196F3"/>
            </a:solidFill>
            <a:prstDash val="solid"/>
          </a:ln>
        </p:spPr>
        <p:txBody>
          <a:bodyPr/>
          <a:lstStyle/>
          <a:p>
            <a:endParaRPr lang="en-US"/>
          </a:p>
        </p:txBody>
      </p:sp>
      <p:sp>
        <p:nvSpPr>
          <p:cNvPr id="8" name="Text 5"/>
          <p:cNvSpPr/>
          <p:nvPr/>
        </p:nvSpPr>
        <p:spPr>
          <a:xfrm>
            <a:off x="731520" y="4553712"/>
            <a:ext cx="3657600" cy="201168"/>
          </a:xfrm>
          <a:prstGeom prst="rect">
            <a:avLst/>
          </a:prstGeom>
          <a:noFill/>
          <a:ln/>
        </p:spPr>
        <p:txBody>
          <a:bodyPr wrap="square" lIns="0" tIns="0" rIns="0" bIns="0" rtlCol="0" anchor="ctr"/>
          <a:lstStyle/>
          <a:p>
            <a:pPr marL="0" indent="0">
              <a:buNone/>
            </a:pPr>
            <a:r>
              <a:rPr lang="en-US" sz="900" dirty="0">
                <a:solidFill>
                  <a:srgbClr val="7BA5A0"/>
                </a:solidFill>
                <a:latin typeface="Calibri" pitchFamily="34" charset="0"/>
                <a:ea typeface="Calibri" pitchFamily="34" charset="-122"/>
                <a:cs typeface="Calibri" pitchFamily="34" charset="-120"/>
              </a:rPr>
              <a:t>Line 2 (Shoubra–El Mounib)</a:t>
            </a:r>
            <a:endParaRPr lang="en-US" sz="900" dirty="0"/>
          </a:p>
        </p:txBody>
      </p:sp>
      <p:sp>
        <p:nvSpPr>
          <p:cNvPr id="9" name="Shape 6"/>
          <p:cNvSpPr/>
          <p:nvPr/>
        </p:nvSpPr>
        <p:spPr>
          <a:xfrm>
            <a:off x="457200" y="4846320"/>
            <a:ext cx="164592" cy="164592"/>
          </a:xfrm>
          <a:prstGeom prst="ellipse">
            <a:avLst/>
          </a:prstGeom>
          <a:solidFill>
            <a:srgbClr val="FF9800"/>
          </a:solidFill>
          <a:ln w="12700">
            <a:solidFill>
              <a:srgbClr val="FF9800"/>
            </a:solidFill>
            <a:prstDash val="solid"/>
          </a:ln>
        </p:spPr>
        <p:txBody>
          <a:bodyPr/>
          <a:lstStyle/>
          <a:p>
            <a:endParaRPr lang="en-US"/>
          </a:p>
        </p:txBody>
      </p:sp>
      <p:sp>
        <p:nvSpPr>
          <p:cNvPr id="10" name="Text 7"/>
          <p:cNvSpPr/>
          <p:nvPr/>
        </p:nvSpPr>
        <p:spPr>
          <a:xfrm>
            <a:off x="731520" y="4828032"/>
            <a:ext cx="3657600" cy="201168"/>
          </a:xfrm>
          <a:prstGeom prst="rect">
            <a:avLst/>
          </a:prstGeom>
          <a:noFill/>
          <a:ln/>
        </p:spPr>
        <p:txBody>
          <a:bodyPr wrap="square" lIns="0" tIns="0" rIns="0" bIns="0" rtlCol="0" anchor="ctr"/>
          <a:lstStyle/>
          <a:p>
            <a:pPr marL="0" indent="0">
              <a:buNone/>
            </a:pPr>
            <a:r>
              <a:rPr lang="en-US" sz="900" dirty="0">
                <a:solidFill>
                  <a:srgbClr val="7BA5A0"/>
                </a:solidFill>
                <a:latin typeface="Calibri" pitchFamily="34" charset="0"/>
                <a:ea typeface="Calibri" pitchFamily="34" charset="-122"/>
                <a:cs typeface="Calibri" pitchFamily="34" charset="-120"/>
              </a:rPr>
              <a:t>Line 3 (Airport–Imbaba)</a:t>
            </a:r>
            <a:endParaRPr lang="en-US" sz="900" dirty="0"/>
          </a:p>
        </p:txBody>
      </p:sp>
      <p:sp>
        <p:nvSpPr>
          <p:cNvPr id="11" name="Text 8"/>
          <p:cNvSpPr/>
          <p:nvPr/>
        </p:nvSpPr>
        <p:spPr>
          <a:xfrm>
            <a:off x="5029200" y="548640"/>
            <a:ext cx="3840480" cy="731520"/>
          </a:xfrm>
          <a:prstGeom prst="rect">
            <a:avLst/>
          </a:prstGeom>
          <a:noFill/>
          <a:ln/>
        </p:spPr>
        <p:txBody>
          <a:bodyPr wrap="square" lIns="0" tIns="0" rIns="0" bIns="0" rtlCol="0" anchor="ctr"/>
          <a:lstStyle/>
          <a:p>
            <a:pPr marL="0" indent="0">
              <a:buNone/>
            </a:pPr>
            <a:r>
              <a:rPr lang="en-US" sz="4600" b="1" kern="0" spc="400" dirty="0">
                <a:solidFill>
                  <a:srgbClr val="FFFFFF"/>
                </a:solidFill>
                <a:latin typeface="Calibri" pitchFamily="34" charset="0"/>
                <a:ea typeface="Calibri" pitchFamily="34" charset="-122"/>
                <a:cs typeface="Calibri" pitchFamily="34" charset="-120"/>
              </a:rPr>
              <a:t>METROOM</a:t>
            </a:r>
            <a:endParaRPr lang="en-US" sz="4600" dirty="0"/>
          </a:p>
        </p:txBody>
      </p:sp>
      <p:sp>
        <p:nvSpPr>
          <p:cNvPr id="12" name="Shape 9"/>
          <p:cNvSpPr/>
          <p:nvPr/>
        </p:nvSpPr>
        <p:spPr>
          <a:xfrm>
            <a:off x="5029200" y="1371600"/>
            <a:ext cx="3840480" cy="45720"/>
          </a:xfrm>
          <a:prstGeom prst="rect">
            <a:avLst/>
          </a:prstGeom>
          <a:solidFill>
            <a:srgbClr val="00C9A7"/>
          </a:solidFill>
          <a:ln w="12700">
            <a:solidFill>
              <a:srgbClr val="00C9A7"/>
            </a:solidFill>
            <a:prstDash val="solid"/>
          </a:ln>
        </p:spPr>
        <p:txBody>
          <a:bodyPr/>
          <a:lstStyle/>
          <a:p>
            <a:endParaRPr lang="en-US"/>
          </a:p>
        </p:txBody>
      </p:sp>
      <p:sp>
        <p:nvSpPr>
          <p:cNvPr id="13" name="Text 10"/>
          <p:cNvSpPr/>
          <p:nvPr/>
        </p:nvSpPr>
        <p:spPr>
          <a:xfrm>
            <a:off x="5029200" y="1554480"/>
            <a:ext cx="3840480" cy="347472"/>
          </a:xfrm>
          <a:prstGeom prst="rect">
            <a:avLst/>
          </a:prstGeom>
          <a:noFill/>
          <a:ln/>
        </p:spPr>
        <p:txBody>
          <a:bodyPr wrap="square" lIns="0" tIns="0" rIns="0" bIns="0" rtlCol="0" anchor="ctr"/>
          <a:lstStyle/>
          <a:p>
            <a:pPr marL="0" indent="0">
              <a:buNone/>
            </a:pPr>
            <a:r>
              <a:rPr lang="en-US" sz="1500" b="1" dirty="0">
                <a:solidFill>
                  <a:srgbClr val="00C9A7"/>
                </a:solidFill>
                <a:latin typeface="Calibri" pitchFamily="34" charset="0"/>
                <a:ea typeface="Calibri" pitchFamily="34" charset="-122"/>
                <a:cs typeface="Calibri" pitchFamily="34" charset="-120"/>
              </a:rPr>
              <a:t>Summary</a:t>
            </a:r>
            <a:endParaRPr lang="en-US" sz="1500" dirty="0"/>
          </a:p>
        </p:txBody>
      </p:sp>
      <p:sp>
        <p:nvSpPr>
          <p:cNvPr id="14" name="Text 11"/>
          <p:cNvSpPr/>
          <p:nvPr/>
        </p:nvSpPr>
        <p:spPr>
          <a:xfrm>
            <a:off x="5029200" y="2011680"/>
            <a:ext cx="3840480" cy="292608"/>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Unified, trustworthy Cairo Metro journey planner</a:t>
            </a:r>
            <a:endParaRPr lang="en-US" sz="1050" dirty="0"/>
          </a:p>
        </p:txBody>
      </p:sp>
      <p:sp>
        <p:nvSpPr>
          <p:cNvPr id="15" name="Text 12"/>
          <p:cNvSpPr/>
          <p:nvPr/>
        </p:nvSpPr>
        <p:spPr>
          <a:xfrm>
            <a:off x="5029200" y="2340864"/>
            <a:ext cx="3840480" cy="292608"/>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Solves real pain: fare transparency, transfer guidance, GPS-to-station mapping</a:t>
            </a:r>
            <a:endParaRPr lang="en-US" sz="1050" dirty="0"/>
          </a:p>
        </p:txBody>
      </p:sp>
      <p:sp>
        <p:nvSpPr>
          <p:cNvPr id="16" name="Text 13"/>
          <p:cNvSpPr/>
          <p:nvPr/>
        </p:nvSpPr>
        <p:spPr>
          <a:xfrm>
            <a:off x="5029200" y="2670048"/>
            <a:ext cx="3840480" cy="292608"/>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Full-stack architecture: React + Express + SQLite</a:t>
            </a:r>
            <a:endParaRPr lang="en-US" sz="1050" dirty="0"/>
          </a:p>
        </p:txBody>
      </p:sp>
      <p:sp>
        <p:nvSpPr>
          <p:cNvPr id="17" name="Text 14"/>
          <p:cNvSpPr/>
          <p:nvPr/>
        </p:nvSpPr>
        <p:spPr>
          <a:xfrm>
            <a:off x="5029200" y="2999232"/>
            <a:ext cx="3840480" cy="292608"/>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JWT auth with role-based access and token rotation</a:t>
            </a:r>
            <a:endParaRPr lang="en-US" sz="1050" dirty="0"/>
          </a:p>
        </p:txBody>
      </p:sp>
      <p:sp>
        <p:nvSpPr>
          <p:cNvPr id="18" name="Text 15"/>
          <p:cNvSpPr/>
          <p:nvPr/>
        </p:nvSpPr>
        <p:spPr>
          <a:xfrm>
            <a:off x="5029200" y="3328416"/>
            <a:ext cx="3840480" cy="292608"/>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Admin panel for zero-code data management</a:t>
            </a:r>
            <a:endParaRPr lang="en-US" sz="1050" dirty="0"/>
          </a:p>
        </p:txBody>
      </p:sp>
      <p:sp>
        <p:nvSpPr>
          <p:cNvPr id="19" name="Text 16"/>
          <p:cNvSpPr/>
          <p:nvPr/>
        </p:nvSpPr>
        <p:spPr>
          <a:xfrm>
            <a:off x="5029200" y="3657600"/>
            <a:ext cx="3840480" cy="292608"/>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PWA-ready with service worker offline support</a:t>
            </a:r>
            <a:endParaRPr lang="en-US" sz="1050" dirty="0"/>
          </a:p>
        </p:txBody>
      </p:sp>
      <p:sp>
        <p:nvSpPr>
          <p:cNvPr id="20" name="Text 17"/>
          <p:cNvSpPr/>
          <p:nvPr/>
        </p:nvSpPr>
        <p:spPr>
          <a:xfrm>
            <a:off x="5029200" y="3986784"/>
            <a:ext cx="3840480" cy="292608"/>
          </a:xfrm>
          <a:prstGeom prst="rect">
            <a:avLst/>
          </a:prstGeom>
          <a:noFill/>
          <a:ln/>
        </p:spPr>
        <p:txBody>
          <a:bodyPr wrap="square" lIns="0" tIns="0" rIns="0" bIns="0" rtlCol="0" anchor="ctr"/>
          <a:lstStyle/>
          <a:p>
            <a:pPr marL="0" indent="0">
              <a:buNone/>
            </a:pPr>
            <a:r>
              <a:rPr lang="en-US" sz="1050" dirty="0">
                <a:solidFill>
                  <a:srgbClr val="D4E8E0"/>
                </a:solidFill>
                <a:latin typeface="Calibri" pitchFamily="34" charset="0"/>
                <a:ea typeface="Calibri" pitchFamily="34" charset="-122"/>
                <a:cs typeface="Calibri" pitchFamily="34" charset="-120"/>
              </a:rPr>
              <a:t>→  Trip history with JSON / CSV / GeoJSON export</a:t>
            </a:r>
            <a:endParaRPr lang="en-US" sz="1050" dirty="0"/>
          </a:p>
        </p:txBody>
      </p:sp>
      <p:sp>
        <p:nvSpPr>
          <p:cNvPr id="21" name="Text 18"/>
          <p:cNvSpPr/>
          <p:nvPr/>
        </p:nvSpPr>
        <p:spPr>
          <a:xfrm>
            <a:off x="5029200" y="4709160"/>
            <a:ext cx="3840480" cy="274320"/>
          </a:xfrm>
          <a:prstGeom prst="rect">
            <a:avLst/>
          </a:prstGeom>
          <a:noFill/>
          <a:ln/>
        </p:spPr>
        <p:txBody>
          <a:bodyPr wrap="square" lIns="0" tIns="0" rIns="0" bIns="0" rtlCol="0" anchor="ctr"/>
          <a:lstStyle/>
          <a:p>
            <a:pPr marL="0" indent="0">
              <a:buNone/>
            </a:pPr>
            <a:r>
              <a:rPr lang="en-US" sz="1000" i="1" dirty="0">
                <a:solidFill>
                  <a:srgbClr val="00C9A7"/>
                </a:solidFill>
                <a:latin typeface="Calibri" pitchFamily="34" charset="0"/>
                <a:ea typeface="Calibri" pitchFamily="34" charset="-122"/>
                <a:cs typeface="Calibri" pitchFamily="34" charset="-120"/>
              </a:rPr>
              <a:t>github.com/mohamedsalem80/metrom</a:t>
            </a:r>
            <a:endParaRPr lang="en-US" sz="1000" dirty="0"/>
          </a:p>
        </p:txBody>
      </p:sp>
      <p:sp>
        <p:nvSpPr>
          <p:cNvPr id="22" name="Text 19"/>
          <p:cNvSpPr/>
          <p:nvPr/>
        </p:nvSpPr>
        <p:spPr>
          <a:xfrm>
            <a:off x="5029200" y="4864608"/>
            <a:ext cx="3840480" cy="201168"/>
          </a:xfrm>
          <a:prstGeom prst="rect">
            <a:avLst/>
          </a:prstGeom>
          <a:noFill/>
          <a:ln/>
        </p:spPr>
        <p:txBody>
          <a:bodyPr wrap="square" lIns="0" tIns="0" rIns="0" bIns="0" rtlCol="0" anchor="ctr"/>
          <a:lstStyle/>
          <a:p>
            <a:pPr marL="0" indent="0">
              <a:buNone/>
            </a:pPr>
            <a:r>
              <a:rPr lang="en-US" sz="900" dirty="0">
                <a:solidFill>
                  <a:srgbClr val="7BA5A0"/>
                </a:solidFill>
                <a:latin typeface="Calibri" pitchFamily="34" charset="0"/>
                <a:ea typeface="Calibri" pitchFamily="34" charset="-122"/>
                <a:cs typeface="Calibri" pitchFamily="34" charset="-120"/>
              </a:rPr>
              <a:t>Mohamed Salem  ·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TotalTime>
  <Words>2307</Words>
  <Application>Microsoft Office PowerPoint</Application>
  <PresentationFormat>On-screen Show (16:9)</PresentationFormat>
  <Paragraphs>355</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Metroom – Cairo Metro Route Planner</dc:title>
  <dc:subject>PptxGenJS Presentation</dc:subject>
  <dc:creator>Mohamed Salem</dc:creator>
  <cp:lastModifiedBy>Mohamed Salem Mohamed Soliman</cp:lastModifiedBy>
  <cp:revision>5</cp:revision>
  <dcterms:created xsi:type="dcterms:W3CDTF">2026-04-14T10:24:07Z</dcterms:created>
  <dcterms:modified xsi:type="dcterms:W3CDTF">2026-04-14T14:00:34Z</dcterms:modified>
</cp:coreProperties>
</file>